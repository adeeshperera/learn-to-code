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5" r:id="rId2"/>
    <p:sldId id="372" r:id="rId3"/>
    <p:sldId id="368" r:id="rId4"/>
    <p:sldId id="278" r:id="rId5"/>
    <p:sldId id="280" r:id="rId6"/>
    <p:sldId id="257" r:id="rId7"/>
    <p:sldId id="367" r:id="rId8"/>
    <p:sldId id="279" r:id="rId9"/>
    <p:sldId id="281" r:id="rId10"/>
    <p:sldId id="282" r:id="rId11"/>
    <p:sldId id="366" r:id="rId12"/>
    <p:sldId id="283" r:id="rId13"/>
    <p:sldId id="284" r:id="rId14"/>
    <p:sldId id="285" r:id="rId15"/>
    <p:sldId id="286" r:id="rId16"/>
    <p:sldId id="371" r:id="rId17"/>
    <p:sldId id="287" r:id="rId18"/>
    <p:sldId id="256" r:id="rId19"/>
    <p:sldId id="288" r:id="rId20"/>
    <p:sldId id="258" r:id="rId21"/>
    <p:sldId id="259" r:id="rId22"/>
    <p:sldId id="290" r:id="rId23"/>
    <p:sldId id="369" r:id="rId24"/>
    <p:sldId id="261" r:id="rId25"/>
    <p:sldId id="262" r:id="rId26"/>
    <p:sldId id="263" r:id="rId27"/>
    <p:sldId id="264" r:id="rId28"/>
    <p:sldId id="266" r:id="rId29"/>
    <p:sldId id="267" r:id="rId30"/>
    <p:sldId id="269" r:id="rId31"/>
    <p:sldId id="270" r:id="rId32"/>
    <p:sldId id="271" r:id="rId33"/>
    <p:sldId id="272" r:id="rId34"/>
    <p:sldId id="289" r:id="rId35"/>
    <p:sldId id="274" r:id="rId36"/>
    <p:sldId id="276" r:id="rId37"/>
    <p:sldId id="370" r:id="rId38"/>
    <p:sldId id="3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F882-693F-478A-8984-70A31C52FA36}"/>
              </a:ext>
            </a:extLst>
          </p:cNvPr>
          <p:cNvSpPr>
            <a:spLocks noGrp="1"/>
          </p:cNvSpPr>
          <p:nvPr>
            <p:ph type="ctrTitle"/>
          </p:nvPr>
        </p:nvSpPr>
        <p:spPr>
          <a:xfrm>
            <a:off x="1524000" y="1122363"/>
            <a:ext cx="9144000" cy="2387600"/>
          </a:xfrm>
        </p:spPr>
        <p:txBody>
          <a:bodyPr anchor="b"/>
          <a:lstStyle>
            <a:lvl1pPr algn="ctr">
              <a:defRPr sz="6000" b="1"/>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6CAA352-33CA-4220-BE66-BFC51A1AC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0F39838-0565-4597-98D1-CB38660DB8C1}"/>
              </a:ext>
            </a:extLst>
          </p:cNvPr>
          <p:cNvSpPr>
            <a:spLocks noGrp="1"/>
          </p:cNvSpPr>
          <p:nvPr>
            <p:ph type="dt" sz="half" idx="10"/>
          </p:nvPr>
        </p:nvSpPr>
        <p:spPr/>
        <p:txBody>
          <a:bodyPr/>
          <a:lstStyle/>
          <a:p>
            <a:fld id="{3AEF8274-FB96-49C4-9D6E-9D2C2D401B55}" type="datetime1">
              <a:rPr lang="en-US" smtClean="0"/>
              <a:t>2/29/2024</a:t>
            </a:fld>
            <a:endParaRPr lang="en-US"/>
          </a:p>
        </p:txBody>
      </p:sp>
      <p:sp>
        <p:nvSpPr>
          <p:cNvPr id="5" name="Footer Placeholder 4">
            <a:extLst>
              <a:ext uri="{FF2B5EF4-FFF2-40B4-BE49-F238E27FC236}">
                <a16:creationId xmlns:a16="http://schemas.microsoft.com/office/drawing/2014/main" id="{D4C5452D-74CB-4A3A-9D85-6CDBC21F0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530DE4-ED07-40F9-9C16-2ACC3FD215C4}"/>
              </a:ext>
            </a:extLst>
          </p:cNvPr>
          <p:cNvSpPr>
            <a:spLocks noGrp="1"/>
          </p:cNvSpPr>
          <p:nvPr>
            <p:ph type="sldNum" sz="quarter" idx="12"/>
          </p:nvPr>
        </p:nvSpPr>
        <p:spPr/>
        <p:txBody>
          <a:bodyPr/>
          <a:lstStyle/>
          <a:p>
            <a:fld id="{B74EB0F0-7D7E-412A-B235-20FE2876EE16}" type="slidenum">
              <a:rPr lang="en-US" smtClean="0"/>
              <a:t>‹#›</a:t>
            </a:fld>
            <a:endParaRPr lang="en-US"/>
          </a:p>
        </p:txBody>
      </p:sp>
      <p:pic>
        <p:nvPicPr>
          <p:cNvPr id="7" name="Picture 6">
            <a:extLst>
              <a:ext uri="{FF2B5EF4-FFF2-40B4-BE49-F238E27FC236}">
                <a16:creationId xmlns:a16="http://schemas.microsoft.com/office/drawing/2014/main" id="{96477961-878C-4ABF-BB3C-FC7EB975CA2B}"/>
              </a:ext>
            </a:extLst>
          </p:cNvPr>
          <p:cNvPicPr>
            <a:picLocks noChangeAspect="1"/>
          </p:cNvPicPr>
          <p:nvPr userDrawn="1"/>
        </p:nvPicPr>
        <p:blipFill>
          <a:blip r:embed="rId2">
            <a:lum/>
            <a:alphaModFix/>
          </a:blip>
          <a:srcRect/>
          <a:stretch>
            <a:fillRect/>
          </a:stretch>
        </p:blipFill>
        <p:spPr>
          <a:xfrm>
            <a:off x="838200" y="4734413"/>
            <a:ext cx="3160414" cy="1417595"/>
          </a:xfrm>
          <a:prstGeom prst="rect">
            <a:avLst/>
          </a:prstGeom>
          <a:noFill/>
          <a:ln>
            <a:noFill/>
          </a:ln>
        </p:spPr>
      </p:pic>
      <p:sp>
        <p:nvSpPr>
          <p:cNvPr id="8" name="Freeform: Shape 7">
            <a:extLst>
              <a:ext uri="{FF2B5EF4-FFF2-40B4-BE49-F238E27FC236}">
                <a16:creationId xmlns:a16="http://schemas.microsoft.com/office/drawing/2014/main" id="{69DA0942-36F4-44D2-989D-6FFF57252C20}"/>
              </a:ext>
            </a:extLst>
          </p:cNvPr>
          <p:cNvSpPr/>
          <p:nvPr userDrawn="1"/>
        </p:nvSpPr>
        <p:spPr>
          <a:xfrm>
            <a:off x="4038600" y="5735637"/>
            <a:ext cx="5508000" cy="741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9" name="Freeform: Shape 8">
            <a:extLst>
              <a:ext uri="{FF2B5EF4-FFF2-40B4-BE49-F238E27FC236}">
                <a16:creationId xmlns:a16="http://schemas.microsoft.com/office/drawing/2014/main" id="{8E773B61-1620-4E28-871B-8ED74233F20E}"/>
              </a:ext>
            </a:extLst>
          </p:cNvPr>
          <p:cNvSpPr/>
          <p:nvPr userDrawn="1"/>
        </p:nvSpPr>
        <p:spPr>
          <a:xfrm>
            <a:off x="4038600" y="5844357"/>
            <a:ext cx="5577840" cy="165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Tree>
    <p:extLst>
      <p:ext uri="{BB962C8B-B14F-4D97-AF65-F5344CB8AC3E}">
        <p14:creationId xmlns:p14="http://schemas.microsoft.com/office/powerpoint/2010/main" val="748961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2264-13B8-4164-8A7F-01416FF8738C}"/>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18B97401-2A02-4DA8-B694-681757FFC9CB}"/>
              </a:ext>
            </a:extLst>
          </p:cNvPr>
          <p:cNvSpPr>
            <a:spLocks noGrp="1"/>
          </p:cNvSpPr>
          <p:nvPr>
            <p:ph idx="1"/>
          </p:nvPr>
        </p:nvSpPr>
        <p:spPr>
          <a:xfrm>
            <a:off x="838200" y="1737703"/>
            <a:ext cx="10515600" cy="4351338"/>
          </a:xfrm>
        </p:spPr>
        <p:txBody>
          <a:bodyPr/>
          <a:lstStyle>
            <a:lvl1pPr>
              <a:defRPr sz="30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2B9B45F-96EC-4371-AF2B-31FF780B0781}"/>
              </a:ext>
            </a:extLst>
          </p:cNvPr>
          <p:cNvSpPr>
            <a:spLocks noGrp="1"/>
          </p:cNvSpPr>
          <p:nvPr>
            <p:ph type="dt" sz="half" idx="10"/>
          </p:nvPr>
        </p:nvSpPr>
        <p:spPr/>
        <p:txBody>
          <a:bodyPr/>
          <a:lstStyle/>
          <a:p>
            <a:fld id="{B369C47C-2FC5-4798-A420-00913EF17CB0}" type="datetime1">
              <a:rPr lang="en-US" smtClean="0"/>
              <a:t>2/29/2024</a:t>
            </a:fld>
            <a:endParaRPr lang="en-US"/>
          </a:p>
        </p:txBody>
      </p:sp>
      <p:sp>
        <p:nvSpPr>
          <p:cNvPr id="5" name="Footer Placeholder 4">
            <a:extLst>
              <a:ext uri="{FF2B5EF4-FFF2-40B4-BE49-F238E27FC236}">
                <a16:creationId xmlns:a16="http://schemas.microsoft.com/office/drawing/2014/main" id="{FC1F992E-04F3-4A3A-8A5F-361AC165C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7391C-8F35-4F56-BEAA-20B1EF748203}"/>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7" name="Freeform: Shape 6">
            <a:extLst>
              <a:ext uri="{FF2B5EF4-FFF2-40B4-BE49-F238E27FC236}">
                <a16:creationId xmlns:a16="http://schemas.microsoft.com/office/drawing/2014/main" id="{3E0CBFF8-DB1E-4A21-AB54-C2C734FEBC94}"/>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8" name="Freeform: Shape 7">
            <a:extLst>
              <a:ext uri="{FF2B5EF4-FFF2-40B4-BE49-F238E27FC236}">
                <a16:creationId xmlns:a16="http://schemas.microsoft.com/office/drawing/2014/main" id="{084B5BFD-A347-4E0A-94EC-08CFE24459BA}"/>
              </a:ext>
            </a:extLst>
          </p:cNvPr>
          <p:cNvSpPr/>
          <p:nvPr userDrawn="1"/>
        </p:nvSpPr>
        <p:spPr>
          <a:xfrm>
            <a:off x="817688" y="1323201"/>
            <a:ext cx="9286920" cy="18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890FC133-6000-42CF-95E8-D61CD9688221}"/>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Tree>
    <p:extLst>
      <p:ext uri="{BB962C8B-B14F-4D97-AF65-F5344CB8AC3E}">
        <p14:creationId xmlns:p14="http://schemas.microsoft.com/office/powerpoint/2010/main" val="390239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89B2-B2C2-4362-8648-DDF8C6D45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03B785-2CBD-4E6D-9B9B-78608B59AD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3BD086-3F3E-4DB4-A002-89440365C463}"/>
              </a:ext>
            </a:extLst>
          </p:cNvPr>
          <p:cNvSpPr>
            <a:spLocks noGrp="1"/>
          </p:cNvSpPr>
          <p:nvPr>
            <p:ph type="dt" sz="half" idx="10"/>
          </p:nvPr>
        </p:nvSpPr>
        <p:spPr/>
        <p:txBody>
          <a:bodyPr/>
          <a:lstStyle/>
          <a:p>
            <a:fld id="{5059CB56-5D6A-4D34-9F46-21AD4650E44A}" type="datetime1">
              <a:rPr lang="en-US" smtClean="0"/>
              <a:t>2/29/2024</a:t>
            </a:fld>
            <a:endParaRPr lang="en-US"/>
          </a:p>
        </p:txBody>
      </p:sp>
      <p:sp>
        <p:nvSpPr>
          <p:cNvPr id="5" name="Footer Placeholder 4">
            <a:extLst>
              <a:ext uri="{FF2B5EF4-FFF2-40B4-BE49-F238E27FC236}">
                <a16:creationId xmlns:a16="http://schemas.microsoft.com/office/drawing/2014/main" id="{20703831-337F-41D4-8B4C-5B82766C5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F7CE0-3A34-4FA2-9383-CA492D92A997}"/>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4009305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960B1-2392-42C2-934B-D56F5C87C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CB05FC-C0AF-4DAD-9799-F04827BABA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A7F9C7-7038-4374-B297-8F533A91093D}"/>
              </a:ext>
            </a:extLst>
          </p:cNvPr>
          <p:cNvSpPr>
            <a:spLocks noGrp="1"/>
          </p:cNvSpPr>
          <p:nvPr>
            <p:ph type="dt" sz="half" idx="10"/>
          </p:nvPr>
        </p:nvSpPr>
        <p:spPr/>
        <p:txBody>
          <a:bodyPr/>
          <a:lstStyle/>
          <a:p>
            <a:fld id="{BEB92232-B6B0-4DD4-B0ED-E06ABF041FC6}" type="datetime1">
              <a:rPr lang="en-US" smtClean="0"/>
              <a:t>2/29/2024</a:t>
            </a:fld>
            <a:endParaRPr lang="en-US"/>
          </a:p>
        </p:txBody>
      </p:sp>
      <p:sp>
        <p:nvSpPr>
          <p:cNvPr id="6" name="Footer Placeholder 5">
            <a:extLst>
              <a:ext uri="{FF2B5EF4-FFF2-40B4-BE49-F238E27FC236}">
                <a16:creationId xmlns:a16="http://schemas.microsoft.com/office/drawing/2014/main" id="{A29CA050-8CE5-40C4-AEF8-21EF42278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E21202-A6DB-4A09-8330-7F793D2D8605}"/>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8" name="Freeform: Shape 7">
            <a:extLst>
              <a:ext uri="{FF2B5EF4-FFF2-40B4-BE49-F238E27FC236}">
                <a16:creationId xmlns:a16="http://schemas.microsoft.com/office/drawing/2014/main" id="{562688FB-17D7-4AFA-840D-AAAF7CBD9297}"/>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08601543-0AA8-4775-97A3-8CB087A8733F}"/>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
        <p:nvSpPr>
          <p:cNvPr id="10" name="Title 1">
            <a:extLst>
              <a:ext uri="{FF2B5EF4-FFF2-40B4-BE49-F238E27FC236}">
                <a16:creationId xmlns:a16="http://schemas.microsoft.com/office/drawing/2014/main" id="{5FEBA6EA-B997-4328-A2C1-6ACD39D6F9AF}"/>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Tree>
    <p:extLst>
      <p:ext uri="{BB962C8B-B14F-4D97-AF65-F5344CB8AC3E}">
        <p14:creationId xmlns:p14="http://schemas.microsoft.com/office/powerpoint/2010/main" val="131019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4D46-CCC5-408A-BB55-2BC721DCFF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85DA4B-C32F-4B29-8506-6CCDC1BBA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2A693-94CA-4046-A5F2-54F4F4DE87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F9F10C-0B83-4BD8-8433-26A864FA66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6F767-015F-427C-AE36-937E42042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7EE13A-7224-453B-AE40-62462481074B}"/>
              </a:ext>
            </a:extLst>
          </p:cNvPr>
          <p:cNvSpPr>
            <a:spLocks noGrp="1"/>
          </p:cNvSpPr>
          <p:nvPr>
            <p:ph type="dt" sz="half" idx="10"/>
          </p:nvPr>
        </p:nvSpPr>
        <p:spPr/>
        <p:txBody>
          <a:bodyPr/>
          <a:lstStyle/>
          <a:p>
            <a:fld id="{80C4E74C-10E2-4223-AD54-37E0383366BD}" type="datetime1">
              <a:rPr lang="en-US" smtClean="0"/>
              <a:t>2/29/2024</a:t>
            </a:fld>
            <a:endParaRPr lang="en-US"/>
          </a:p>
        </p:txBody>
      </p:sp>
      <p:sp>
        <p:nvSpPr>
          <p:cNvPr id="8" name="Footer Placeholder 7">
            <a:extLst>
              <a:ext uri="{FF2B5EF4-FFF2-40B4-BE49-F238E27FC236}">
                <a16:creationId xmlns:a16="http://schemas.microsoft.com/office/drawing/2014/main" id="{0D074E8A-678C-4BB1-B2B0-19AE552AA4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7FE1EE-B1FE-4324-B538-55848365D240}"/>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3747688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5EDD-FE7C-4FB5-A1D3-6084462431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8534A-5667-4CAC-ADBE-0F2EE28EC7C8}"/>
              </a:ext>
            </a:extLst>
          </p:cNvPr>
          <p:cNvSpPr>
            <a:spLocks noGrp="1"/>
          </p:cNvSpPr>
          <p:nvPr>
            <p:ph type="dt" sz="half" idx="10"/>
          </p:nvPr>
        </p:nvSpPr>
        <p:spPr/>
        <p:txBody>
          <a:bodyPr/>
          <a:lstStyle/>
          <a:p>
            <a:fld id="{3EA055C0-BE2F-424B-9B10-99A90BCCA0FE}" type="datetime1">
              <a:rPr lang="en-US" smtClean="0"/>
              <a:t>2/29/2024</a:t>
            </a:fld>
            <a:endParaRPr lang="en-US"/>
          </a:p>
        </p:txBody>
      </p:sp>
      <p:sp>
        <p:nvSpPr>
          <p:cNvPr id="4" name="Footer Placeholder 3">
            <a:extLst>
              <a:ext uri="{FF2B5EF4-FFF2-40B4-BE49-F238E27FC236}">
                <a16:creationId xmlns:a16="http://schemas.microsoft.com/office/drawing/2014/main" id="{5A8D44B0-109C-49A2-9026-D731CD6FCD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B0DE3-A520-427A-8D30-857390533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497594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F819B-C471-49CE-8E53-08E9ADB20EFC}"/>
              </a:ext>
            </a:extLst>
          </p:cNvPr>
          <p:cNvSpPr>
            <a:spLocks noGrp="1"/>
          </p:cNvSpPr>
          <p:nvPr>
            <p:ph type="dt" sz="half" idx="10"/>
          </p:nvPr>
        </p:nvSpPr>
        <p:spPr/>
        <p:txBody>
          <a:bodyPr/>
          <a:lstStyle/>
          <a:p>
            <a:fld id="{2A2A1E5F-6D3B-480A-9891-781F8B5AD344}" type="datetime1">
              <a:rPr lang="en-US" smtClean="0"/>
              <a:t>2/29/2024</a:t>
            </a:fld>
            <a:endParaRPr lang="en-US"/>
          </a:p>
        </p:txBody>
      </p:sp>
      <p:sp>
        <p:nvSpPr>
          <p:cNvPr id="3" name="Footer Placeholder 2">
            <a:extLst>
              <a:ext uri="{FF2B5EF4-FFF2-40B4-BE49-F238E27FC236}">
                <a16:creationId xmlns:a16="http://schemas.microsoft.com/office/drawing/2014/main" id="{0AEE76DF-8428-4E52-AC0E-4AF57C42E8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F123E0-429A-4323-A898-77B587362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384737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C383-8317-4CBE-8C5B-862C320EA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CC63E2-0341-4FE3-BC8B-86D02BB38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A47640-E8A3-4266-A4AC-B3322ED1F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9F82CC-1925-4B5E-AA06-D59FC44EA9CF}"/>
              </a:ext>
            </a:extLst>
          </p:cNvPr>
          <p:cNvSpPr>
            <a:spLocks noGrp="1"/>
          </p:cNvSpPr>
          <p:nvPr>
            <p:ph type="dt" sz="half" idx="10"/>
          </p:nvPr>
        </p:nvSpPr>
        <p:spPr/>
        <p:txBody>
          <a:bodyPr/>
          <a:lstStyle/>
          <a:p>
            <a:fld id="{9299669F-05C5-437D-973C-9CC6830D8DC9}" type="datetime1">
              <a:rPr lang="en-US" smtClean="0"/>
              <a:t>2/29/2024</a:t>
            </a:fld>
            <a:endParaRPr lang="en-US"/>
          </a:p>
        </p:txBody>
      </p:sp>
      <p:sp>
        <p:nvSpPr>
          <p:cNvPr id="6" name="Footer Placeholder 5">
            <a:extLst>
              <a:ext uri="{FF2B5EF4-FFF2-40B4-BE49-F238E27FC236}">
                <a16:creationId xmlns:a16="http://schemas.microsoft.com/office/drawing/2014/main" id="{FA3B3AA4-62F6-4610-98E0-0A9F2AA26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08512-1DE1-4435-829E-DFCC8CDF3759}"/>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35993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F271-E684-44B4-B8C8-29BA12961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F4BDEB-636D-4728-81CB-FA591C6D58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BEDDCA1-537D-4B0B-8CB1-F62D8C773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7F011-6E2C-4DB1-B3B2-C8998FD258CA}"/>
              </a:ext>
            </a:extLst>
          </p:cNvPr>
          <p:cNvSpPr>
            <a:spLocks noGrp="1"/>
          </p:cNvSpPr>
          <p:nvPr>
            <p:ph type="dt" sz="half" idx="10"/>
          </p:nvPr>
        </p:nvSpPr>
        <p:spPr/>
        <p:txBody>
          <a:bodyPr/>
          <a:lstStyle/>
          <a:p>
            <a:fld id="{0DC2561B-D112-41AA-A270-ABF3D5CF179B}" type="datetime1">
              <a:rPr lang="en-US" smtClean="0"/>
              <a:t>2/29/2024</a:t>
            </a:fld>
            <a:endParaRPr lang="en-US"/>
          </a:p>
        </p:txBody>
      </p:sp>
      <p:sp>
        <p:nvSpPr>
          <p:cNvPr id="6" name="Footer Placeholder 5">
            <a:extLst>
              <a:ext uri="{FF2B5EF4-FFF2-40B4-BE49-F238E27FC236}">
                <a16:creationId xmlns:a16="http://schemas.microsoft.com/office/drawing/2014/main" id="{D2C370A1-1964-4C2C-A6ED-C3C08D3D74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D274B-AAE6-49F2-84AD-8001E2C7475D}"/>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760588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60F-7846-4DA2-BBD0-473703D85F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55302A-B711-4343-9128-92C37D1B3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FCB34-505D-4ADF-8490-7B551BB5994A}"/>
              </a:ext>
            </a:extLst>
          </p:cNvPr>
          <p:cNvSpPr>
            <a:spLocks noGrp="1"/>
          </p:cNvSpPr>
          <p:nvPr>
            <p:ph type="dt" sz="half" idx="10"/>
          </p:nvPr>
        </p:nvSpPr>
        <p:spPr/>
        <p:txBody>
          <a:bodyPr/>
          <a:lstStyle/>
          <a:p>
            <a:fld id="{21F265F5-8649-4246-BA7B-3CBB332E39AF}" type="datetime1">
              <a:rPr lang="en-US" smtClean="0"/>
              <a:t>2/29/2024</a:t>
            </a:fld>
            <a:endParaRPr lang="en-US"/>
          </a:p>
        </p:txBody>
      </p:sp>
      <p:sp>
        <p:nvSpPr>
          <p:cNvPr id="5" name="Footer Placeholder 4">
            <a:extLst>
              <a:ext uri="{FF2B5EF4-FFF2-40B4-BE49-F238E27FC236}">
                <a16:creationId xmlns:a16="http://schemas.microsoft.com/office/drawing/2014/main" id="{2D662B4A-18F0-4CE4-BE8E-3FBBFB8ADA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AF3F7-B719-4619-9455-4240B45C178A}"/>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852158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DAE27-3070-49C5-954D-0EAB397B3B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3B4DE4-8967-4CE3-A361-E0EB941F39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09D48-57B1-4277-968B-0C26BBBCF06D}"/>
              </a:ext>
            </a:extLst>
          </p:cNvPr>
          <p:cNvSpPr>
            <a:spLocks noGrp="1"/>
          </p:cNvSpPr>
          <p:nvPr>
            <p:ph type="dt" sz="half" idx="10"/>
          </p:nvPr>
        </p:nvSpPr>
        <p:spPr/>
        <p:txBody>
          <a:bodyPr/>
          <a:lstStyle/>
          <a:p>
            <a:fld id="{E5FBC7AC-6050-4018-BA5E-91C5AD6816F9}" type="datetime1">
              <a:rPr lang="en-US" smtClean="0"/>
              <a:t>2/29/2024</a:t>
            </a:fld>
            <a:endParaRPr lang="en-US"/>
          </a:p>
        </p:txBody>
      </p:sp>
      <p:sp>
        <p:nvSpPr>
          <p:cNvPr id="5" name="Footer Placeholder 4">
            <a:extLst>
              <a:ext uri="{FF2B5EF4-FFF2-40B4-BE49-F238E27FC236}">
                <a16:creationId xmlns:a16="http://schemas.microsoft.com/office/drawing/2014/main" id="{2FEBA19C-A2FC-41C6-B98C-F8FE03B1E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DB934-7CE4-4B97-A07F-8DAAE5CACA0E}"/>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3364236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45920" y="120240"/>
            <a:ext cx="10352640" cy="1135080"/>
          </a:xfrm>
          <a:prstGeom prst="rect">
            <a:avLst/>
          </a:prstGeom>
        </p:spPr>
        <p:txBody>
          <a:bodyPr lIns="90000" tIns="46800" rIns="90000" bIns="46800" anchor="b">
            <a:noAutofit/>
          </a:bodyPr>
          <a:lstStyle/>
          <a:p>
            <a:endParaRPr lang="en-US" sz="3600" b="0" strike="noStrike" spc="-1">
              <a:solidFill>
                <a:srgbClr val="000000"/>
              </a:solidFill>
              <a:latin typeface="Arial Black"/>
            </a:endParaRPr>
          </a:p>
        </p:txBody>
      </p:sp>
      <p:sp>
        <p:nvSpPr>
          <p:cNvPr id="9" name="PlaceHolder 2"/>
          <p:cNvSpPr>
            <a:spLocks noGrp="1"/>
          </p:cNvSpPr>
          <p:nvPr>
            <p:ph type="body"/>
          </p:nvPr>
        </p:nvSpPr>
        <p:spPr>
          <a:xfrm>
            <a:off x="609120" y="1886040"/>
            <a:ext cx="10894560" cy="4163760"/>
          </a:xfrm>
          <a:prstGeom prst="rect">
            <a:avLst/>
          </a:prstGeom>
        </p:spPr>
        <p:txBody>
          <a:bodyPr lIns="90000" tIns="46800" rIns="90000" bIns="46800">
            <a:normAutofit/>
          </a:bodyPr>
          <a:lstStyle/>
          <a:p>
            <a:endParaRPr lang="en-US" sz="3200" b="0" strike="noStrike" spc="-1">
              <a:solidFill>
                <a:srgbClr val="000000"/>
              </a:solidFill>
              <a:latin typeface="Arial"/>
            </a:endParaRPr>
          </a:p>
        </p:txBody>
      </p:sp>
    </p:spTree>
    <p:extLst>
      <p:ext uri="{BB962C8B-B14F-4D97-AF65-F5344CB8AC3E}">
        <p14:creationId xmlns:p14="http://schemas.microsoft.com/office/powerpoint/2010/main" val="4024347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454400" y="152400"/>
            <a:ext cx="8331200" cy="533400"/>
          </a:xfrm>
        </p:spPr>
        <p:txBody>
          <a:bodyPr/>
          <a:lstStyle/>
          <a:p>
            <a:r>
              <a:rPr lang="en-US"/>
              <a:t>Click to edit Master title style</a:t>
            </a:r>
          </a:p>
        </p:txBody>
      </p:sp>
      <p:sp>
        <p:nvSpPr>
          <p:cNvPr id="3" name="Table Placeholder 2"/>
          <p:cNvSpPr>
            <a:spLocks noGrp="1"/>
          </p:cNvSpPr>
          <p:nvPr>
            <p:ph type="tbl" idx="1"/>
          </p:nvPr>
        </p:nvSpPr>
        <p:spPr>
          <a:xfrm>
            <a:off x="3454400" y="1066800"/>
            <a:ext cx="8331200" cy="5029200"/>
          </a:xfrm>
        </p:spPr>
        <p:txBody>
          <a:bodyPr/>
          <a:lstStyle/>
          <a:p>
            <a:endParaRPr lang="en-US"/>
          </a:p>
        </p:txBody>
      </p:sp>
      <p:sp>
        <p:nvSpPr>
          <p:cNvPr id="4" name="Date Placeholder 3"/>
          <p:cNvSpPr>
            <a:spLocks noGrp="1"/>
          </p:cNvSpPr>
          <p:nvPr>
            <p:ph type="dt" sz="half" idx="10"/>
          </p:nvPr>
        </p:nvSpPr>
        <p:spPr>
          <a:xfrm>
            <a:off x="914400" y="4495800"/>
            <a:ext cx="2540000" cy="2209800"/>
          </a:xfrm>
        </p:spPr>
        <p:txBody>
          <a:bodyPr/>
          <a:lstStyle>
            <a:lvl1pPr>
              <a:defRPr/>
            </a:lvl1pPr>
          </a:lstStyle>
          <a:p>
            <a:endParaRPr lang="en-US"/>
          </a:p>
        </p:txBody>
      </p:sp>
      <p:sp>
        <p:nvSpPr>
          <p:cNvPr id="5" name="Footer Placeholder 4"/>
          <p:cNvSpPr>
            <a:spLocks noGrp="1"/>
          </p:cNvSpPr>
          <p:nvPr>
            <p:ph type="ftr" sz="quarter" idx="11"/>
          </p:nvPr>
        </p:nvSpPr>
        <p:spPr>
          <a:xfrm>
            <a:off x="4165600" y="6248400"/>
            <a:ext cx="38608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8400"/>
            <a:ext cx="2540000" cy="457200"/>
          </a:xfrm>
        </p:spPr>
        <p:txBody>
          <a:bodyPr/>
          <a:lstStyle>
            <a:lvl1pPr>
              <a:defRPr/>
            </a:lvl1pPr>
          </a:lstStyle>
          <a:p>
            <a:fld id="{88C3AA75-2DAC-4611-9EDB-EA53D81A5A3A}" type="slidenum">
              <a:rPr lang="en-US"/>
              <a:pPr/>
              <a:t>‹#›</a:t>
            </a:fld>
            <a:endParaRPr lang="en-US"/>
          </a:p>
        </p:txBody>
      </p:sp>
    </p:spTree>
    <p:extLst>
      <p:ext uri="{BB962C8B-B14F-4D97-AF65-F5344CB8AC3E}">
        <p14:creationId xmlns:p14="http://schemas.microsoft.com/office/powerpoint/2010/main" val="1824969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E03A76-BA73-4FE8-99C8-85F00E2FF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24940D-77B5-4D3F-8441-C78887D8F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FC9E7-48FB-4158-BAC3-93BE65F01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F4DD6-61D7-4878-BA4B-2AE18A735097}" type="datetime1">
              <a:rPr lang="en-US" smtClean="0"/>
              <a:t>2/29/2024</a:t>
            </a:fld>
            <a:endParaRPr lang="en-US"/>
          </a:p>
        </p:txBody>
      </p:sp>
      <p:sp>
        <p:nvSpPr>
          <p:cNvPr id="5" name="Footer Placeholder 4">
            <a:extLst>
              <a:ext uri="{FF2B5EF4-FFF2-40B4-BE49-F238E27FC236}">
                <a16:creationId xmlns:a16="http://schemas.microsoft.com/office/drawing/2014/main" id="{07F808D8-56E1-4B29-97FD-5F4646390E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0494D3-6A6D-4CF0-B7AC-0D4CF9957A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4EB0F0-7D7E-412A-B235-20FE2876EE16}" type="slidenum">
              <a:rPr lang="en-US" smtClean="0"/>
              <a:t>‹#›</a:t>
            </a:fld>
            <a:endParaRPr lang="en-US"/>
          </a:p>
        </p:txBody>
      </p:sp>
    </p:spTree>
    <p:extLst>
      <p:ext uri="{BB962C8B-B14F-4D97-AF65-F5344CB8AC3E}">
        <p14:creationId xmlns:p14="http://schemas.microsoft.com/office/powerpoint/2010/main" val="31163444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auvik.com/franklyit/blog/network-design-best-practices/"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eg"/><Relationship Id="rId4" Type="http://schemas.openxmlformats.org/officeDocument/2006/relationships/image" Target="../media/image23.jpg"/></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flylib.com/books/en/2.809.1.25/1/"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BB63EF-0B15-49A8-90CF-7B07ED53FD5D}"/>
              </a:ext>
            </a:extLst>
          </p:cNvPr>
          <p:cNvSpPr txBox="1">
            <a:spLocks/>
          </p:cNvSpPr>
          <p:nvPr/>
        </p:nvSpPr>
        <p:spPr>
          <a:xfrm>
            <a:off x="1066800" y="1293813"/>
            <a:ext cx="9848850" cy="2659524"/>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3300" dirty="0">
                <a:solidFill>
                  <a:prstClr val="black"/>
                </a:solidFill>
                <a:latin typeface="Calibri" panose="020F0502020204030204"/>
              </a:rPr>
              <a:t>PUSL 2026</a:t>
            </a:r>
            <a:r>
              <a:rPr kumimoji="0" lang="en-US" sz="3300" b="1" i="0" u="none" strike="noStrike" kern="1200" cap="none" spc="0" normalizeH="0" baseline="0" noProof="0">
                <a:ln>
                  <a:noFill/>
                </a:ln>
                <a:solidFill>
                  <a:prstClr val="black"/>
                </a:solidFill>
                <a:effectLst/>
                <a:uLnTx/>
                <a:uFillTx/>
                <a:latin typeface="Calibri" panose="020F0502020204030204"/>
                <a:ea typeface="+mj-ea"/>
                <a:cs typeface="+mj-cs"/>
              </a:rPr>
              <a:t> - </a:t>
            </a:r>
            <a:r>
              <a:rPr kumimoji="0" lang="en-US" sz="3600" b="1" i="0" u="none" strike="noStrike" kern="1200" cap="none" spc="0" normalizeH="0" baseline="0" noProof="0">
                <a:ln>
                  <a:noFill/>
                </a:ln>
                <a:solidFill>
                  <a:prstClr val="black"/>
                </a:solidFill>
                <a:effectLst/>
                <a:uLnTx/>
                <a:uFillTx/>
                <a:latin typeface="Calibri" panose="020F0502020204030204"/>
                <a:ea typeface="+mj-ea"/>
                <a:cs typeface="+mj-cs"/>
              </a:rPr>
              <a:t>Computer </a:t>
            </a:r>
            <a:r>
              <a:rPr kumimoji="0" lang="en-US" sz="3600" b="1" i="0" u="none" strike="noStrike" kern="1200" cap="none" spc="0" normalizeH="0" baseline="0" noProof="0" dirty="0">
                <a:ln>
                  <a:noFill/>
                </a:ln>
                <a:solidFill>
                  <a:prstClr val="black"/>
                </a:solidFill>
                <a:effectLst/>
                <a:uLnTx/>
                <a:uFillTx/>
                <a:latin typeface="Calibri" panose="020F0502020204030204"/>
                <a:ea typeface="+mj-ea"/>
                <a:cs typeface="+mj-cs"/>
              </a:rPr>
              <a:t>Networks</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2900" b="1" i="0" u="none" strike="noStrike" kern="1200" cap="none" spc="0" normalizeH="0" baseline="0" noProof="0" dirty="0">
              <a:ln>
                <a:noFill/>
              </a:ln>
              <a:solidFill>
                <a:prstClr val="black"/>
              </a:solidFill>
              <a:effectLst/>
              <a:uLnTx/>
              <a:uFillTx/>
              <a:latin typeface="Calibri" panose="020F05020202040302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900" b="1" i="0" u="none" strike="noStrike" kern="1200" cap="none" spc="0" normalizeH="0" baseline="0" noProof="0" dirty="0">
                <a:ln>
                  <a:noFill/>
                </a:ln>
                <a:solidFill>
                  <a:prstClr val="black"/>
                </a:solidFill>
                <a:effectLst/>
                <a:uLnTx/>
                <a:uFillTx/>
                <a:latin typeface="Calibri Light" panose="020F0302020204030204"/>
                <a:ea typeface="+mj-ea"/>
                <a:cs typeface="+mj-cs"/>
              </a:rPr>
              <a:t>Lecture 4 – </a:t>
            </a:r>
            <a:r>
              <a:rPr lang="en-US" sz="2900" dirty="0">
                <a:solidFill>
                  <a:prstClr val="black"/>
                </a:solidFill>
                <a:latin typeface="Calibri Light" panose="020F0302020204030204"/>
              </a:rPr>
              <a:t>Network Implementation Process</a:t>
            </a:r>
            <a:r>
              <a:rPr kumimoji="0" lang="en-US" sz="2900" b="1" i="0" u="none" strike="noStrike" kern="1200" cap="none" spc="0" normalizeH="0" baseline="0" noProof="0" dirty="0">
                <a:ln>
                  <a:noFill/>
                </a:ln>
                <a:solidFill>
                  <a:prstClr val="black"/>
                </a:solidFill>
                <a:effectLst/>
                <a:uLnTx/>
                <a:uFillTx/>
                <a:latin typeface="Calibri Light" panose="020F0302020204030204"/>
                <a:ea typeface="+mj-ea"/>
                <a:cs typeface="+mj-cs"/>
              </a:rPr>
              <a:t> </a:t>
            </a:r>
            <a:br>
              <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rPr>
            </a:br>
            <a:endPar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5" name="Subtitle 2">
            <a:extLst>
              <a:ext uri="{FF2B5EF4-FFF2-40B4-BE49-F238E27FC236}">
                <a16:creationId xmlns:a16="http://schemas.microsoft.com/office/drawing/2014/main" id="{596D3F27-F507-4390-BE16-5420493F33F5}"/>
              </a:ext>
            </a:extLst>
          </p:cNvPr>
          <p:cNvSpPr txBox="1">
            <a:spLocks/>
          </p:cNvSpPr>
          <p:nvPr/>
        </p:nvSpPr>
        <p:spPr>
          <a:xfrm>
            <a:off x="4172506" y="4643022"/>
            <a:ext cx="7738367" cy="1074197"/>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rPr>
              <a:t>Chamara Disanayake</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Senior Lecturer</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Department of Network and Security</a:t>
            </a:r>
          </a:p>
        </p:txBody>
      </p:sp>
    </p:spTree>
    <p:extLst>
      <p:ext uri="{BB962C8B-B14F-4D97-AF65-F5344CB8AC3E}">
        <p14:creationId xmlns:p14="http://schemas.microsoft.com/office/powerpoint/2010/main" val="226715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97033-A3CD-4208-B84B-D45074F334D8}"/>
              </a:ext>
            </a:extLst>
          </p:cNvPr>
          <p:cNvSpPr>
            <a:spLocks noGrp="1"/>
          </p:cNvSpPr>
          <p:nvPr>
            <p:ph type="title"/>
          </p:nvPr>
        </p:nvSpPr>
        <p:spPr/>
        <p:txBody>
          <a:bodyPr/>
          <a:lstStyle/>
          <a:p>
            <a:r>
              <a:rPr lang="en-US" dirty="0"/>
              <a:t>What We have Discussed So Far?</a:t>
            </a:r>
          </a:p>
        </p:txBody>
      </p:sp>
      <p:sp>
        <p:nvSpPr>
          <p:cNvPr id="3" name="Content Placeholder 2">
            <a:extLst>
              <a:ext uri="{FF2B5EF4-FFF2-40B4-BE49-F238E27FC236}">
                <a16:creationId xmlns:a16="http://schemas.microsoft.com/office/drawing/2014/main" id="{467766B2-B52A-488C-90D7-C60683B26F92}"/>
              </a:ext>
            </a:extLst>
          </p:cNvPr>
          <p:cNvSpPr>
            <a:spLocks noGrp="1"/>
          </p:cNvSpPr>
          <p:nvPr>
            <p:ph idx="1"/>
          </p:nvPr>
        </p:nvSpPr>
        <p:spPr/>
        <p:txBody>
          <a:bodyPr/>
          <a:lstStyle/>
          <a:p>
            <a:r>
              <a:rPr lang="en-US" dirty="0"/>
              <a:t>Evolution of Data Communication</a:t>
            </a:r>
          </a:p>
          <a:p>
            <a:r>
              <a:rPr lang="en-US" dirty="0"/>
              <a:t>Requirements for Computer Networks</a:t>
            </a:r>
          </a:p>
          <a:p>
            <a:pPr lvl="1"/>
            <a:r>
              <a:rPr lang="en-US" dirty="0"/>
              <a:t>99% of the computer applications are Network Applications</a:t>
            </a:r>
          </a:p>
          <a:p>
            <a:r>
              <a:rPr lang="en-US" dirty="0"/>
              <a:t>Networking Concepts</a:t>
            </a:r>
          </a:p>
          <a:p>
            <a:pPr lvl="1"/>
            <a:r>
              <a:rPr lang="en-US" dirty="0"/>
              <a:t>Models, Topologies</a:t>
            </a:r>
          </a:p>
          <a:p>
            <a:r>
              <a:rPr lang="en-US" dirty="0"/>
              <a:t>Network Media – Guided media, unguided media </a:t>
            </a:r>
          </a:p>
          <a:p>
            <a:r>
              <a:rPr lang="en-US" dirty="0"/>
              <a:t>Network Equipment/Devices</a:t>
            </a:r>
          </a:p>
          <a:p>
            <a:pPr lvl="1"/>
            <a:r>
              <a:rPr lang="en-US" dirty="0"/>
              <a:t>Active devices/Passive device, End devices/intermediate devices</a:t>
            </a:r>
          </a:p>
        </p:txBody>
      </p:sp>
      <p:sp>
        <p:nvSpPr>
          <p:cNvPr id="4" name="Slide Number Placeholder 3">
            <a:extLst>
              <a:ext uri="{FF2B5EF4-FFF2-40B4-BE49-F238E27FC236}">
                <a16:creationId xmlns:a16="http://schemas.microsoft.com/office/drawing/2014/main" id="{D835D309-244F-45B1-8EE1-1112127E8636}"/>
              </a:ext>
            </a:extLst>
          </p:cNvPr>
          <p:cNvSpPr>
            <a:spLocks noGrp="1"/>
          </p:cNvSpPr>
          <p:nvPr>
            <p:ph type="sldNum" sz="quarter" idx="12"/>
          </p:nvPr>
        </p:nvSpPr>
        <p:spPr/>
        <p:txBody>
          <a:bodyPr/>
          <a:lstStyle/>
          <a:p>
            <a:fld id="{B74EB0F0-7D7E-412A-B235-20FE2876EE16}" type="slidenum">
              <a:rPr lang="en-US" smtClean="0"/>
              <a:t>2</a:t>
            </a:fld>
            <a:endParaRPr lang="en-US"/>
          </a:p>
        </p:txBody>
      </p:sp>
      <p:sp>
        <p:nvSpPr>
          <p:cNvPr id="5" name="TextBox 4">
            <a:extLst>
              <a:ext uri="{FF2B5EF4-FFF2-40B4-BE49-F238E27FC236}">
                <a16:creationId xmlns:a16="http://schemas.microsoft.com/office/drawing/2014/main" id="{661F41B5-D878-4E3A-A17C-1248D0634405}"/>
              </a:ext>
            </a:extLst>
          </p:cNvPr>
          <p:cNvSpPr txBox="1"/>
          <p:nvPr/>
        </p:nvSpPr>
        <p:spPr>
          <a:xfrm>
            <a:off x="1869332" y="5807197"/>
            <a:ext cx="9484468" cy="830997"/>
          </a:xfrm>
          <a:prstGeom prst="rect">
            <a:avLst/>
          </a:prstGeom>
          <a:noFill/>
        </p:spPr>
        <p:txBody>
          <a:bodyPr wrap="square" rtlCol="0">
            <a:spAutoFit/>
          </a:bodyPr>
          <a:lstStyle/>
          <a:p>
            <a:r>
              <a:rPr lang="en-US" sz="2400" dirty="0">
                <a:solidFill>
                  <a:srgbClr val="C00000"/>
                </a:solidFill>
              </a:rPr>
              <a:t>As you know about Computer Networks, Can you design a network for a customer/customer organization?</a:t>
            </a:r>
          </a:p>
        </p:txBody>
      </p:sp>
    </p:spTree>
    <p:extLst>
      <p:ext uri="{BB962C8B-B14F-4D97-AF65-F5344CB8AC3E}">
        <p14:creationId xmlns:p14="http://schemas.microsoft.com/office/powerpoint/2010/main" val="292577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13C9748-9B16-40AE-9B81-8F44893E7DD8}"/>
              </a:ext>
            </a:extLst>
          </p:cNvPr>
          <p:cNvGrpSpPr/>
          <p:nvPr/>
        </p:nvGrpSpPr>
        <p:grpSpPr>
          <a:xfrm>
            <a:off x="5371289" y="2493645"/>
            <a:ext cx="6478622" cy="3485859"/>
            <a:chOff x="4075889" y="2152365"/>
            <a:chExt cx="6478622" cy="3485859"/>
          </a:xfrm>
        </p:grpSpPr>
        <p:pic>
          <p:nvPicPr>
            <p:cNvPr id="6" name="Picture 5">
              <a:extLst>
                <a:ext uri="{FF2B5EF4-FFF2-40B4-BE49-F238E27FC236}">
                  <a16:creationId xmlns:a16="http://schemas.microsoft.com/office/drawing/2014/main" id="{33B5EB63-392E-47EB-BB35-60A67B9BA005}"/>
                </a:ext>
              </a:extLst>
            </p:cNvPr>
            <p:cNvPicPr>
              <a:picLocks noChangeAspect="1"/>
            </p:cNvPicPr>
            <p:nvPr/>
          </p:nvPicPr>
          <p:blipFill>
            <a:blip r:embed="rId2"/>
            <a:stretch>
              <a:fillRect/>
            </a:stretch>
          </p:blipFill>
          <p:spPr>
            <a:xfrm>
              <a:off x="4212077" y="2152365"/>
              <a:ext cx="6342434" cy="3485859"/>
            </a:xfrm>
            <a:prstGeom prst="rect">
              <a:avLst/>
            </a:prstGeom>
          </p:spPr>
        </p:pic>
        <p:sp>
          <p:nvSpPr>
            <p:cNvPr id="7" name="Rectangle 6">
              <a:extLst>
                <a:ext uri="{FF2B5EF4-FFF2-40B4-BE49-F238E27FC236}">
                  <a16:creationId xmlns:a16="http://schemas.microsoft.com/office/drawing/2014/main" id="{B2E3A14D-FB33-43D3-B324-284230DBE270}"/>
                </a:ext>
              </a:extLst>
            </p:cNvPr>
            <p:cNvSpPr/>
            <p:nvPr/>
          </p:nvSpPr>
          <p:spPr>
            <a:xfrm>
              <a:off x="4075889" y="2286000"/>
              <a:ext cx="1887166" cy="3891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 name="Title 1">
            <a:extLst>
              <a:ext uri="{FF2B5EF4-FFF2-40B4-BE49-F238E27FC236}">
                <a16:creationId xmlns:a16="http://schemas.microsoft.com/office/drawing/2014/main" id="{616266C6-CE21-4849-B0C6-1B4A5B40C117}"/>
              </a:ext>
            </a:extLst>
          </p:cNvPr>
          <p:cNvSpPr>
            <a:spLocks noGrp="1"/>
          </p:cNvSpPr>
          <p:nvPr>
            <p:ph type="title"/>
          </p:nvPr>
        </p:nvSpPr>
        <p:spPr/>
        <p:txBody>
          <a:bodyPr/>
          <a:lstStyle/>
          <a:p>
            <a:r>
              <a:rPr lang="en-US" dirty="0"/>
              <a:t>Network Implementation Process</a:t>
            </a:r>
          </a:p>
        </p:txBody>
      </p:sp>
      <p:sp>
        <p:nvSpPr>
          <p:cNvPr id="3" name="Content Placeholder 2">
            <a:extLst>
              <a:ext uri="{FF2B5EF4-FFF2-40B4-BE49-F238E27FC236}">
                <a16:creationId xmlns:a16="http://schemas.microsoft.com/office/drawing/2014/main" id="{A0EA8E19-C6A5-4F79-BA56-43F7EE456F3C}"/>
              </a:ext>
            </a:extLst>
          </p:cNvPr>
          <p:cNvSpPr>
            <a:spLocks noGrp="1"/>
          </p:cNvSpPr>
          <p:nvPr>
            <p:ph idx="1"/>
          </p:nvPr>
        </p:nvSpPr>
        <p:spPr/>
        <p:txBody>
          <a:bodyPr>
            <a:normAutofit fontScale="92500" lnSpcReduction="10000"/>
          </a:bodyPr>
          <a:lstStyle/>
          <a:p>
            <a:r>
              <a:rPr lang="en-US" dirty="0"/>
              <a:t>Implementing a network to deliver </a:t>
            </a:r>
            <a:r>
              <a:rPr lang="en-US" dirty="0">
                <a:solidFill>
                  <a:srgbClr val="FF0000"/>
                </a:solidFill>
              </a:rPr>
              <a:t>organizational requirements</a:t>
            </a:r>
            <a:r>
              <a:rPr lang="en-US" dirty="0"/>
              <a:t> is a challenging task</a:t>
            </a:r>
          </a:p>
          <a:p>
            <a:r>
              <a:rPr lang="en-US" dirty="0"/>
              <a:t>Planning the key to success</a:t>
            </a:r>
          </a:p>
          <a:p>
            <a:pPr lvl="1"/>
            <a:r>
              <a:rPr lang="en-US" dirty="0"/>
              <a:t>Identify the current requirement</a:t>
            </a:r>
          </a:p>
          <a:p>
            <a:pPr lvl="1"/>
            <a:r>
              <a:rPr lang="en-US" dirty="0"/>
              <a:t>Match with current technologies</a:t>
            </a:r>
          </a:p>
          <a:p>
            <a:pPr lvl="1"/>
            <a:r>
              <a:rPr lang="en-US" dirty="0"/>
              <a:t>Check the affordability</a:t>
            </a:r>
          </a:p>
          <a:p>
            <a:pPr lvl="1"/>
            <a:r>
              <a:rPr lang="en-US" dirty="0"/>
              <a:t>Design the network/system</a:t>
            </a:r>
          </a:p>
          <a:p>
            <a:pPr lvl="1"/>
            <a:r>
              <a:rPr lang="en-US" dirty="0"/>
              <a:t>Identify the process</a:t>
            </a:r>
          </a:p>
          <a:p>
            <a:pPr lvl="2"/>
            <a:r>
              <a:rPr lang="en-US" dirty="0"/>
              <a:t>Follow the process</a:t>
            </a:r>
          </a:p>
          <a:p>
            <a:pPr lvl="1"/>
            <a:r>
              <a:rPr lang="en-US" dirty="0"/>
              <a:t>Implementation</a:t>
            </a:r>
          </a:p>
          <a:p>
            <a:pPr lvl="1"/>
            <a:r>
              <a:rPr lang="en-US" dirty="0"/>
              <a:t>Testing </a:t>
            </a:r>
          </a:p>
        </p:txBody>
      </p:sp>
      <p:sp>
        <p:nvSpPr>
          <p:cNvPr id="4" name="Slide Number Placeholder 3">
            <a:extLst>
              <a:ext uri="{FF2B5EF4-FFF2-40B4-BE49-F238E27FC236}">
                <a16:creationId xmlns:a16="http://schemas.microsoft.com/office/drawing/2014/main" id="{EAE6CCB2-7999-4537-84A1-42B25F70A0C0}"/>
              </a:ext>
            </a:extLst>
          </p:cNvPr>
          <p:cNvSpPr>
            <a:spLocks noGrp="1"/>
          </p:cNvSpPr>
          <p:nvPr>
            <p:ph type="sldNum" sz="quarter" idx="12"/>
          </p:nvPr>
        </p:nvSpPr>
        <p:spPr/>
        <p:txBody>
          <a:bodyPr/>
          <a:lstStyle/>
          <a:p>
            <a:fld id="{B74EB0F0-7D7E-412A-B235-20FE2876EE16}" type="slidenum">
              <a:rPr lang="en-US" smtClean="0"/>
              <a:t>3</a:t>
            </a:fld>
            <a:endParaRPr lang="en-US"/>
          </a:p>
        </p:txBody>
      </p:sp>
    </p:spTree>
    <p:extLst>
      <p:ext uri="{BB962C8B-B14F-4D97-AF65-F5344CB8AC3E}">
        <p14:creationId xmlns:p14="http://schemas.microsoft.com/office/powerpoint/2010/main" val="29299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oup of people with tangled rope&#10;&#10;Description automatically generated">
            <a:extLst>
              <a:ext uri="{FF2B5EF4-FFF2-40B4-BE49-F238E27FC236}">
                <a16:creationId xmlns:a16="http://schemas.microsoft.com/office/drawing/2014/main" id="{B83BBE32-F19C-D279-3BE1-90BADF256486}"/>
              </a:ext>
            </a:extLst>
          </p:cNvPr>
          <p:cNvPicPr>
            <a:picLocks noChangeAspect="1"/>
          </p:cNvPicPr>
          <p:nvPr/>
        </p:nvPicPr>
        <p:blipFill rotWithShape="1">
          <a:blip r:embed="rId2">
            <a:extLst>
              <a:ext uri="{28A0092B-C50C-407E-A947-70E740481C1C}">
                <a14:useLocalDpi xmlns:a14="http://schemas.microsoft.com/office/drawing/2010/main" val="0"/>
              </a:ext>
            </a:extLst>
          </a:blip>
          <a:srcRect t="18911" b="26394"/>
          <a:stretch/>
        </p:blipFill>
        <p:spPr>
          <a:xfrm>
            <a:off x="7731423" y="3130427"/>
            <a:ext cx="4385737" cy="1749474"/>
          </a:xfrm>
          <a:prstGeom prst="rect">
            <a:avLst/>
          </a:prstGeom>
        </p:spPr>
      </p:pic>
      <p:sp>
        <p:nvSpPr>
          <p:cNvPr id="2" name="Title 1">
            <a:extLst>
              <a:ext uri="{FF2B5EF4-FFF2-40B4-BE49-F238E27FC236}">
                <a16:creationId xmlns:a16="http://schemas.microsoft.com/office/drawing/2014/main" id="{BAC3DACF-954B-481E-9D6B-BFD0BEA378DF}"/>
              </a:ext>
            </a:extLst>
          </p:cNvPr>
          <p:cNvSpPr>
            <a:spLocks noGrp="1"/>
          </p:cNvSpPr>
          <p:nvPr>
            <p:ph type="title"/>
          </p:nvPr>
        </p:nvSpPr>
        <p:spPr/>
        <p:txBody>
          <a:bodyPr/>
          <a:lstStyle/>
          <a:p>
            <a:r>
              <a:rPr lang="en-US" dirty="0"/>
              <a:t>Task as a Network Designer</a:t>
            </a:r>
          </a:p>
        </p:txBody>
      </p:sp>
      <p:sp>
        <p:nvSpPr>
          <p:cNvPr id="3" name="Content Placeholder 2">
            <a:extLst>
              <a:ext uri="{FF2B5EF4-FFF2-40B4-BE49-F238E27FC236}">
                <a16:creationId xmlns:a16="http://schemas.microsoft.com/office/drawing/2014/main" id="{166AC2AC-E243-43B2-B126-C0043C8DD2A3}"/>
              </a:ext>
            </a:extLst>
          </p:cNvPr>
          <p:cNvSpPr>
            <a:spLocks noGrp="1"/>
          </p:cNvSpPr>
          <p:nvPr>
            <p:ph idx="1"/>
          </p:nvPr>
        </p:nvSpPr>
        <p:spPr>
          <a:xfrm>
            <a:off x="811820" y="1491178"/>
            <a:ext cx="9907735" cy="4848076"/>
          </a:xfrm>
        </p:spPr>
        <p:txBody>
          <a:bodyPr>
            <a:normAutofit/>
          </a:bodyPr>
          <a:lstStyle/>
          <a:p>
            <a:endParaRPr lang="en-US" sz="2800" dirty="0"/>
          </a:p>
          <a:p>
            <a:endParaRPr lang="en-US" sz="2800" dirty="0"/>
          </a:p>
          <a:p>
            <a:endParaRPr lang="en-US" sz="2800" dirty="0"/>
          </a:p>
        </p:txBody>
      </p:sp>
      <p:sp>
        <p:nvSpPr>
          <p:cNvPr id="5" name="TextBox 4">
            <a:extLst>
              <a:ext uri="{FF2B5EF4-FFF2-40B4-BE49-F238E27FC236}">
                <a16:creationId xmlns:a16="http://schemas.microsoft.com/office/drawing/2014/main" id="{F82F6F46-FD02-46A8-9070-7B4D0EBA3D0C}"/>
              </a:ext>
            </a:extLst>
          </p:cNvPr>
          <p:cNvSpPr txBox="1"/>
          <p:nvPr/>
        </p:nvSpPr>
        <p:spPr>
          <a:xfrm>
            <a:off x="1106137" y="1558804"/>
            <a:ext cx="10515600" cy="2246769"/>
          </a:xfrm>
          <a:prstGeom prst="rect">
            <a:avLst/>
          </a:prstGeom>
          <a:noFill/>
        </p:spPr>
        <p:txBody>
          <a:bodyPr wrap="square">
            <a:spAutoFit/>
          </a:bodyPr>
          <a:lstStyle/>
          <a:p>
            <a:r>
              <a:rPr lang="en-US" sz="2800" dirty="0"/>
              <a:t>Network designers' main responsibility is to identify the </a:t>
            </a:r>
            <a:r>
              <a:rPr lang="en-US" sz="2800" b="1" dirty="0"/>
              <a:t>company's network requirements and design a network to meet those needs</a:t>
            </a:r>
            <a:r>
              <a:rPr lang="en-US" sz="2800" dirty="0"/>
              <a:t>. </a:t>
            </a:r>
          </a:p>
          <a:p>
            <a:r>
              <a:rPr lang="en-US" sz="2800" dirty="0"/>
              <a:t>They design and submit plans for the network to management. Designers make any updates and upgrades to software and hardware needed.</a:t>
            </a:r>
          </a:p>
        </p:txBody>
      </p:sp>
      <p:sp>
        <p:nvSpPr>
          <p:cNvPr id="6" name="TextBox 5">
            <a:extLst>
              <a:ext uri="{FF2B5EF4-FFF2-40B4-BE49-F238E27FC236}">
                <a16:creationId xmlns:a16="http://schemas.microsoft.com/office/drawing/2014/main" id="{DCACC635-9B30-A07F-B78B-662C4300D42A}"/>
              </a:ext>
            </a:extLst>
          </p:cNvPr>
          <p:cNvSpPr txBox="1"/>
          <p:nvPr/>
        </p:nvSpPr>
        <p:spPr>
          <a:xfrm>
            <a:off x="1004056" y="3960368"/>
            <a:ext cx="10920466" cy="2677656"/>
          </a:xfrm>
          <a:prstGeom prst="rect">
            <a:avLst/>
          </a:prstGeom>
          <a:noFill/>
        </p:spPr>
        <p:txBody>
          <a:bodyPr wrap="square">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solidFill>
                  <a:srgbClr val="00B050"/>
                </a:solidFill>
              </a:rPr>
              <a:t>The designs goals</a:t>
            </a:r>
          </a:p>
          <a:p>
            <a:pPr marL="800100" lvl="1" indent="-342900">
              <a:buFont typeface="Arial" panose="020B0604020202020204" pitchFamily="34" charset="0"/>
              <a:buChar char="•"/>
            </a:pPr>
            <a:r>
              <a:rPr lang="en-US" sz="2400" dirty="0"/>
              <a:t>The objective of network design is to satisfy data communication requirements while minimizing expense</a:t>
            </a:r>
          </a:p>
          <a:p>
            <a:pPr marL="342900" indent="-342900">
              <a:buFont typeface="Arial" panose="020B0604020202020204" pitchFamily="34" charset="0"/>
              <a:buChar char="•"/>
            </a:pPr>
            <a:r>
              <a:rPr lang="en-US" sz="2400" dirty="0">
                <a:solidFill>
                  <a:srgbClr val="C00000"/>
                </a:solidFill>
              </a:rPr>
              <a:t>Different choice </a:t>
            </a:r>
            <a:r>
              <a:rPr lang="en-US" sz="2400" dirty="0"/>
              <a:t>(designs/topologies/hardware/software).</a:t>
            </a:r>
          </a:p>
          <a:p>
            <a:pPr marL="342900" indent="-342900">
              <a:buFont typeface="Arial" panose="020B0604020202020204" pitchFamily="34" charset="0"/>
              <a:buChar char="•"/>
            </a:pPr>
            <a:r>
              <a:rPr lang="en-US" sz="2400" dirty="0"/>
              <a:t>Needs an approach to reach to the goal.</a:t>
            </a:r>
          </a:p>
          <a:p>
            <a:pPr marL="342900" indent="-342900">
              <a:buFont typeface="Arial" panose="020B0604020202020204" pitchFamily="34" charset="0"/>
              <a:buChar char="•"/>
            </a:pPr>
            <a:r>
              <a:rPr lang="en-US" sz="2400" dirty="0"/>
              <a:t>Always better to follow a Process/Models to reduce the risk.</a:t>
            </a:r>
          </a:p>
        </p:txBody>
      </p:sp>
    </p:spTree>
    <p:extLst>
      <p:ext uri="{BB962C8B-B14F-4D97-AF65-F5344CB8AC3E}">
        <p14:creationId xmlns:p14="http://schemas.microsoft.com/office/powerpoint/2010/main" val="3933382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D7BF-0C0F-40CF-990A-6AE72DA8DE65}"/>
              </a:ext>
            </a:extLst>
          </p:cNvPr>
          <p:cNvSpPr>
            <a:spLocks noGrp="1"/>
          </p:cNvSpPr>
          <p:nvPr>
            <p:ph type="title"/>
          </p:nvPr>
        </p:nvSpPr>
        <p:spPr/>
        <p:txBody>
          <a:bodyPr/>
          <a:lstStyle/>
          <a:p>
            <a:r>
              <a:rPr lang="en-US" dirty="0"/>
              <a:t>The Design Goals</a:t>
            </a:r>
          </a:p>
        </p:txBody>
      </p:sp>
      <p:sp>
        <p:nvSpPr>
          <p:cNvPr id="3" name="Content Placeholder 2">
            <a:extLst>
              <a:ext uri="{FF2B5EF4-FFF2-40B4-BE49-F238E27FC236}">
                <a16:creationId xmlns:a16="http://schemas.microsoft.com/office/drawing/2014/main" id="{F692308C-A0F7-4124-A5B2-C937512785A2}"/>
              </a:ext>
            </a:extLst>
          </p:cNvPr>
          <p:cNvSpPr>
            <a:spLocks noGrp="1"/>
          </p:cNvSpPr>
          <p:nvPr>
            <p:ph idx="1"/>
          </p:nvPr>
        </p:nvSpPr>
        <p:spPr>
          <a:xfrm>
            <a:off x="864580" y="1558804"/>
            <a:ext cx="10462840" cy="4890634"/>
          </a:xfrm>
        </p:spPr>
        <p:txBody>
          <a:bodyPr>
            <a:normAutofit fontScale="92500" lnSpcReduction="10000"/>
          </a:bodyPr>
          <a:lstStyle/>
          <a:p>
            <a:r>
              <a:rPr lang="en-US" sz="3200" dirty="0"/>
              <a:t>Functionality</a:t>
            </a:r>
          </a:p>
          <a:p>
            <a:pPr lvl="1"/>
            <a:r>
              <a:rPr lang="en-US" dirty="0"/>
              <a:t>Proper functionalities implemented </a:t>
            </a:r>
          </a:p>
          <a:p>
            <a:r>
              <a:rPr lang="en-US" sz="3200" dirty="0"/>
              <a:t>Adaptability</a:t>
            </a:r>
          </a:p>
          <a:p>
            <a:pPr lvl="1"/>
            <a:r>
              <a:rPr lang="en-US" dirty="0"/>
              <a:t>Successful integration of new technology into the business</a:t>
            </a:r>
          </a:p>
          <a:p>
            <a:r>
              <a:rPr lang="en-US" sz="3200" dirty="0"/>
              <a:t>Scalability</a:t>
            </a:r>
          </a:p>
          <a:p>
            <a:pPr lvl="1"/>
            <a:r>
              <a:rPr lang="en-US" dirty="0"/>
              <a:t>Ability of IT systems continue to function properly when changed in size or volume</a:t>
            </a:r>
          </a:p>
          <a:p>
            <a:r>
              <a:rPr lang="en-US" sz="3200" dirty="0"/>
              <a:t>Manageability</a:t>
            </a:r>
          </a:p>
          <a:p>
            <a:pPr lvl="1"/>
            <a:r>
              <a:rPr lang="en-US" dirty="0"/>
              <a:t>Ability of controlling the IT system/services</a:t>
            </a:r>
          </a:p>
          <a:p>
            <a:r>
              <a:rPr lang="en-US" sz="3200" dirty="0"/>
              <a:t>Cost effectiveness</a:t>
            </a:r>
          </a:p>
          <a:p>
            <a:pPr lvl="1"/>
            <a:r>
              <a:rPr lang="en-US" dirty="0"/>
              <a:t>Whether the IT cost gain a profit to the business</a:t>
            </a:r>
          </a:p>
          <a:p>
            <a:pPr lvl="1"/>
            <a:endParaRPr lang="en-US" sz="3000" dirty="0"/>
          </a:p>
          <a:p>
            <a:pPr lvl="1"/>
            <a:endParaRPr lang="en-US" sz="3000" dirty="0"/>
          </a:p>
          <a:p>
            <a:endParaRPr lang="en-US" sz="3200" dirty="0"/>
          </a:p>
        </p:txBody>
      </p:sp>
    </p:spTree>
    <p:extLst>
      <p:ext uri="{BB962C8B-B14F-4D97-AF65-F5344CB8AC3E}">
        <p14:creationId xmlns:p14="http://schemas.microsoft.com/office/powerpoint/2010/main" val="3788872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Key Designing/Plans of a Network</a:t>
            </a:r>
          </a:p>
        </p:txBody>
      </p:sp>
      <p:sp>
        <p:nvSpPr>
          <p:cNvPr id="3" name="Content Placeholder 2"/>
          <p:cNvSpPr>
            <a:spLocks noGrp="1"/>
          </p:cNvSpPr>
          <p:nvPr>
            <p:ph idx="1"/>
          </p:nvPr>
        </p:nvSpPr>
        <p:spPr>
          <a:xfrm>
            <a:off x="811820" y="1525794"/>
            <a:ext cx="6606017" cy="4854749"/>
          </a:xfrm>
        </p:spPr>
        <p:txBody>
          <a:bodyPr>
            <a:normAutofit/>
          </a:bodyPr>
          <a:lstStyle/>
          <a:p>
            <a:r>
              <a:rPr lang="en-US" sz="3200" dirty="0"/>
              <a:t>Logical Design</a:t>
            </a:r>
          </a:p>
          <a:p>
            <a:pPr lvl="1"/>
            <a:r>
              <a:rPr lang="en-US" sz="3000" dirty="0"/>
              <a:t> Logical design explains the logic between the input and output design</a:t>
            </a:r>
          </a:p>
          <a:p>
            <a:r>
              <a:rPr lang="en-US" sz="3200" dirty="0"/>
              <a:t>Physical Infrastructure Design</a:t>
            </a:r>
          </a:p>
          <a:p>
            <a:pPr lvl="1"/>
            <a:r>
              <a:rPr lang="en-US" sz="3000" dirty="0"/>
              <a:t>The physical infrastructure design includes deciding on the network, data paths, locations for equipment. </a:t>
            </a:r>
          </a:p>
          <a:p>
            <a:endParaRPr lang="en-US" sz="3200" dirty="0"/>
          </a:p>
        </p:txBody>
      </p:sp>
      <p:pic>
        <p:nvPicPr>
          <p:cNvPr id="7" name="Picture 6" descr="Diagram&#10;&#10;Description automatically generated">
            <a:extLst>
              <a:ext uri="{FF2B5EF4-FFF2-40B4-BE49-F238E27FC236}">
                <a16:creationId xmlns:a16="http://schemas.microsoft.com/office/drawing/2014/main" id="{580806C2-C32B-4BC0-B3D9-A633DC9C0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7593" y="961756"/>
            <a:ext cx="3459608" cy="2351452"/>
          </a:xfrm>
          <a:prstGeom prst="rect">
            <a:avLst/>
          </a:prstGeom>
        </p:spPr>
      </p:pic>
      <p:pic>
        <p:nvPicPr>
          <p:cNvPr id="9" name="Picture 8">
            <a:extLst>
              <a:ext uri="{FF2B5EF4-FFF2-40B4-BE49-F238E27FC236}">
                <a16:creationId xmlns:a16="http://schemas.microsoft.com/office/drawing/2014/main" id="{A0F3743E-C17B-4120-8C55-0366C7C9DECA}"/>
              </a:ext>
            </a:extLst>
          </p:cNvPr>
          <p:cNvPicPr>
            <a:picLocks noChangeAspect="1"/>
          </p:cNvPicPr>
          <p:nvPr/>
        </p:nvPicPr>
        <p:blipFill>
          <a:blip r:embed="rId3"/>
          <a:stretch>
            <a:fillRect/>
          </a:stretch>
        </p:blipFill>
        <p:spPr>
          <a:xfrm>
            <a:off x="7656793" y="3544793"/>
            <a:ext cx="4210399" cy="2949313"/>
          </a:xfrm>
          <a:prstGeom prst="rect">
            <a:avLst/>
          </a:prstGeom>
        </p:spPr>
      </p:pic>
    </p:spTree>
    <p:extLst>
      <p:ext uri="{BB962C8B-B14F-4D97-AF65-F5344CB8AC3E}">
        <p14:creationId xmlns:p14="http://schemas.microsoft.com/office/powerpoint/2010/main" val="1080392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45B2BD-8CFA-4AF5-9B19-BC733579AFE3}"/>
              </a:ext>
            </a:extLst>
          </p:cNvPr>
          <p:cNvSpPr>
            <a:spLocks noGrp="1"/>
          </p:cNvSpPr>
          <p:nvPr>
            <p:ph sz="half" idx="1"/>
          </p:nvPr>
        </p:nvSpPr>
        <p:spPr>
          <a:xfrm>
            <a:off x="838199" y="1825625"/>
            <a:ext cx="6589413" cy="4683330"/>
          </a:xfrm>
        </p:spPr>
        <p:txBody>
          <a:bodyPr>
            <a:normAutofit fontScale="92500" lnSpcReduction="10000"/>
          </a:bodyPr>
          <a:lstStyle/>
          <a:p>
            <a:r>
              <a:rPr lang="en-US" dirty="0"/>
              <a:t>Routing  Plan</a:t>
            </a:r>
          </a:p>
          <a:p>
            <a:pPr lvl="1"/>
            <a:r>
              <a:rPr lang="en-US" sz="2800" dirty="0"/>
              <a:t>Subnetting, Gateways, Routing plans</a:t>
            </a:r>
          </a:p>
          <a:p>
            <a:r>
              <a:rPr lang="en-US" dirty="0"/>
              <a:t>Network Management design</a:t>
            </a:r>
          </a:p>
          <a:p>
            <a:pPr lvl="1"/>
            <a:r>
              <a:rPr lang="en-US" sz="2800" dirty="0"/>
              <a:t>How/where the network management done</a:t>
            </a:r>
          </a:p>
          <a:p>
            <a:r>
              <a:rPr lang="en-US" dirty="0"/>
              <a:t>Security Design</a:t>
            </a:r>
          </a:p>
          <a:p>
            <a:pPr lvl="1"/>
            <a:r>
              <a:rPr lang="en-US" sz="2800" dirty="0"/>
              <a:t>Setting security controls (HW/SW controls, physical controls </a:t>
            </a:r>
            <a:r>
              <a:rPr lang="en-US" sz="2800" dirty="0" err="1"/>
              <a:t>etc</a:t>
            </a:r>
            <a:r>
              <a:rPr lang="en-US" sz="2800" dirty="0"/>
              <a:t>)</a:t>
            </a:r>
          </a:p>
          <a:p>
            <a:r>
              <a:rPr lang="en-US" dirty="0"/>
              <a:t>DR and fault handling Plan</a:t>
            </a:r>
          </a:p>
          <a:p>
            <a:pPr lvl="1"/>
            <a:r>
              <a:rPr lang="en-US" sz="2800" dirty="0"/>
              <a:t>Plan for the disaster</a:t>
            </a:r>
          </a:p>
          <a:p>
            <a:r>
              <a:rPr lang="en-US" dirty="0"/>
              <a:t>Upgrade /maintenance and Phase out plan</a:t>
            </a:r>
          </a:p>
          <a:p>
            <a:endParaRPr lang="en-US" sz="2000" dirty="0"/>
          </a:p>
        </p:txBody>
      </p:sp>
      <p:pic>
        <p:nvPicPr>
          <p:cNvPr id="6" name="Picture 5" descr="Diagram&#10;&#10;Description automatically generated">
            <a:extLst>
              <a:ext uri="{FF2B5EF4-FFF2-40B4-BE49-F238E27FC236}">
                <a16:creationId xmlns:a16="http://schemas.microsoft.com/office/drawing/2014/main" id="{F4759B65-D6B8-4E6C-87DD-F17B7A8C5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5355" y="630619"/>
            <a:ext cx="3886199" cy="2390011"/>
          </a:xfrm>
          <a:prstGeom prst="rect">
            <a:avLst/>
          </a:prstGeom>
          <a:noFill/>
        </p:spPr>
      </p:pic>
      <p:sp>
        <p:nvSpPr>
          <p:cNvPr id="4" name="Slide Number Placeholder 3">
            <a:extLst>
              <a:ext uri="{FF2B5EF4-FFF2-40B4-BE49-F238E27FC236}">
                <a16:creationId xmlns:a16="http://schemas.microsoft.com/office/drawing/2014/main" id="{99AADF59-5E8D-4432-8492-BB25AE8F0C9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7</a:t>
            </a:fld>
            <a:endParaRPr lang="en-US"/>
          </a:p>
        </p:txBody>
      </p:sp>
      <p:sp>
        <p:nvSpPr>
          <p:cNvPr id="2" name="Title 1">
            <a:extLst>
              <a:ext uri="{FF2B5EF4-FFF2-40B4-BE49-F238E27FC236}">
                <a16:creationId xmlns:a16="http://schemas.microsoft.com/office/drawing/2014/main" id="{024E09A8-E407-4091-9E55-A02D11DB63BD}"/>
              </a:ext>
            </a:extLst>
          </p:cNvPr>
          <p:cNvSpPr>
            <a:spLocks noGrp="1"/>
          </p:cNvSpPr>
          <p:nvPr>
            <p:ph type="title"/>
          </p:nvPr>
        </p:nvSpPr>
        <p:spPr>
          <a:xfrm>
            <a:off x="811820" y="518746"/>
            <a:ext cx="10515600" cy="1040058"/>
          </a:xfrm>
        </p:spPr>
        <p:txBody>
          <a:bodyPr anchor="ctr">
            <a:normAutofit/>
          </a:bodyPr>
          <a:lstStyle/>
          <a:p>
            <a:r>
              <a:rPr lang="en-US" dirty="0"/>
              <a:t>The Key Designing/Plans of a Network</a:t>
            </a:r>
          </a:p>
        </p:txBody>
      </p:sp>
      <p:pic>
        <p:nvPicPr>
          <p:cNvPr id="8" name="Picture 7" descr="Graphical user interface, application&#10;&#10;Description automatically generated">
            <a:extLst>
              <a:ext uri="{FF2B5EF4-FFF2-40B4-BE49-F238E27FC236}">
                <a16:creationId xmlns:a16="http://schemas.microsoft.com/office/drawing/2014/main" id="{3B5AC21B-76DC-4A4A-BBB3-C7C7E8984E23}"/>
              </a:ext>
            </a:extLst>
          </p:cNvPr>
          <p:cNvPicPr>
            <a:picLocks noChangeAspect="1"/>
          </p:cNvPicPr>
          <p:nvPr/>
        </p:nvPicPr>
        <p:blipFill rotWithShape="1">
          <a:blip r:embed="rId3">
            <a:extLst>
              <a:ext uri="{28A0092B-C50C-407E-A947-70E740481C1C}">
                <a14:useLocalDpi xmlns:a14="http://schemas.microsoft.com/office/drawing/2010/main" val="0"/>
              </a:ext>
            </a:extLst>
          </a:blip>
          <a:srcRect t="22731" b="7314"/>
          <a:stretch/>
        </p:blipFill>
        <p:spPr>
          <a:xfrm>
            <a:off x="7815881" y="3098884"/>
            <a:ext cx="3504735" cy="3622591"/>
          </a:xfrm>
          <a:prstGeom prst="rect">
            <a:avLst/>
          </a:prstGeom>
        </p:spPr>
      </p:pic>
    </p:spTree>
    <p:extLst>
      <p:ext uri="{BB962C8B-B14F-4D97-AF65-F5344CB8AC3E}">
        <p14:creationId xmlns:p14="http://schemas.microsoft.com/office/powerpoint/2010/main" val="2980798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F237-AA92-41AE-AEDD-2520797276EA}"/>
              </a:ext>
            </a:extLst>
          </p:cNvPr>
          <p:cNvSpPr>
            <a:spLocks noGrp="1"/>
          </p:cNvSpPr>
          <p:nvPr>
            <p:ph type="title"/>
          </p:nvPr>
        </p:nvSpPr>
        <p:spPr/>
        <p:txBody>
          <a:bodyPr/>
          <a:lstStyle/>
          <a:p>
            <a:r>
              <a:rPr lang="en-US" dirty="0"/>
              <a:t>A Good Design</a:t>
            </a:r>
          </a:p>
        </p:txBody>
      </p:sp>
      <p:sp>
        <p:nvSpPr>
          <p:cNvPr id="3" name="Content Placeholder 2">
            <a:extLst>
              <a:ext uri="{FF2B5EF4-FFF2-40B4-BE49-F238E27FC236}">
                <a16:creationId xmlns:a16="http://schemas.microsoft.com/office/drawing/2014/main" id="{7600E3DE-E549-42C0-8EFE-DB0D26ED1F9A}"/>
              </a:ext>
            </a:extLst>
          </p:cNvPr>
          <p:cNvSpPr>
            <a:spLocks noGrp="1"/>
          </p:cNvSpPr>
          <p:nvPr>
            <p:ph idx="1"/>
          </p:nvPr>
        </p:nvSpPr>
        <p:spPr>
          <a:xfrm>
            <a:off x="811820" y="1470345"/>
            <a:ext cx="9366568" cy="4861560"/>
          </a:xfrm>
        </p:spPr>
        <p:txBody>
          <a:bodyPr>
            <a:normAutofit/>
          </a:bodyPr>
          <a:lstStyle/>
          <a:p>
            <a:r>
              <a:rPr lang="en-US" sz="3200" dirty="0"/>
              <a:t>Must deliver the required servicers.</a:t>
            </a:r>
          </a:p>
          <a:p>
            <a:r>
              <a:rPr lang="en-US" sz="3200" dirty="0"/>
              <a:t>Deliver acceptable throughput and response time.</a:t>
            </a:r>
          </a:p>
          <a:p>
            <a:r>
              <a:rPr lang="en-US" sz="3200" dirty="0"/>
              <a:t>Reliable.</a:t>
            </a:r>
          </a:p>
          <a:p>
            <a:r>
              <a:rPr lang="en-US" sz="3200" dirty="0"/>
              <a:t>Expandable without major redesigning</a:t>
            </a:r>
          </a:p>
          <a:p>
            <a:r>
              <a:rPr lang="en-US" sz="3200" dirty="0"/>
              <a:t>Easy to manage and maintain</a:t>
            </a:r>
          </a:p>
          <a:p>
            <a:r>
              <a:rPr lang="en-US" sz="3200" dirty="0"/>
              <a:t>Within a specific budget</a:t>
            </a:r>
          </a:p>
          <a:p>
            <a:r>
              <a:rPr lang="en-US" sz="3200" dirty="0"/>
              <a:t>Well documented</a:t>
            </a:r>
          </a:p>
          <a:p>
            <a:endParaRPr lang="en-US" sz="3200" dirty="0"/>
          </a:p>
          <a:p>
            <a:endParaRPr lang="en-US" sz="3200" dirty="0"/>
          </a:p>
        </p:txBody>
      </p:sp>
    </p:spTree>
    <p:extLst>
      <p:ext uri="{BB962C8B-B14F-4D97-AF65-F5344CB8AC3E}">
        <p14:creationId xmlns:p14="http://schemas.microsoft.com/office/powerpoint/2010/main" val="4008469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5CD3-299B-46C8-9FFC-9CED2C5FEB5E}"/>
              </a:ext>
            </a:extLst>
          </p:cNvPr>
          <p:cNvSpPr>
            <a:spLocks noGrp="1"/>
          </p:cNvSpPr>
          <p:nvPr>
            <p:ph type="title"/>
          </p:nvPr>
        </p:nvSpPr>
        <p:spPr/>
        <p:txBody>
          <a:bodyPr/>
          <a:lstStyle/>
          <a:p>
            <a:r>
              <a:rPr lang="en-US" dirty="0"/>
              <a:t>Design Choices</a:t>
            </a:r>
            <a:br>
              <a:rPr lang="en-US" dirty="0"/>
            </a:br>
            <a:endParaRPr lang="en-US" dirty="0"/>
          </a:p>
        </p:txBody>
      </p:sp>
      <p:sp>
        <p:nvSpPr>
          <p:cNvPr id="3" name="Content Placeholder 2">
            <a:extLst>
              <a:ext uri="{FF2B5EF4-FFF2-40B4-BE49-F238E27FC236}">
                <a16:creationId xmlns:a16="http://schemas.microsoft.com/office/drawing/2014/main" id="{5F0016D0-940D-4493-8A68-1B6A298C9918}"/>
              </a:ext>
            </a:extLst>
          </p:cNvPr>
          <p:cNvSpPr>
            <a:spLocks noGrp="1"/>
          </p:cNvSpPr>
          <p:nvPr>
            <p:ph idx="1"/>
          </p:nvPr>
        </p:nvSpPr>
        <p:spPr>
          <a:xfrm>
            <a:off x="864580" y="1540189"/>
            <a:ext cx="8915400" cy="3777622"/>
          </a:xfrm>
        </p:spPr>
        <p:txBody>
          <a:bodyPr>
            <a:normAutofit/>
          </a:bodyPr>
          <a:lstStyle/>
          <a:p>
            <a:r>
              <a:rPr lang="en-US" sz="3200" dirty="0"/>
              <a:t>The Balance of distribution</a:t>
            </a:r>
          </a:p>
          <a:p>
            <a:r>
              <a:rPr lang="en-US" sz="3200" dirty="0"/>
              <a:t>The Level of transparency</a:t>
            </a:r>
          </a:p>
          <a:p>
            <a:r>
              <a:rPr lang="en-US" sz="3200" dirty="0"/>
              <a:t>Security implementation </a:t>
            </a:r>
          </a:p>
          <a:p>
            <a:r>
              <a:rPr lang="en-US" sz="3200" dirty="0"/>
              <a:t>Connectivity Technologies</a:t>
            </a:r>
          </a:p>
          <a:p>
            <a:endParaRPr lang="en-US" sz="3200" dirty="0"/>
          </a:p>
          <a:p>
            <a:endParaRPr lang="en-US" sz="3200" dirty="0"/>
          </a:p>
        </p:txBody>
      </p:sp>
    </p:spTree>
    <p:extLst>
      <p:ext uri="{BB962C8B-B14F-4D97-AF65-F5344CB8AC3E}">
        <p14:creationId xmlns:p14="http://schemas.microsoft.com/office/powerpoint/2010/main" val="1190937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6EF2C-54F9-43ED-BC4D-25B03B1F7949}"/>
              </a:ext>
            </a:extLst>
          </p:cNvPr>
          <p:cNvSpPr>
            <a:spLocks noGrp="1"/>
          </p:cNvSpPr>
          <p:nvPr>
            <p:ph type="title"/>
          </p:nvPr>
        </p:nvSpPr>
        <p:spPr/>
        <p:txBody>
          <a:bodyPr/>
          <a:lstStyle/>
          <a:p>
            <a:r>
              <a:rPr lang="en-US" dirty="0"/>
              <a:t>Current Expectations from Networks</a:t>
            </a:r>
          </a:p>
        </p:txBody>
      </p:sp>
      <p:sp>
        <p:nvSpPr>
          <p:cNvPr id="3" name="Content Placeholder 2">
            <a:extLst>
              <a:ext uri="{FF2B5EF4-FFF2-40B4-BE49-F238E27FC236}">
                <a16:creationId xmlns:a16="http://schemas.microsoft.com/office/drawing/2014/main" id="{D623A991-646A-42F4-9B56-DEF01548EB84}"/>
              </a:ext>
            </a:extLst>
          </p:cNvPr>
          <p:cNvSpPr>
            <a:spLocks noGrp="1"/>
          </p:cNvSpPr>
          <p:nvPr>
            <p:ph idx="1"/>
          </p:nvPr>
        </p:nvSpPr>
        <p:spPr>
          <a:xfrm>
            <a:off x="864580" y="1521026"/>
            <a:ext cx="9869488" cy="4820606"/>
          </a:xfrm>
        </p:spPr>
        <p:txBody>
          <a:bodyPr>
            <a:normAutofit/>
          </a:bodyPr>
          <a:lstStyle/>
          <a:p>
            <a:r>
              <a:rPr lang="en-US" sz="2800" dirty="0"/>
              <a:t>Functionality and Speed</a:t>
            </a:r>
          </a:p>
          <a:p>
            <a:r>
              <a:rPr lang="en-US" sz="2800" dirty="0"/>
              <a:t>Mobility and flexibility </a:t>
            </a:r>
          </a:p>
          <a:p>
            <a:r>
              <a:rPr lang="en-US" sz="2800" dirty="0"/>
              <a:t>Security</a:t>
            </a:r>
          </a:p>
          <a:p>
            <a:r>
              <a:rPr lang="en-US" sz="2800" dirty="0"/>
              <a:t>Resiliency ( fault tolerance)</a:t>
            </a:r>
          </a:p>
          <a:p>
            <a:r>
              <a:rPr lang="en-US" sz="2800" dirty="0"/>
              <a:t>Business continuity( continue the business after calamities) /disaster recovery.</a:t>
            </a:r>
          </a:p>
          <a:p>
            <a:r>
              <a:rPr lang="en-US" sz="2800" dirty="0"/>
              <a:t>Must deliver all the business requirements within the budget and time. </a:t>
            </a:r>
          </a:p>
          <a:p>
            <a:r>
              <a:rPr lang="en-US" sz="2800" dirty="0"/>
              <a:t>Minimum disruptions during implementations. </a:t>
            </a:r>
          </a:p>
        </p:txBody>
      </p:sp>
    </p:spTree>
    <p:extLst>
      <p:ext uri="{BB962C8B-B14F-4D97-AF65-F5344CB8AC3E}">
        <p14:creationId xmlns:p14="http://schemas.microsoft.com/office/powerpoint/2010/main" val="1415917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35C8D-9F41-460E-8B97-550A3650C013}"/>
              </a:ext>
            </a:extLst>
          </p:cNvPr>
          <p:cNvSpPr>
            <a:spLocks noGrp="1"/>
          </p:cNvSpPr>
          <p:nvPr>
            <p:ph type="title"/>
          </p:nvPr>
        </p:nvSpPr>
        <p:spPr/>
        <p:txBody>
          <a:bodyPr/>
          <a:lstStyle/>
          <a:p>
            <a:r>
              <a:rPr lang="en-US" dirty="0"/>
              <a:t>Technological Trends</a:t>
            </a:r>
          </a:p>
        </p:txBody>
      </p:sp>
      <p:sp>
        <p:nvSpPr>
          <p:cNvPr id="4" name="Slide Number Placeholder 3">
            <a:extLst>
              <a:ext uri="{FF2B5EF4-FFF2-40B4-BE49-F238E27FC236}">
                <a16:creationId xmlns:a16="http://schemas.microsoft.com/office/drawing/2014/main" id="{EAD460D6-D934-4E84-AC2D-96B205CEFA67}"/>
              </a:ext>
            </a:extLst>
          </p:cNvPr>
          <p:cNvSpPr>
            <a:spLocks noGrp="1"/>
          </p:cNvSpPr>
          <p:nvPr>
            <p:ph type="sldNum" sz="quarter" idx="12"/>
          </p:nvPr>
        </p:nvSpPr>
        <p:spPr/>
        <p:txBody>
          <a:bodyPr/>
          <a:lstStyle/>
          <a:p>
            <a:fld id="{B74EB0F0-7D7E-412A-B235-20FE2876EE16}" type="slidenum">
              <a:rPr lang="en-US" smtClean="0"/>
              <a:t>11</a:t>
            </a:fld>
            <a:endParaRPr lang="en-US"/>
          </a:p>
        </p:txBody>
      </p:sp>
      <p:pic>
        <p:nvPicPr>
          <p:cNvPr id="6" name="Picture 5">
            <a:extLst>
              <a:ext uri="{FF2B5EF4-FFF2-40B4-BE49-F238E27FC236}">
                <a16:creationId xmlns:a16="http://schemas.microsoft.com/office/drawing/2014/main" id="{13F7D6A2-D1CB-4A2B-8340-59E9208185FF}"/>
              </a:ext>
            </a:extLst>
          </p:cNvPr>
          <p:cNvPicPr>
            <a:picLocks noChangeAspect="1"/>
          </p:cNvPicPr>
          <p:nvPr/>
        </p:nvPicPr>
        <p:blipFill rotWithShape="1">
          <a:blip r:embed="rId2"/>
          <a:srcRect l="11001" r="8690"/>
          <a:stretch/>
        </p:blipFill>
        <p:spPr>
          <a:xfrm>
            <a:off x="9153728" y="175715"/>
            <a:ext cx="2966936" cy="3527402"/>
          </a:xfrm>
          <a:prstGeom prst="rect">
            <a:avLst/>
          </a:prstGeom>
        </p:spPr>
      </p:pic>
      <p:sp>
        <p:nvSpPr>
          <p:cNvPr id="5" name="Content Placeholder 2">
            <a:extLst>
              <a:ext uri="{FF2B5EF4-FFF2-40B4-BE49-F238E27FC236}">
                <a16:creationId xmlns:a16="http://schemas.microsoft.com/office/drawing/2014/main" id="{C3A93726-1D37-4FE7-8D6C-95526D95A59E}"/>
              </a:ext>
            </a:extLst>
          </p:cNvPr>
          <p:cNvSpPr>
            <a:spLocks noGrp="1"/>
          </p:cNvSpPr>
          <p:nvPr>
            <p:ph idx="1"/>
          </p:nvPr>
        </p:nvSpPr>
        <p:spPr>
          <a:xfrm>
            <a:off x="536643" y="1527448"/>
            <a:ext cx="10515600" cy="4351337"/>
          </a:xfrm>
        </p:spPr>
        <p:txBody>
          <a:bodyPr>
            <a:noAutofit/>
          </a:bodyPr>
          <a:lstStyle/>
          <a:p>
            <a:r>
              <a:rPr lang="en-US" dirty="0"/>
              <a:t>Implementing the Network with supported technologies</a:t>
            </a:r>
          </a:p>
          <a:p>
            <a:pPr lvl="1"/>
            <a:r>
              <a:rPr lang="en-US" dirty="0"/>
              <a:t>Segmenting / Extending /Expanding the network</a:t>
            </a:r>
          </a:p>
          <a:p>
            <a:pPr lvl="1"/>
            <a:r>
              <a:rPr lang="en-US" dirty="0"/>
              <a:t>Enable Remote access/BOYD</a:t>
            </a:r>
          </a:p>
          <a:p>
            <a:pPr lvl="1"/>
            <a:r>
              <a:rPr lang="en-US" dirty="0"/>
              <a:t>Increase Reliability / Availability / Quality </a:t>
            </a:r>
          </a:p>
          <a:p>
            <a:r>
              <a:rPr lang="en-US" dirty="0"/>
              <a:t>What are the enabling technologies</a:t>
            </a:r>
          </a:p>
          <a:p>
            <a:pPr lvl="1"/>
            <a:r>
              <a:rPr lang="en-US" dirty="0"/>
              <a:t>Network Improvements - VLAN, VPN, SDN</a:t>
            </a:r>
          </a:p>
          <a:p>
            <a:pPr lvl="1"/>
            <a:r>
              <a:rPr lang="en-US" dirty="0"/>
              <a:t>Reliability/Availability  - Network redundancy with multi homing,  Cloud services, NFV, Virtualization platforms, Backup and DR / CDN</a:t>
            </a:r>
          </a:p>
          <a:p>
            <a:pPr lvl="1"/>
            <a:r>
              <a:rPr lang="en-US" dirty="0"/>
              <a:t>Quality – Improved services with high-speed networks – 5G, SD WAN</a:t>
            </a:r>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176912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F184-354E-47F9-87D4-2348A05184E8}"/>
              </a:ext>
            </a:extLst>
          </p:cNvPr>
          <p:cNvSpPr>
            <a:spLocks noGrp="1"/>
          </p:cNvSpPr>
          <p:nvPr>
            <p:ph type="title"/>
          </p:nvPr>
        </p:nvSpPr>
        <p:spPr/>
        <p:txBody>
          <a:bodyPr/>
          <a:lstStyle/>
          <a:p>
            <a:r>
              <a:rPr lang="en-US" dirty="0"/>
              <a:t>What are the Constrains </a:t>
            </a:r>
          </a:p>
        </p:txBody>
      </p:sp>
      <p:sp>
        <p:nvSpPr>
          <p:cNvPr id="3" name="Content Placeholder 2">
            <a:extLst>
              <a:ext uri="{FF2B5EF4-FFF2-40B4-BE49-F238E27FC236}">
                <a16:creationId xmlns:a16="http://schemas.microsoft.com/office/drawing/2014/main" id="{F5D21985-E741-46FD-80CB-CAE6590F8F7E}"/>
              </a:ext>
            </a:extLst>
          </p:cNvPr>
          <p:cNvSpPr>
            <a:spLocks noGrp="1"/>
          </p:cNvSpPr>
          <p:nvPr>
            <p:ph idx="1"/>
          </p:nvPr>
        </p:nvSpPr>
        <p:spPr>
          <a:xfrm>
            <a:off x="811820" y="1558804"/>
            <a:ext cx="10910010" cy="3777622"/>
          </a:xfrm>
        </p:spPr>
        <p:txBody>
          <a:bodyPr>
            <a:normAutofit/>
          </a:bodyPr>
          <a:lstStyle/>
          <a:p>
            <a:r>
              <a:rPr lang="en-US" sz="3600" dirty="0"/>
              <a:t>Budget</a:t>
            </a:r>
          </a:p>
          <a:p>
            <a:r>
              <a:rPr lang="en-US" sz="3600" dirty="0"/>
              <a:t>Skillful Staff</a:t>
            </a:r>
          </a:p>
          <a:p>
            <a:r>
              <a:rPr lang="en-US" sz="3600" dirty="0"/>
              <a:t>Schedule/Time</a:t>
            </a:r>
          </a:p>
          <a:p>
            <a:r>
              <a:rPr lang="en-US" sz="3600" dirty="0"/>
              <a:t>Policies and legal requirements</a:t>
            </a:r>
          </a:p>
          <a:p>
            <a:r>
              <a:rPr lang="en-US" sz="3600" dirty="0"/>
              <a:t>Internal and external Politics </a:t>
            </a:r>
          </a:p>
          <a:p>
            <a:r>
              <a:rPr lang="en-US" sz="3600" dirty="0"/>
              <a:t>Organizational Socioeconomic conditions.</a:t>
            </a:r>
          </a:p>
          <a:p>
            <a:endParaRPr lang="en-US" sz="3600" dirty="0"/>
          </a:p>
        </p:txBody>
      </p:sp>
    </p:spTree>
    <p:extLst>
      <p:ext uri="{BB962C8B-B14F-4D97-AF65-F5344CB8AC3E}">
        <p14:creationId xmlns:p14="http://schemas.microsoft.com/office/powerpoint/2010/main" val="310005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kids working on a house&#10;&#10;Description automatically generated">
            <a:extLst>
              <a:ext uri="{FF2B5EF4-FFF2-40B4-BE49-F238E27FC236}">
                <a16:creationId xmlns:a16="http://schemas.microsoft.com/office/drawing/2014/main" id="{8B9DFE88-9080-EDE9-8EBB-C27DE28ADC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7817" y="4152122"/>
            <a:ext cx="2504183" cy="2360173"/>
          </a:xfrm>
          <a:prstGeom prst="rect">
            <a:avLst/>
          </a:prstGeom>
        </p:spPr>
      </p:pic>
      <p:sp>
        <p:nvSpPr>
          <p:cNvPr id="2" name="Title 1">
            <a:extLst>
              <a:ext uri="{FF2B5EF4-FFF2-40B4-BE49-F238E27FC236}">
                <a16:creationId xmlns:a16="http://schemas.microsoft.com/office/drawing/2014/main" id="{1A9CD50D-7DB8-4C6B-BFB2-E05C6AFEF057}"/>
              </a:ext>
            </a:extLst>
          </p:cNvPr>
          <p:cNvSpPr>
            <a:spLocks noGrp="1"/>
          </p:cNvSpPr>
          <p:nvPr>
            <p:ph type="title"/>
          </p:nvPr>
        </p:nvSpPr>
        <p:spPr/>
        <p:txBody>
          <a:bodyPr>
            <a:normAutofit/>
          </a:bodyPr>
          <a:lstStyle/>
          <a:p>
            <a:r>
              <a:rPr lang="en-US" sz="3600" dirty="0">
                <a:solidFill>
                  <a:srgbClr val="00B050"/>
                </a:solidFill>
              </a:rPr>
              <a:t>Challenge</a:t>
            </a:r>
            <a:r>
              <a:rPr lang="en-US" sz="3600" dirty="0"/>
              <a:t> the Challenges</a:t>
            </a:r>
          </a:p>
        </p:txBody>
      </p:sp>
      <p:sp>
        <p:nvSpPr>
          <p:cNvPr id="3" name="Content Placeholder 2">
            <a:extLst>
              <a:ext uri="{FF2B5EF4-FFF2-40B4-BE49-F238E27FC236}">
                <a16:creationId xmlns:a16="http://schemas.microsoft.com/office/drawing/2014/main" id="{9F720BD6-845C-4437-AD1A-325C64EACF97}"/>
              </a:ext>
            </a:extLst>
          </p:cNvPr>
          <p:cNvSpPr>
            <a:spLocks noGrp="1"/>
          </p:cNvSpPr>
          <p:nvPr>
            <p:ph idx="1"/>
          </p:nvPr>
        </p:nvSpPr>
        <p:spPr/>
        <p:txBody>
          <a:bodyPr/>
          <a:lstStyle/>
          <a:p>
            <a:r>
              <a:rPr lang="en-US" sz="3200" dirty="0"/>
              <a:t>Implementing and managing a network which deliver desired organizational goal is a challenge.</a:t>
            </a:r>
          </a:p>
          <a:p>
            <a:r>
              <a:rPr lang="en-US" sz="3200" dirty="0"/>
              <a:t>A proper Approach is required to overcome the challengers and reach the goal.</a:t>
            </a:r>
          </a:p>
          <a:p>
            <a:pPr lvl="1"/>
            <a:r>
              <a:rPr lang="en-US" sz="3000" dirty="0"/>
              <a:t>Design and Implementing a network can be compared with building a house.</a:t>
            </a:r>
          </a:p>
          <a:p>
            <a:pPr lvl="2"/>
            <a:r>
              <a:rPr lang="en-US" sz="2200" dirty="0"/>
              <a:t>You need to find the requirements and budget</a:t>
            </a:r>
          </a:p>
          <a:p>
            <a:pPr lvl="2"/>
            <a:r>
              <a:rPr lang="en-US" sz="2200" dirty="0"/>
              <a:t>You need to prepare a plan and get approvals</a:t>
            </a:r>
          </a:p>
          <a:p>
            <a:pPr lvl="2"/>
            <a:r>
              <a:rPr lang="en-US" sz="2200" dirty="0"/>
              <a:t>Most importantly, it is required to adhere to standards/best practices</a:t>
            </a:r>
          </a:p>
        </p:txBody>
      </p:sp>
      <p:sp>
        <p:nvSpPr>
          <p:cNvPr id="6" name="TextBox 5">
            <a:extLst>
              <a:ext uri="{FF2B5EF4-FFF2-40B4-BE49-F238E27FC236}">
                <a16:creationId xmlns:a16="http://schemas.microsoft.com/office/drawing/2014/main" id="{D5B24650-87F5-B7AA-22BC-A42550D0402F}"/>
              </a:ext>
            </a:extLst>
          </p:cNvPr>
          <p:cNvSpPr txBox="1"/>
          <p:nvPr/>
        </p:nvSpPr>
        <p:spPr>
          <a:xfrm>
            <a:off x="2143708" y="5865964"/>
            <a:ext cx="7177573" cy="923330"/>
          </a:xfrm>
          <a:prstGeom prst="rect">
            <a:avLst/>
          </a:prstGeom>
          <a:noFill/>
        </p:spPr>
        <p:txBody>
          <a:bodyPr wrap="square">
            <a:spAutoFit/>
          </a:bodyPr>
          <a:lstStyle/>
          <a:p>
            <a:r>
              <a:rPr lang="en-US" dirty="0"/>
              <a:t>Good to Read : </a:t>
            </a:r>
            <a:r>
              <a:rPr lang="en-US" dirty="0">
                <a:hlinkClick r:id="rId3"/>
              </a:rPr>
              <a:t>https://www.auvik.com/franklyit/blog/network-design-best-practices/</a:t>
            </a:r>
            <a:endParaRPr lang="en-US" dirty="0"/>
          </a:p>
          <a:p>
            <a:endParaRPr lang="en-US" dirty="0"/>
          </a:p>
        </p:txBody>
      </p:sp>
    </p:spTree>
    <p:extLst>
      <p:ext uri="{BB962C8B-B14F-4D97-AF65-F5344CB8AC3E}">
        <p14:creationId xmlns:p14="http://schemas.microsoft.com/office/powerpoint/2010/main" val="3762269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D02F0-D11C-424F-A68A-EC2247C1F77B}"/>
              </a:ext>
            </a:extLst>
          </p:cNvPr>
          <p:cNvSpPr>
            <a:spLocks noGrp="1"/>
          </p:cNvSpPr>
          <p:nvPr>
            <p:ph type="title"/>
          </p:nvPr>
        </p:nvSpPr>
        <p:spPr/>
        <p:txBody>
          <a:bodyPr/>
          <a:lstStyle/>
          <a:p>
            <a:r>
              <a:rPr lang="en-US" dirty="0"/>
              <a:t>Frameworks</a:t>
            </a:r>
          </a:p>
        </p:txBody>
      </p:sp>
      <p:sp>
        <p:nvSpPr>
          <p:cNvPr id="3" name="Content Placeholder 2">
            <a:extLst>
              <a:ext uri="{FF2B5EF4-FFF2-40B4-BE49-F238E27FC236}">
                <a16:creationId xmlns:a16="http://schemas.microsoft.com/office/drawing/2014/main" id="{31A49CE6-3A3F-412D-A7FD-BF1E21702A6C}"/>
              </a:ext>
            </a:extLst>
          </p:cNvPr>
          <p:cNvSpPr>
            <a:spLocks noGrp="1"/>
          </p:cNvSpPr>
          <p:nvPr>
            <p:ph idx="1"/>
          </p:nvPr>
        </p:nvSpPr>
        <p:spPr>
          <a:xfrm>
            <a:off x="811820" y="1558804"/>
            <a:ext cx="8915400" cy="3777622"/>
          </a:xfrm>
        </p:spPr>
        <p:txBody>
          <a:bodyPr>
            <a:normAutofit/>
          </a:bodyPr>
          <a:lstStyle/>
          <a:p>
            <a:r>
              <a:rPr lang="en-US" sz="2800" dirty="0"/>
              <a:t>Traditional Analytical method (top-down approach)</a:t>
            </a:r>
          </a:p>
          <a:p>
            <a:r>
              <a:rPr lang="en-US" sz="2800" dirty="0"/>
              <a:t>PPDIOO framework (CISCO)</a:t>
            </a:r>
          </a:p>
        </p:txBody>
      </p:sp>
      <p:pic>
        <p:nvPicPr>
          <p:cNvPr id="7" name="Slide">
            <a:extLst>
              <a:ext uri="{FF2B5EF4-FFF2-40B4-BE49-F238E27FC236}">
                <a16:creationId xmlns:a16="http://schemas.microsoft.com/office/drawing/2014/main" id="{27FF4A8C-F501-49AB-AB87-DDFF5C06A949}"/>
              </a:ext>
            </a:extLst>
          </p:cNvPr>
          <p:cNvPicPr>
            <a:picLocks noChangeAspect="1"/>
          </p:cNvPicPr>
          <p:nvPr/>
        </p:nvPicPr>
        <p:blipFill rotWithShape="1">
          <a:blip r:embed="rId2"/>
          <a:srcRect l="11032" t="15385" r="11020"/>
          <a:stretch/>
        </p:blipFill>
        <p:spPr>
          <a:xfrm>
            <a:off x="3766800" y="3795662"/>
            <a:ext cx="2350246" cy="2209633"/>
          </a:xfrm>
          <a:prstGeom prst="rect">
            <a:avLst/>
          </a:prstGeom>
          <a:noFill/>
          <a:ln>
            <a:noFill/>
          </a:ln>
        </p:spPr>
      </p:pic>
      <p:grpSp>
        <p:nvGrpSpPr>
          <p:cNvPr id="4" name="Group 3">
            <a:extLst>
              <a:ext uri="{FF2B5EF4-FFF2-40B4-BE49-F238E27FC236}">
                <a16:creationId xmlns:a16="http://schemas.microsoft.com/office/drawing/2014/main" id="{480F5EC4-9D5E-4D5E-A2B2-BF6C49D96550}"/>
              </a:ext>
            </a:extLst>
          </p:cNvPr>
          <p:cNvGrpSpPr/>
          <p:nvPr/>
        </p:nvGrpSpPr>
        <p:grpSpPr>
          <a:xfrm>
            <a:off x="1371600" y="2880469"/>
            <a:ext cx="8753878" cy="3631461"/>
            <a:chOff x="3005847" y="3084749"/>
            <a:chExt cx="8753878" cy="3631461"/>
          </a:xfrm>
        </p:grpSpPr>
        <p:pic>
          <p:nvPicPr>
            <p:cNvPr id="6" name="Picture 5">
              <a:extLst>
                <a:ext uri="{FF2B5EF4-FFF2-40B4-BE49-F238E27FC236}">
                  <a16:creationId xmlns:a16="http://schemas.microsoft.com/office/drawing/2014/main" id="{D5AD9FB0-6ECA-4FB5-94D6-CDFE14D4C0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6800" y="3084749"/>
              <a:ext cx="7992925" cy="3631461"/>
            </a:xfrm>
            <a:prstGeom prst="rect">
              <a:avLst/>
            </a:prstGeom>
          </p:spPr>
        </p:pic>
        <p:pic>
          <p:nvPicPr>
            <p:cNvPr id="8" name="Picture 7">
              <a:extLst>
                <a:ext uri="{FF2B5EF4-FFF2-40B4-BE49-F238E27FC236}">
                  <a16:creationId xmlns:a16="http://schemas.microsoft.com/office/drawing/2014/main" id="{19F36805-6CE9-436C-B031-E17AEAF80525}"/>
                </a:ext>
              </a:extLst>
            </p:cNvPr>
            <p:cNvPicPr>
              <a:picLocks noChangeAspect="1"/>
            </p:cNvPicPr>
            <p:nvPr/>
          </p:nvPicPr>
          <p:blipFill>
            <a:blip r:embed="rId4"/>
            <a:stretch>
              <a:fillRect/>
            </a:stretch>
          </p:blipFill>
          <p:spPr>
            <a:xfrm>
              <a:off x="3005847" y="3711424"/>
              <a:ext cx="3535878" cy="2862856"/>
            </a:xfrm>
            <a:prstGeom prst="rect">
              <a:avLst/>
            </a:prstGeom>
          </p:spPr>
        </p:pic>
      </p:grpSp>
      <p:pic>
        <p:nvPicPr>
          <p:cNvPr id="12" name="Picture 11">
            <a:extLst>
              <a:ext uri="{FF2B5EF4-FFF2-40B4-BE49-F238E27FC236}">
                <a16:creationId xmlns:a16="http://schemas.microsoft.com/office/drawing/2014/main" id="{2CF5A407-BE98-4E1B-A1E3-437B950A55C5}"/>
              </a:ext>
            </a:extLst>
          </p:cNvPr>
          <p:cNvPicPr>
            <a:picLocks noChangeAspect="1"/>
          </p:cNvPicPr>
          <p:nvPr/>
        </p:nvPicPr>
        <p:blipFill>
          <a:blip r:embed="rId5"/>
          <a:stretch>
            <a:fillRect/>
          </a:stretch>
        </p:blipFill>
        <p:spPr>
          <a:xfrm>
            <a:off x="9176303" y="145578"/>
            <a:ext cx="2350246" cy="2350246"/>
          </a:xfrm>
          <a:prstGeom prst="rect">
            <a:avLst/>
          </a:prstGeom>
        </p:spPr>
      </p:pic>
    </p:spTree>
    <p:extLst>
      <p:ext uri="{BB962C8B-B14F-4D97-AF65-F5344CB8AC3E}">
        <p14:creationId xmlns:p14="http://schemas.microsoft.com/office/powerpoint/2010/main" val="424390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C96A-E865-4D4E-9F58-A8F345939E05}"/>
              </a:ext>
            </a:extLst>
          </p:cNvPr>
          <p:cNvSpPr>
            <a:spLocks noGrp="1"/>
          </p:cNvSpPr>
          <p:nvPr>
            <p:ph type="title"/>
          </p:nvPr>
        </p:nvSpPr>
        <p:spPr>
          <a:xfrm>
            <a:off x="701395" y="638452"/>
            <a:ext cx="8911687" cy="1280890"/>
          </a:xfrm>
        </p:spPr>
        <p:txBody>
          <a:bodyPr>
            <a:normAutofit/>
          </a:bodyPr>
          <a:lstStyle/>
          <a:p>
            <a:r>
              <a:rPr lang="en-US" dirty="0"/>
              <a:t>Traditional Analytical method (Top Down approach)</a:t>
            </a:r>
            <a:br>
              <a:rPr lang="en-US" dirty="0"/>
            </a:br>
            <a:endParaRPr lang="en-US" dirty="0"/>
          </a:p>
        </p:txBody>
      </p:sp>
      <p:sp>
        <p:nvSpPr>
          <p:cNvPr id="5" name="TextBox 4">
            <a:extLst>
              <a:ext uri="{FF2B5EF4-FFF2-40B4-BE49-F238E27FC236}">
                <a16:creationId xmlns:a16="http://schemas.microsoft.com/office/drawing/2014/main" id="{5C671843-4098-4FCE-B1FE-1D27B3AACC40}"/>
              </a:ext>
            </a:extLst>
          </p:cNvPr>
          <p:cNvSpPr txBox="1"/>
          <p:nvPr/>
        </p:nvSpPr>
        <p:spPr>
          <a:xfrm>
            <a:off x="932748" y="1720839"/>
            <a:ext cx="7070709" cy="2308324"/>
          </a:xfrm>
          <a:prstGeom prst="rect">
            <a:avLst/>
          </a:prstGeom>
          <a:noFill/>
        </p:spPr>
        <p:txBody>
          <a:bodyPr wrap="square">
            <a:spAutoFit/>
          </a:bodyPr>
          <a:lstStyle/>
          <a:p>
            <a:r>
              <a:rPr lang="en-US" sz="2400" b="1" dirty="0"/>
              <a:t>The traditional network design process</a:t>
            </a:r>
            <a:r>
              <a:rPr lang="en-US" sz="2400" dirty="0"/>
              <a:t> follows a very structured systems analysis and design process similar to that used to build application systems.</a:t>
            </a:r>
          </a:p>
          <a:p>
            <a:r>
              <a:rPr lang="en-US" sz="2400" dirty="0"/>
              <a:t>First, the network analyst meets with users to identify user needs and the application systems planned for the network.</a:t>
            </a:r>
          </a:p>
        </p:txBody>
      </p:sp>
      <p:pic>
        <p:nvPicPr>
          <p:cNvPr id="9" name="Picture 8">
            <a:extLst>
              <a:ext uri="{FF2B5EF4-FFF2-40B4-BE49-F238E27FC236}">
                <a16:creationId xmlns:a16="http://schemas.microsoft.com/office/drawing/2014/main" id="{BFC86E43-CCD6-467E-AB7F-2C50564CC230}"/>
              </a:ext>
            </a:extLst>
          </p:cNvPr>
          <p:cNvPicPr>
            <a:picLocks noChangeAspect="1"/>
          </p:cNvPicPr>
          <p:nvPr/>
        </p:nvPicPr>
        <p:blipFill>
          <a:blip r:embed="rId2"/>
          <a:stretch>
            <a:fillRect/>
          </a:stretch>
        </p:blipFill>
        <p:spPr>
          <a:xfrm>
            <a:off x="8003457" y="1367058"/>
            <a:ext cx="4219221" cy="3416131"/>
          </a:xfrm>
          <a:prstGeom prst="rect">
            <a:avLst/>
          </a:prstGeom>
        </p:spPr>
      </p:pic>
      <p:sp>
        <p:nvSpPr>
          <p:cNvPr id="11" name="TextBox 10">
            <a:extLst>
              <a:ext uri="{FF2B5EF4-FFF2-40B4-BE49-F238E27FC236}">
                <a16:creationId xmlns:a16="http://schemas.microsoft.com/office/drawing/2014/main" id="{2F6E0454-EE9A-48B4-A475-001DB44736DC}"/>
              </a:ext>
            </a:extLst>
          </p:cNvPr>
          <p:cNvSpPr txBox="1"/>
          <p:nvPr/>
        </p:nvSpPr>
        <p:spPr>
          <a:xfrm>
            <a:off x="932748" y="4181310"/>
            <a:ext cx="9900211" cy="2308324"/>
          </a:xfrm>
          <a:prstGeom prst="rect">
            <a:avLst/>
          </a:prstGeom>
          <a:noFill/>
        </p:spPr>
        <p:txBody>
          <a:bodyPr wrap="square">
            <a:spAutoFit/>
          </a:bodyPr>
          <a:lstStyle/>
          <a:p>
            <a:r>
              <a:rPr lang="en-US" sz="1800" dirty="0"/>
              <a:t> </a:t>
            </a:r>
            <a:r>
              <a:rPr lang="en-US" sz="2400" dirty="0"/>
              <a:t>Second, the analyst develops a precise estimate of the amount of data that each user will send and receive and uses this to estimate the total amount of traffic on each part of the network. Third, the circuits needed to support this traffic plus a modest increase in traffic are designed and cost estimates are obtained from vendors. </a:t>
            </a:r>
          </a:p>
          <a:p>
            <a:r>
              <a:rPr lang="en-US" sz="2400" dirty="0"/>
              <a:t>Finally, 1 or 2 years later, the network is built and implemented. </a:t>
            </a:r>
          </a:p>
        </p:txBody>
      </p:sp>
    </p:spTree>
    <p:extLst>
      <p:ext uri="{BB962C8B-B14F-4D97-AF65-F5344CB8AC3E}">
        <p14:creationId xmlns:p14="http://schemas.microsoft.com/office/powerpoint/2010/main" val="2404465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E7438-FE39-449E-9191-12775D6C05BE}"/>
              </a:ext>
            </a:extLst>
          </p:cNvPr>
          <p:cNvSpPr>
            <a:spLocks noGrp="1"/>
          </p:cNvSpPr>
          <p:nvPr>
            <p:ph type="title"/>
          </p:nvPr>
        </p:nvSpPr>
        <p:spPr/>
        <p:txBody>
          <a:bodyPr/>
          <a:lstStyle/>
          <a:p>
            <a:r>
              <a:rPr lang="en-US" dirty="0"/>
              <a:t>Traditional Approach - Limitations</a:t>
            </a:r>
          </a:p>
        </p:txBody>
      </p:sp>
      <p:sp>
        <p:nvSpPr>
          <p:cNvPr id="3" name="Content Placeholder 2">
            <a:extLst>
              <a:ext uri="{FF2B5EF4-FFF2-40B4-BE49-F238E27FC236}">
                <a16:creationId xmlns:a16="http://schemas.microsoft.com/office/drawing/2014/main" id="{D84210B5-B527-462C-BE7B-3D33A4CEF081}"/>
              </a:ext>
            </a:extLst>
          </p:cNvPr>
          <p:cNvSpPr>
            <a:spLocks noGrp="1"/>
          </p:cNvSpPr>
          <p:nvPr>
            <p:ph idx="1"/>
          </p:nvPr>
        </p:nvSpPr>
        <p:spPr/>
        <p:txBody>
          <a:bodyPr>
            <a:normAutofit/>
          </a:bodyPr>
          <a:lstStyle/>
          <a:p>
            <a:r>
              <a:rPr lang="en-US" sz="2400" b="1" dirty="0"/>
              <a:t>This traditional process,</a:t>
            </a:r>
            <a:r>
              <a:rPr lang="en-US" sz="2400" dirty="0"/>
              <a:t> although expensive and time consuming, works well for static or slowly evolving networks.</a:t>
            </a:r>
          </a:p>
          <a:p>
            <a:pPr lvl="1"/>
            <a:r>
              <a:rPr lang="en-US" sz="2200" dirty="0"/>
              <a:t>Unfortunately, networking today is significantly different from what it was when the traditional process was developed. </a:t>
            </a:r>
          </a:p>
          <a:p>
            <a:r>
              <a:rPr lang="en-US" sz="2400" dirty="0"/>
              <a:t>Three forces are making the traditional design process less appropriate for many of today’s networks. </a:t>
            </a:r>
          </a:p>
        </p:txBody>
      </p:sp>
      <p:sp>
        <p:nvSpPr>
          <p:cNvPr id="4" name="Slide Number Placeholder 3">
            <a:extLst>
              <a:ext uri="{FF2B5EF4-FFF2-40B4-BE49-F238E27FC236}">
                <a16:creationId xmlns:a16="http://schemas.microsoft.com/office/drawing/2014/main" id="{ABF29D2C-E22D-41F6-BF61-5AD5E175370A}"/>
              </a:ext>
            </a:extLst>
          </p:cNvPr>
          <p:cNvSpPr>
            <a:spLocks noGrp="1"/>
          </p:cNvSpPr>
          <p:nvPr>
            <p:ph type="sldNum" sz="quarter" idx="12"/>
          </p:nvPr>
        </p:nvSpPr>
        <p:spPr/>
        <p:txBody>
          <a:bodyPr/>
          <a:lstStyle/>
          <a:p>
            <a:fld id="{B74EB0F0-7D7E-412A-B235-20FE2876EE16}" type="slidenum">
              <a:rPr lang="en-US" smtClean="0"/>
              <a:t>16</a:t>
            </a:fld>
            <a:endParaRPr lang="en-US"/>
          </a:p>
        </p:txBody>
      </p:sp>
      <p:sp>
        <p:nvSpPr>
          <p:cNvPr id="6" name="TextBox 5">
            <a:extLst>
              <a:ext uri="{FF2B5EF4-FFF2-40B4-BE49-F238E27FC236}">
                <a16:creationId xmlns:a16="http://schemas.microsoft.com/office/drawing/2014/main" id="{CB133381-F03C-4B52-B0C3-638D09C4361C}"/>
              </a:ext>
            </a:extLst>
          </p:cNvPr>
          <p:cNvSpPr txBox="1"/>
          <p:nvPr/>
        </p:nvSpPr>
        <p:spPr>
          <a:xfrm>
            <a:off x="1257299" y="4134654"/>
            <a:ext cx="9336121" cy="1569660"/>
          </a:xfrm>
          <a:prstGeom prst="rect">
            <a:avLst/>
          </a:prstGeom>
          <a:noFill/>
        </p:spPr>
        <p:txBody>
          <a:bodyPr wrap="square">
            <a:spAutoFit/>
          </a:bodyPr>
          <a:lstStyle/>
          <a:p>
            <a:r>
              <a:rPr lang="en-US" sz="2400" b="1" dirty="0">
                <a:solidFill>
                  <a:srgbClr val="C00000"/>
                </a:solidFill>
              </a:rPr>
              <a:t>First,</a:t>
            </a:r>
            <a:r>
              <a:rPr lang="en-US" sz="2400" dirty="0">
                <a:solidFill>
                  <a:srgbClr val="C00000"/>
                </a:solidFill>
              </a:rPr>
              <a:t> the underlying technology of the client and server computers, networking devices, and the circuits themselves is changing very rapidly.</a:t>
            </a:r>
          </a:p>
          <a:p>
            <a:r>
              <a:rPr lang="en-US" sz="2400" b="1" dirty="0">
                <a:solidFill>
                  <a:srgbClr val="C00000"/>
                </a:solidFill>
              </a:rPr>
              <a:t>Second,</a:t>
            </a:r>
            <a:r>
              <a:rPr lang="en-US" sz="2400" dirty="0">
                <a:solidFill>
                  <a:srgbClr val="C00000"/>
                </a:solidFill>
              </a:rPr>
              <a:t> the growth in network traffic is immense.</a:t>
            </a:r>
          </a:p>
          <a:p>
            <a:r>
              <a:rPr lang="en-US" sz="2400" b="1" dirty="0">
                <a:solidFill>
                  <a:srgbClr val="C00000"/>
                </a:solidFill>
              </a:rPr>
              <a:t>Third,</a:t>
            </a:r>
            <a:r>
              <a:rPr lang="en-US" sz="2400" dirty="0">
                <a:solidFill>
                  <a:srgbClr val="C00000"/>
                </a:solidFill>
              </a:rPr>
              <a:t> cost factor of hardware, software and HR</a:t>
            </a:r>
          </a:p>
        </p:txBody>
      </p:sp>
    </p:spTree>
    <p:extLst>
      <p:ext uri="{BB962C8B-B14F-4D97-AF65-F5344CB8AC3E}">
        <p14:creationId xmlns:p14="http://schemas.microsoft.com/office/powerpoint/2010/main" val="3303756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1C72B44A-1658-4914-8551-F9C6A1F32C69}"/>
              </a:ext>
            </a:extLst>
          </p:cNvPr>
          <p:cNvPicPr>
            <a:picLocks noChangeAspect="1"/>
          </p:cNvPicPr>
          <p:nvPr/>
        </p:nvPicPr>
        <p:blipFill rotWithShape="1">
          <a:blip r:embed="rId2">
            <a:extLst>
              <a:ext uri="{28A0092B-C50C-407E-A947-70E740481C1C}">
                <a14:useLocalDpi xmlns:a14="http://schemas.microsoft.com/office/drawing/2010/main" val="0"/>
              </a:ext>
            </a:extLst>
          </a:blip>
          <a:srcRect l="65306" t="15233"/>
          <a:stretch/>
        </p:blipFill>
        <p:spPr>
          <a:xfrm>
            <a:off x="732617" y="1558804"/>
            <a:ext cx="3914163" cy="4351338"/>
          </a:xfrm>
          <a:prstGeom prst="rect">
            <a:avLst/>
          </a:prstGeom>
          <a:noFill/>
        </p:spPr>
      </p:pic>
      <p:sp>
        <p:nvSpPr>
          <p:cNvPr id="10" name="Content Placeholder 2">
            <a:extLst>
              <a:ext uri="{FF2B5EF4-FFF2-40B4-BE49-F238E27FC236}">
                <a16:creationId xmlns:a16="http://schemas.microsoft.com/office/drawing/2014/main" id="{4DA4C2F9-C12A-46BE-A92B-63C540499C03}"/>
              </a:ext>
            </a:extLst>
          </p:cNvPr>
          <p:cNvSpPr>
            <a:spLocks noGrp="1"/>
          </p:cNvSpPr>
          <p:nvPr>
            <p:ph sz="half" idx="2"/>
          </p:nvPr>
        </p:nvSpPr>
        <p:spPr>
          <a:xfrm>
            <a:off x="4646780" y="1584811"/>
            <a:ext cx="7251769" cy="4679801"/>
          </a:xfrm>
        </p:spPr>
        <p:txBody>
          <a:bodyPr>
            <a:normAutofit/>
          </a:bodyPr>
          <a:lstStyle/>
          <a:p>
            <a:r>
              <a:rPr lang="en-US" dirty="0"/>
              <a:t>This methodology is composed by six phases closely related: </a:t>
            </a:r>
          </a:p>
          <a:p>
            <a:pPr lvl="1"/>
            <a:r>
              <a:rPr lang="en-US" b="1" dirty="0"/>
              <a:t>prepare, plan, design, implement, operate, optimize</a:t>
            </a:r>
            <a:r>
              <a:rPr lang="en-US" dirty="0"/>
              <a:t>. As show in this figure, the PPDIOO lifecycle phases are separate, yet closely related </a:t>
            </a:r>
          </a:p>
          <a:p>
            <a:r>
              <a:rPr lang="en-US" dirty="0"/>
              <a:t>Why use the PPDIOO model?</a:t>
            </a:r>
          </a:p>
          <a:p>
            <a:pPr lvl="1"/>
            <a:r>
              <a:rPr lang="en-US" dirty="0"/>
              <a:t>Lowering the total cost of network ownership</a:t>
            </a:r>
          </a:p>
          <a:p>
            <a:pPr lvl="1"/>
            <a:r>
              <a:rPr lang="en-US" dirty="0"/>
              <a:t>Improving business agility</a:t>
            </a:r>
          </a:p>
          <a:p>
            <a:pPr lvl="2"/>
            <a:r>
              <a:rPr lang="en-US" dirty="0"/>
              <a:t>an organization’s ability to respond rapidly to changing business or market conditions</a:t>
            </a:r>
          </a:p>
          <a:p>
            <a:pPr lvl="1"/>
            <a:r>
              <a:rPr lang="en-US" dirty="0"/>
              <a:t>Increasing availability (HA) with proper Disaster Recovery (DR)</a:t>
            </a:r>
          </a:p>
        </p:txBody>
      </p:sp>
      <p:sp>
        <p:nvSpPr>
          <p:cNvPr id="12" name="Slide Number Placeholder 3">
            <a:extLst>
              <a:ext uri="{FF2B5EF4-FFF2-40B4-BE49-F238E27FC236}">
                <a16:creationId xmlns:a16="http://schemas.microsoft.com/office/drawing/2014/main" id="{B7EADEFA-EDFD-4257-AF80-E8D076B5C071}"/>
              </a:ext>
            </a:extLst>
          </p:cNvPr>
          <p:cNvSpPr>
            <a:spLocks noGrp="1"/>
          </p:cNvSpPr>
          <p:nvPr>
            <p:ph type="sldNum" sz="quarter" idx="12"/>
          </p:nvPr>
        </p:nvSpPr>
        <p:spPr>
          <a:xfrm>
            <a:off x="8610600" y="6356350"/>
            <a:ext cx="2743200" cy="365125"/>
          </a:xfrm>
        </p:spPr>
        <p:txBody>
          <a:bodyPr/>
          <a:lstStyle/>
          <a:p>
            <a:pPr>
              <a:spcAft>
                <a:spcPts val="600"/>
              </a:spcAft>
            </a:pPr>
            <a:fld id="{B74EB0F0-7D7E-412A-B235-20FE2876EE16}" type="slidenum">
              <a:rPr lang="en-US" smtClean="0"/>
              <a:pPr>
                <a:spcAft>
                  <a:spcPts val="600"/>
                </a:spcAft>
              </a:pPr>
              <a:t>17</a:t>
            </a:fld>
            <a:endParaRPr lang="en-US" dirty="0"/>
          </a:p>
        </p:txBody>
      </p:sp>
      <p:sp>
        <p:nvSpPr>
          <p:cNvPr id="2" name="Title 1">
            <a:extLst>
              <a:ext uri="{FF2B5EF4-FFF2-40B4-BE49-F238E27FC236}">
                <a16:creationId xmlns:a16="http://schemas.microsoft.com/office/drawing/2014/main" id="{F179825A-D4D7-451E-A6D9-A32F1F61685E}"/>
              </a:ext>
            </a:extLst>
          </p:cNvPr>
          <p:cNvSpPr>
            <a:spLocks noGrp="1"/>
          </p:cNvSpPr>
          <p:nvPr>
            <p:ph type="title"/>
          </p:nvPr>
        </p:nvSpPr>
        <p:spPr>
          <a:xfrm>
            <a:off x="811820" y="518746"/>
            <a:ext cx="10515600" cy="1040058"/>
          </a:xfrm>
        </p:spPr>
        <p:txBody>
          <a:bodyPr anchor="ctr">
            <a:normAutofit/>
          </a:bodyPr>
          <a:lstStyle/>
          <a:p>
            <a:r>
              <a:rPr lang="en-US" dirty="0"/>
              <a:t>PPDIOO method (CISCO)</a:t>
            </a:r>
          </a:p>
        </p:txBody>
      </p:sp>
    </p:spTree>
    <p:extLst>
      <p:ext uri="{BB962C8B-B14F-4D97-AF65-F5344CB8AC3E}">
        <p14:creationId xmlns:p14="http://schemas.microsoft.com/office/powerpoint/2010/main" val="1537960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9857" y="1863587"/>
            <a:ext cx="9828143" cy="1646376"/>
          </a:xfrm>
        </p:spPr>
        <p:txBody>
          <a:bodyPr>
            <a:normAutofit/>
          </a:bodyPr>
          <a:lstStyle/>
          <a:p>
            <a:r>
              <a:rPr lang="en-US" sz="4400" dirty="0"/>
              <a:t>Identification of Requirements of a Network </a:t>
            </a:r>
          </a:p>
        </p:txBody>
      </p:sp>
    </p:spTree>
    <p:extLst>
      <p:ext uri="{BB962C8B-B14F-4D97-AF65-F5344CB8AC3E}">
        <p14:creationId xmlns:p14="http://schemas.microsoft.com/office/powerpoint/2010/main" val="32074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0870B-4C99-4628-B3E9-082CD8F287CD}"/>
              </a:ext>
            </a:extLst>
          </p:cNvPr>
          <p:cNvSpPr>
            <a:spLocks noGrp="1"/>
          </p:cNvSpPr>
          <p:nvPr>
            <p:ph type="title"/>
          </p:nvPr>
        </p:nvSpPr>
        <p:spPr/>
        <p:txBody>
          <a:bodyPr/>
          <a:lstStyle/>
          <a:p>
            <a:r>
              <a:rPr lang="en-US" dirty="0"/>
              <a:t>Phase 1 Analyzing the requirements </a:t>
            </a:r>
          </a:p>
        </p:txBody>
      </p:sp>
      <p:sp>
        <p:nvSpPr>
          <p:cNvPr id="3" name="Content Placeholder 2">
            <a:extLst>
              <a:ext uri="{FF2B5EF4-FFF2-40B4-BE49-F238E27FC236}">
                <a16:creationId xmlns:a16="http://schemas.microsoft.com/office/drawing/2014/main" id="{0A492524-AE5B-4002-A8F2-2A5A3B831146}"/>
              </a:ext>
            </a:extLst>
          </p:cNvPr>
          <p:cNvSpPr>
            <a:spLocks noGrp="1"/>
          </p:cNvSpPr>
          <p:nvPr>
            <p:ph idx="1"/>
          </p:nvPr>
        </p:nvSpPr>
        <p:spPr>
          <a:xfrm>
            <a:off x="811820" y="1449171"/>
            <a:ext cx="9532449" cy="4583723"/>
          </a:xfrm>
        </p:spPr>
        <p:txBody>
          <a:bodyPr>
            <a:normAutofit/>
          </a:bodyPr>
          <a:lstStyle/>
          <a:p>
            <a:r>
              <a:rPr lang="en-US" sz="3200" dirty="0"/>
              <a:t>Identify the business goals.</a:t>
            </a:r>
          </a:p>
          <a:p>
            <a:r>
              <a:rPr lang="en-US" sz="3200" dirty="0"/>
              <a:t>Getting the Requirements </a:t>
            </a:r>
          </a:p>
          <a:p>
            <a:r>
              <a:rPr lang="en-US" sz="3200" dirty="0"/>
              <a:t>Collect background of existing networks ( traffic plots /graphs/logs and projections)</a:t>
            </a:r>
          </a:p>
          <a:p>
            <a:r>
              <a:rPr lang="en-US" sz="3200" dirty="0"/>
              <a:t>Analyze them and build priority Metrix.</a:t>
            </a:r>
          </a:p>
          <a:p>
            <a:r>
              <a:rPr lang="en-US" sz="3200" dirty="0"/>
              <a:t>Analyze the technical options and set tradeoffs .</a:t>
            </a:r>
          </a:p>
          <a:p>
            <a:endParaRPr lang="en-US" sz="3200" dirty="0"/>
          </a:p>
        </p:txBody>
      </p:sp>
    </p:spTree>
    <p:extLst>
      <p:ext uri="{BB962C8B-B14F-4D97-AF65-F5344CB8AC3E}">
        <p14:creationId xmlns:p14="http://schemas.microsoft.com/office/powerpoint/2010/main" val="1057177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dirty="0"/>
              <a:t>Requirements</a:t>
            </a:r>
          </a:p>
        </p:txBody>
      </p:sp>
      <p:pic>
        <p:nvPicPr>
          <p:cNvPr id="3" name="Picture 2" descr="Chart&#10;&#10;Description automatically generated">
            <a:extLst>
              <a:ext uri="{FF2B5EF4-FFF2-40B4-BE49-F238E27FC236}">
                <a16:creationId xmlns:a16="http://schemas.microsoft.com/office/drawing/2014/main" id="{71A8EA4C-7194-431F-9E3C-ECF005DB4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053" y="2064775"/>
            <a:ext cx="5880202" cy="2973702"/>
          </a:xfrm>
          <a:prstGeom prst="rect">
            <a:avLst/>
          </a:prstGeom>
        </p:spPr>
      </p:pic>
      <p:sp>
        <p:nvSpPr>
          <p:cNvPr id="23558" name="Rectangle 3"/>
          <p:cNvSpPr>
            <a:spLocks noGrp="1" noChangeArrowheads="1"/>
          </p:cNvSpPr>
          <p:nvPr>
            <p:ph idx="1"/>
          </p:nvPr>
        </p:nvSpPr>
        <p:spPr>
          <a:xfrm>
            <a:off x="702013" y="1558804"/>
            <a:ext cx="10515600" cy="4351338"/>
          </a:xfrm>
        </p:spPr>
        <p:txBody>
          <a:bodyPr>
            <a:normAutofit/>
          </a:bodyPr>
          <a:lstStyle/>
          <a:p>
            <a:pPr eaLnBrk="1" hangingPunct="1"/>
            <a:r>
              <a:rPr lang="en-US" altLang="en-US" sz="3200" dirty="0"/>
              <a:t>Needs to Identify the requirements  before Planning and designing </a:t>
            </a:r>
          </a:p>
          <a:p>
            <a:pPr eaLnBrk="1" hangingPunct="1"/>
            <a:r>
              <a:rPr lang="en-US" altLang="en-US" sz="3200" dirty="0"/>
              <a:t>The process involve. </a:t>
            </a:r>
          </a:p>
          <a:p>
            <a:pPr lvl="1"/>
            <a:r>
              <a:rPr lang="en-US" altLang="en-US" dirty="0"/>
              <a:t>Identify requirements </a:t>
            </a:r>
          </a:p>
          <a:p>
            <a:pPr lvl="1"/>
            <a:r>
              <a:rPr lang="en-US" altLang="en-US" dirty="0"/>
              <a:t>Gather all requirements </a:t>
            </a:r>
          </a:p>
          <a:p>
            <a:pPr lvl="1"/>
            <a:r>
              <a:rPr lang="en-US" altLang="en-US" dirty="0"/>
              <a:t>Classification and prioritized of requirements.</a:t>
            </a:r>
          </a:p>
          <a:p>
            <a:pPr lvl="1"/>
            <a:r>
              <a:rPr lang="en-US" altLang="en-US" dirty="0"/>
              <a:t>Verify requirements and Priority</a:t>
            </a:r>
          </a:p>
          <a:p>
            <a:pPr lvl="1"/>
            <a:r>
              <a:rPr lang="en-US" altLang="en-US" dirty="0"/>
              <a:t>Address them accordingly in the designing</a:t>
            </a:r>
            <a:endParaRPr lang="en-US" altLang="en-US" sz="3200" dirty="0"/>
          </a:p>
          <a:p>
            <a:pPr eaLnBrk="1" hangingPunct="1"/>
            <a:endParaRPr lang="en-US" altLang="en-US" sz="3600" dirty="0"/>
          </a:p>
          <a:p>
            <a:pPr eaLnBrk="1" hangingPunct="1"/>
            <a:endParaRPr lang="en-US" altLang="en-US" sz="3600" dirty="0"/>
          </a:p>
        </p:txBody>
      </p:sp>
    </p:spTree>
    <p:extLst>
      <p:ext uri="{BB962C8B-B14F-4D97-AF65-F5344CB8AC3E}">
        <p14:creationId xmlns:p14="http://schemas.microsoft.com/office/powerpoint/2010/main" val="29080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altLang="en-US" dirty="0"/>
              <a:t>Identification of Requirements</a:t>
            </a:r>
          </a:p>
        </p:txBody>
      </p:sp>
      <p:sp>
        <p:nvSpPr>
          <p:cNvPr id="24582" name="Rectangle 3"/>
          <p:cNvSpPr>
            <a:spLocks noGrp="1" noChangeArrowheads="1"/>
          </p:cNvSpPr>
          <p:nvPr>
            <p:ph idx="1"/>
          </p:nvPr>
        </p:nvSpPr>
        <p:spPr>
          <a:xfrm>
            <a:off x="811820" y="1540189"/>
            <a:ext cx="10676546" cy="3975394"/>
          </a:xfrm>
        </p:spPr>
        <p:txBody>
          <a:bodyPr>
            <a:normAutofit lnSpcReduction="10000"/>
          </a:bodyPr>
          <a:lstStyle/>
          <a:p>
            <a:pPr eaLnBrk="1" hangingPunct="1"/>
            <a:r>
              <a:rPr lang="en-US" altLang="en-US" sz="3200" dirty="0"/>
              <a:t>Requirements can come from many aspects of the network system</a:t>
            </a:r>
          </a:p>
          <a:p>
            <a:pPr marL="457200" lvl="1" indent="0">
              <a:buNone/>
            </a:pPr>
            <a:r>
              <a:rPr lang="en-US" altLang="en-US" sz="3000" dirty="0"/>
              <a:t>Consider the </a:t>
            </a:r>
            <a:r>
              <a:rPr lang="en-US" altLang="en-US" sz="3000" dirty="0">
                <a:solidFill>
                  <a:srgbClr val="0070C0"/>
                </a:solidFill>
              </a:rPr>
              <a:t>Computer Network </a:t>
            </a:r>
            <a:r>
              <a:rPr lang="en-US" altLang="en-US" sz="3000" dirty="0"/>
              <a:t>is like the </a:t>
            </a:r>
            <a:r>
              <a:rPr lang="en-US" altLang="en-US" sz="3000" dirty="0">
                <a:solidFill>
                  <a:srgbClr val="C00000"/>
                </a:solidFill>
              </a:rPr>
              <a:t>Road Network</a:t>
            </a:r>
          </a:p>
          <a:p>
            <a:pPr lvl="1" eaLnBrk="1" hangingPunct="1"/>
            <a:r>
              <a:rPr lang="en-US" altLang="en-US" dirty="0"/>
              <a:t>User Requirements </a:t>
            </a:r>
          </a:p>
          <a:p>
            <a:pPr lvl="1" eaLnBrk="1" hangingPunct="1"/>
            <a:r>
              <a:rPr lang="en-US" altLang="en-US" dirty="0"/>
              <a:t>Application Requirements </a:t>
            </a:r>
          </a:p>
          <a:p>
            <a:pPr lvl="1" eaLnBrk="1" hangingPunct="1"/>
            <a:r>
              <a:rPr lang="en-US" altLang="en-US" dirty="0"/>
              <a:t>Device Requirements </a:t>
            </a:r>
          </a:p>
          <a:p>
            <a:pPr lvl="1" eaLnBrk="1" hangingPunct="1"/>
            <a:r>
              <a:rPr lang="en-US" altLang="en-US" dirty="0"/>
              <a:t>Network Requirements </a:t>
            </a:r>
          </a:p>
          <a:p>
            <a:pPr lvl="1" eaLnBrk="1" hangingPunct="1"/>
            <a:r>
              <a:rPr lang="en-US" altLang="en-US" dirty="0"/>
              <a:t>Other Requirements </a:t>
            </a:r>
          </a:p>
          <a:p>
            <a:pPr lvl="1" eaLnBrk="1" hangingPunct="1"/>
            <a:r>
              <a:rPr lang="en-US" altLang="en-US" dirty="0"/>
              <a:t>Technological Trends</a:t>
            </a:r>
          </a:p>
        </p:txBody>
      </p:sp>
    </p:spTree>
    <p:extLst>
      <p:ext uri="{BB962C8B-B14F-4D97-AF65-F5344CB8AC3E}">
        <p14:creationId xmlns:p14="http://schemas.microsoft.com/office/powerpoint/2010/main" val="3825252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2DE5-39C0-4FEE-929E-BAB8FE974A50}"/>
              </a:ext>
            </a:extLst>
          </p:cNvPr>
          <p:cNvSpPr>
            <a:spLocks noGrp="1"/>
          </p:cNvSpPr>
          <p:nvPr>
            <p:ph type="title"/>
          </p:nvPr>
        </p:nvSpPr>
        <p:spPr/>
        <p:txBody>
          <a:bodyPr/>
          <a:lstStyle/>
          <a:p>
            <a:r>
              <a:rPr lang="en-US" altLang="en-US" dirty="0"/>
              <a:t>Requirements Analysis</a:t>
            </a:r>
            <a:endParaRPr lang="en-US" dirty="0"/>
          </a:p>
        </p:txBody>
      </p:sp>
      <p:sp>
        <p:nvSpPr>
          <p:cNvPr id="4" name="Rectangle 3">
            <a:extLst>
              <a:ext uri="{FF2B5EF4-FFF2-40B4-BE49-F238E27FC236}">
                <a16:creationId xmlns:a16="http://schemas.microsoft.com/office/drawing/2014/main" id="{4DB00DCA-FEC6-4B9B-8A87-6AB6DCCFE4AE}"/>
              </a:ext>
            </a:extLst>
          </p:cNvPr>
          <p:cNvSpPr>
            <a:spLocks noGrp="1" noChangeArrowheads="1"/>
          </p:cNvSpPr>
          <p:nvPr>
            <p:ph idx="1"/>
          </p:nvPr>
        </p:nvSpPr>
        <p:spPr>
          <a:xfrm>
            <a:off x="811820" y="1558804"/>
            <a:ext cx="7232954" cy="4780450"/>
          </a:xfrm>
        </p:spPr>
        <p:txBody>
          <a:bodyPr>
            <a:normAutofit/>
          </a:bodyPr>
          <a:lstStyle/>
          <a:p>
            <a:pPr eaLnBrk="1" hangingPunct="1">
              <a:lnSpc>
                <a:spcPct val="90000"/>
              </a:lnSpc>
            </a:pPr>
            <a:r>
              <a:rPr lang="en-US" altLang="en-US" sz="2800" dirty="0"/>
              <a:t>How do we describe requirements for a network?</a:t>
            </a:r>
          </a:p>
          <a:p>
            <a:pPr lvl="1"/>
            <a:r>
              <a:rPr lang="en-US" altLang="en-US" sz="2600" dirty="0"/>
              <a:t>Users are the main key .</a:t>
            </a:r>
          </a:p>
          <a:p>
            <a:pPr lvl="1"/>
            <a:r>
              <a:rPr lang="en-US" altLang="en-US" sz="2600" dirty="0"/>
              <a:t>Difficult to provide all the requirements.</a:t>
            </a:r>
          </a:p>
          <a:p>
            <a:pPr lvl="1"/>
            <a:r>
              <a:rPr lang="en-US" altLang="en-US" sz="2600" dirty="0"/>
              <a:t>Must address common ones first.</a:t>
            </a:r>
          </a:p>
          <a:p>
            <a:pPr lvl="1"/>
            <a:r>
              <a:rPr lang="en-US" altLang="en-US" sz="2600" dirty="0"/>
              <a:t>Speed is a common topic but depend </a:t>
            </a:r>
            <a:r>
              <a:rPr lang="en-US" altLang="en-US" sz="2800" dirty="0"/>
              <a:t>on multiple factors from user  perception to hardware. </a:t>
            </a:r>
          </a:p>
        </p:txBody>
      </p:sp>
      <p:pic>
        <p:nvPicPr>
          <p:cNvPr id="8" name="Picture 7" descr="Diagram&#10;&#10;Description automatically generated">
            <a:extLst>
              <a:ext uri="{FF2B5EF4-FFF2-40B4-BE49-F238E27FC236}">
                <a16:creationId xmlns:a16="http://schemas.microsoft.com/office/drawing/2014/main" id="{C0882045-D1A8-43E3-A761-66B6F1DA2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841" y="1881853"/>
            <a:ext cx="4586998" cy="3860185"/>
          </a:xfrm>
          <a:prstGeom prst="rect">
            <a:avLst/>
          </a:prstGeom>
        </p:spPr>
      </p:pic>
    </p:spTree>
    <p:extLst>
      <p:ext uri="{BB962C8B-B14F-4D97-AF65-F5344CB8AC3E}">
        <p14:creationId xmlns:p14="http://schemas.microsoft.com/office/powerpoint/2010/main" val="199799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8A4-DF49-4874-8A71-EE21193F40FB}"/>
              </a:ext>
            </a:extLst>
          </p:cNvPr>
          <p:cNvSpPr>
            <a:spLocks noGrp="1"/>
          </p:cNvSpPr>
          <p:nvPr>
            <p:ph sz="half" idx="1"/>
          </p:nvPr>
        </p:nvSpPr>
        <p:spPr>
          <a:xfrm>
            <a:off x="838200" y="1825625"/>
            <a:ext cx="5181600" cy="4351338"/>
          </a:xfrm>
        </p:spPr>
        <p:txBody>
          <a:bodyPr>
            <a:normAutofit/>
          </a:bodyPr>
          <a:lstStyle/>
          <a:p>
            <a:r>
              <a:rPr lang="en-US" sz="2400"/>
              <a:t>The term </a:t>
            </a:r>
            <a:r>
              <a:rPr lang="en-US" sz="2400" i="1"/>
              <a:t>user</a:t>
            </a:r>
            <a:r>
              <a:rPr lang="en-US" sz="2400"/>
              <a:t> represents primarily the end users of the system</a:t>
            </a:r>
          </a:p>
          <a:p>
            <a:pPr lvl="1"/>
            <a:r>
              <a:rPr lang="en-US" dirty="0"/>
              <a:t>It can be expanded to include everyone involved in the system, such as network and system administrators and management. </a:t>
            </a:r>
          </a:p>
          <a:p>
            <a:r>
              <a:rPr lang="en-US" sz="2400" i="1"/>
              <a:t>User requirements</a:t>
            </a:r>
            <a:r>
              <a:rPr lang="en-US" sz="2400"/>
              <a:t> is the set of requirements gathered or derived from user input and is what is needed by users to successfully accomplish their tasks on the system.</a:t>
            </a:r>
          </a:p>
        </p:txBody>
      </p:sp>
      <p:pic>
        <p:nvPicPr>
          <p:cNvPr id="6" name="Picture 5">
            <a:extLst>
              <a:ext uri="{FF2B5EF4-FFF2-40B4-BE49-F238E27FC236}">
                <a16:creationId xmlns:a16="http://schemas.microsoft.com/office/drawing/2014/main" id="{ABA68363-51A4-4C33-9EFF-22D1ABC3D4F0}"/>
              </a:ext>
            </a:extLst>
          </p:cNvPr>
          <p:cNvPicPr>
            <a:picLocks noChangeAspect="1"/>
          </p:cNvPicPr>
          <p:nvPr/>
        </p:nvPicPr>
        <p:blipFill>
          <a:blip r:embed="rId2"/>
          <a:stretch>
            <a:fillRect/>
          </a:stretch>
        </p:blipFill>
        <p:spPr>
          <a:xfrm>
            <a:off x="7136148" y="1825625"/>
            <a:ext cx="3253703" cy="4351338"/>
          </a:xfrm>
          <a:prstGeom prst="rect">
            <a:avLst/>
          </a:prstGeom>
          <a:noFill/>
        </p:spPr>
      </p:pic>
      <p:sp>
        <p:nvSpPr>
          <p:cNvPr id="4" name="Slide Number Placeholder 3">
            <a:extLst>
              <a:ext uri="{FF2B5EF4-FFF2-40B4-BE49-F238E27FC236}">
                <a16:creationId xmlns:a16="http://schemas.microsoft.com/office/drawing/2014/main" id="{B9F7BFA2-8B5C-4319-885A-44F15FE96BB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23</a:t>
            </a:fld>
            <a:endParaRPr lang="en-US"/>
          </a:p>
        </p:txBody>
      </p:sp>
      <p:sp>
        <p:nvSpPr>
          <p:cNvPr id="2" name="Title 1">
            <a:extLst>
              <a:ext uri="{FF2B5EF4-FFF2-40B4-BE49-F238E27FC236}">
                <a16:creationId xmlns:a16="http://schemas.microsoft.com/office/drawing/2014/main" id="{9EF4C461-DAF0-4C31-9938-4CCA067054EA}"/>
              </a:ext>
            </a:extLst>
          </p:cNvPr>
          <p:cNvSpPr>
            <a:spLocks noGrp="1"/>
          </p:cNvSpPr>
          <p:nvPr>
            <p:ph type="title"/>
          </p:nvPr>
        </p:nvSpPr>
        <p:spPr>
          <a:xfrm>
            <a:off x="811820" y="518746"/>
            <a:ext cx="10515600" cy="1040058"/>
          </a:xfrm>
        </p:spPr>
        <p:txBody>
          <a:bodyPr anchor="ctr">
            <a:normAutofit/>
          </a:bodyPr>
          <a:lstStyle/>
          <a:p>
            <a:r>
              <a:rPr lang="en-US" dirty="0"/>
              <a:t>User Requirements</a:t>
            </a:r>
          </a:p>
        </p:txBody>
      </p:sp>
    </p:spTree>
    <p:extLst>
      <p:ext uri="{BB962C8B-B14F-4D97-AF65-F5344CB8AC3E}">
        <p14:creationId xmlns:p14="http://schemas.microsoft.com/office/powerpoint/2010/main" val="3459483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sz="half" idx="1"/>
          </p:nvPr>
        </p:nvSpPr>
        <p:spPr>
          <a:xfrm>
            <a:off x="838200" y="1825625"/>
            <a:ext cx="5181600" cy="4351338"/>
          </a:xfrm>
        </p:spPr>
        <p:txBody>
          <a:bodyPr>
            <a:normAutofit/>
          </a:bodyPr>
          <a:lstStyle/>
          <a:p>
            <a:pPr eaLnBrk="1" hangingPunct="1"/>
            <a:r>
              <a:rPr lang="en-US" altLang="en-US" sz="2600"/>
              <a:t>What types of apps are we using?</a:t>
            </a:r>
          </a:p>
          <a:p>
            <a:pPr lvl="1" eaLnBrk="1" hangingPunct="1"/>
            <a:r>
              <a:rPr lang="en-US" altLang="en-US" sz="2600"/>
              <a:t>Mission-critical</a:t>
            </a:r>
          </a:p>
          <a:p>
            <a:pPr lvl="1" eaLnBrk="1" hangingPunct="1"/>
            <a:r>
              <a:rPr lang="en-US" altLang="en-US" sz="2600"/>
              <a:t>Rate-critical</a:t>
            </a:r>
          </a:p>
          <a:p>
            <a:pPr lvl="1" eaLnBrk="1" hangingPunct="1"/>
            <a:r>
              <a:rPr lang="en-US" altLang="en-US" sz="2600"/>
              <a:t>Real-time and/or interactive (Delay Sensitive)</a:t>
            </a:r>
          </a:p>
          <a:p>
            <a:pPr eaLnBrk="1" hangingPunct="1"/>
            <a:r>
              <a:rPr lang="en-US" altLang="en-US" sz="2600"/>
              <a:t>How sensitive are apps to RMA (reliability, maintainability, availability) of the network?</a:t>
            </a:r>
          </a:p>
          <a:p>
            <a:pPr eaLnBrk="1" hangingPunct="1"/>
            <a:r>
              <a:rPr lang="en-US" altLang="en-US" sz="2600"/>
              <a:t>What capacity is needed?</a:t>
            </a:r>
          </a:p>
          <a:p>
            <a:pPr eaLnBrk="1" hangingPunct="1"/>
            <a:r>
              <a:rPr lang="en-US" altLang="en-US" sz="2600"/>
              <a:t>What delay time is acceptable?</a:t>
            </a:r>
          </a:p>
        </p:txBody>
      </p:sp>
      <p:pic>
        <p:nvPicPr>
          <p:cNvPr id="3" name="Picture 2" descr="Shape&#10;&#10;Description automatically generated">
            <a:extLst>
              <a:ext uri="{FF2B5EF4-FFF2-40B4-BE49-F238E27FC236}">
                <a16:creationId xmlns:a16="http://schemas.microsoft.com/office/drawing/2014/main" id="{8F5EB72B-A11F-43E8-B718-61933DA44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8741" y="1558804"/>
            <a:ext cx="6132213" cy="4476891"/>
          </a:xfrm>
          <a:prstGeom prst="rect">
            <a:avLst/>
          </a:prstGeom>
          <a:noFill/>
        </p:spPr>
      </p:pic>
      <p:sp>
        <p:nvSpPr>
          <p:cNvPr id="75" name="Slide Number Placeholder 3">
            <a:extLst>
              <a:ext uri="{FF2B5EF4-FFF2-40B4-BE49-F238E27FC236}">
                <a16:creationId xmlns:a16="http://schemas.microsoft.com/office/drawing/2014/main" id="{B78102D7-7406-4400-A5DB-5A61832DE845}"/>
              </a:ext>
            </a:extLst>
          </p:cNvPr>
          <p:cNvSpPr>
            <a:spLocks noGrp="1"/>
          </p:cNvSpPr>
          <p:nvPr>
            <p:ph type="sldNum" sz="quarter" idx="12"/>
          </p:nvPr>
        </p:nvSpPr>
        <p:spPr>
          <a:xfrm>
            <a:off x="8610600" y="6356350"/>
            <a:ext cx="2743200" cy="365125"/>
          </a:xfrm>
        </p:spPr>
        <p:txBody>
          <a:bodyPr/>
          <a:lstStyle/>
          <a:p>
            <a:pPr>
              <a:spcAft>
                <a:spcPts val="600"/>
              </a:spcAft>
            </a:pPr>
            <a:fld id="{B74EB0F0-7D7E-412A-B235-20FE2876EE16}" type="slidenum">
              <a:rPr lang="en-US" smtClean="0"/>
              <a:pPr>
                <a:spcAft>
                  <a:spcPts val="600"/>
                </a:spcAft>
              </a:pPr>
              <a:t>24</a:t>
            </a:fld>
            <a:endParaRPr lang="en-US"/>
          </a:p>
        </p:txBody>
      </p:sp>
      <p:sp>
        <p:nvSpPr>
          <p:cNvPr id="26629" name="Rectangle 2"/>
          <p:cNvSpPr>
            <a:spLocks noGrp="1" noChangeArrowheads="1"/>
          </p:cNvSpPr>
          <p:nvPr>
            <p:ph type="title"/>
          </p:nvPr>
        </p:nvSpPr>
        <p:spPr>
          <a:xfrm>
            <a:off x="811820" y="518746"/>
            <a:ext cx="10515600" cy="1040058"/>
          </a:xfrm>
        </p:spPr>
        <p:txBody>
          <a:bodyPr anchor="ctr">
            <a:normAutofit/>
          </a:bodyPr>
          <a:lstStyle/>
          <a:p>
            <a:pPr eaLnBrk="1" hangingPunct="1"/>
            <a:r>
              <a:rPr lang="en-US" altLang="en-US" dirty="0"/>
              <a:t>Application Requirements</a:t>
            </a:r>
          </a:p>
        </p:txBody>
      </p:sp>
    </p:spTree>
    <p:extLst>
      <p:ext uri="{BB962C8B-B14F-4D97-AF65-F5344CB8AC3E}">
        <p14:creationId xmlns:p14="http://schemas.microsoft.com/office/powerpoint/2010/main" val="194280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en-US" dirty="0"/>
              <a:t>Application Requirements</a:t>
            </a:r>
          </a:p>
        </p:txBody>
      </p:sp>
      <p:sp>
        <p:nvSpPr>
          <p:cNvPr id="27654" name="Rectangle 3"/>
          <p:cNvSpPr>
            <a:spLocks noGrp="1" noChangeArrowheads="1"/>
          </p:cNvSpPr>
          <p:nvPr>
            <p:ph idx="1"/>
          </p:nvPr>
        </p:nvSpPr>
        <p:spPr>
          <a:xfrm>
            <a:off x="931985" y="1758462"/>
            <a:ext cx="10572627" cy="4976446"/>
          </a:xfrm>
        </p:spPr>
        <p:txBody>
          <a:bodyPr>
            <a:normAutofit/>
          </a:bodyPr>
          <a:lstStyle/>
          <a:p>
            <a:pPr eaLnBrk="1" hangingPunct="1">
              <a:lnSpc>
                <a:spcPct val="90000"/>
              </a:lnSpc>
            </a:pPr>
            <a:r>
              <a:rPr lang="en-US" altLang="en-US" sz="3200" dirty="0"/>
              <a:t>What groups of apps are being /will be used ?</a:t>
            </a:r>
          </a:p>
          <a:p>
            <a:pPr lvl="1"/>
            <a:r>
              <a:rPr lang="en-US" altLang="en-US" dirty="0"/>
              <a:t>Web and related servicers</a:t>
            </a:r>
          </a:p>
          <a:p>
            <a:pPr lvl="1"/>
            <a:r>
              <a:rPr lang="en-US" altLang="en-US" dirty="0"/>
              <a:t>Teleservice – VOIP, teleconference, telepresence, AOIP</a:t>
            </a:r>
          </a:p>
          <a:p>
            <a:pPr lvl="1"/>
            <a:r>
              <a:rPr lang="en-US" altLang="en-US" dirty="0"/>
              <a:t>Operations, admin and  maintenance of Network itself (DNS, SMTP, SNMP,NTP)</a:t>
            </a:r>
          </a:p>
          <a:p>
            <a:pPr lvl="1"/>
            <a:r>
              <a:rPr lang="en-US" altLang="en-US" dirty="0"/>
              <a:t>Client-server base special/ business applications– ERP, SCM, CRM</a:t>
            </a:r>
          </a:p>
          <a:p>
            <a:pPr lvl="1"/>
            <a:r>
              <a:rPr lang="en-US" altLang="en-US" dirty="0"/>
              <a:t>Visualization and simulation</a:t>
            </a:r>
          </a:p>
          <a:p>
            <a:pPr lvl="1" eaLnBrk="1" hangingPunct="1">
              <a:lnSpc>
                <a:spcPct val="90000"/>
              </a:lnSpc>
            </a:pPr>
            <a:r>
              <a:rPr lang="en-US" altLang="en-US" sz="2800" dirty="0"/>
              <a:t>Command and control - remote devices</a:t>
            </a:r>
          </a:p>
          <a:p>
            <a:pPr lvl="1" eaLnBrk="1" hangingPunct="1">
              <a:lnSpc>
                <a:spcPct val="90000"/>
              </a:lnSpc>
            </a:pPr>
            <a:r>
              <a:rPr lang="en-US" altLang="en-US" sz="2800" dirty="0"/>
              <a:t>Distributed computing, Big data or grid applications.</a:t>
            </a:r>
          </a:p>
          <a:p>
            <a:pPr lvl="1" eaLnBrk="1" hangingPunct="1">
              <a:lnSpc>
                <a:spcPct val="90000"/>
              </a:lnSpc>
            </a:pPr>
            <a:r>
              <a:rPr lang="en-US" altLang="en-US" sz="2800" dirty="0"/>
              <a:t>Bulk data transport – FTP </a:t>
            </a:r>
          </a:p>
        </p:txBody>
      </p:sp>
    </p:spTree>
    <p:extLst>
      <p:ext uri="{BB962C8B-B14F-4D97-AF65-F5344CB8AC3E}">
        <p14:creationId xmlns:p14="http://schemas.microsoft.com/office/powerpoint/2010/main" val="3403940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ltLang="en-US" dirty="0"/>
              <a:t>Application Requirements</a:t>
            </a:r>
          </a:p>
        </p:txBody>
      </p:sp>
      <p:sp>
        <p:nvSpPr>
          <p:cNvPr id="28678" name="Rectangle 3"/>
          <p:cNvSpPr>
            <a:spLocks noGrp="1" noChangeArrowheads="1"/>
          </p:cNvSpPr>
          <p:nvPr>
            <p:ph idx="1"/>
          </p:nvPr>
        </p:nvSpPr>
        <p:spPr>
          <a:xfrm>
            <a:off x="811820" y="1693781"/>
            <a:ext cx="5284305" cy="4411662"/>
          </a:xfrm>
        </p:spPr>
        <p:txBody>
          <a:bodyPr>
            <a:normAutofit/>
          </a:bodyPr>
          <a:lstStyle/>
          <a:p>
            <a:pPr eaLnBrk="1" hangingPunct="1"/>
            <a:r>
              <a:rPr lang="en-US" altLang="en-US" sz="2800" dirty="0"/>
              <a:t>Where are the apps hosted?- Cloud, Data center, Own server network</a:t>
            </a:r>
          </a:p>
          <a:p>
            <a:pPr lvl="1"/>
            <a:r>
              <a:rPr lang="en-US" altLang="en-US" sz="2600" dirty="0"/>
              <a:t>user base/customer base</a:t>
            </a:r>
          </a:p>
          <a:p>
            <a:pPr eaLnBrk="1" hangingPunct="1"/>
            <a:r>
              <a:rPr lang="en-US" altLang="en-US" sz="2800" dirty="0"/>
              <a:t>What is the relationship between Apps.</a:t>
            </a:r>
          </a:p>
          <a:p>
            <a:pPr eaLnBrk="1" hangingPunct="1"/>
            <a:r>
              <a:rPr lang="en-US" altLang="en-US" sz="2800" dirty="0"/>
              <a:t>Time based behaver of apps.- off site backups , sync patterns, updates.  </a:t>
            </a:r>
          </a:p>
        </p:txBody>
      </p:sp>
      <p:pic>
        <p:nvPicPr>
          <p:cNvPr id="286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376" y="2655355"/>
            <a:ext cx="4847099" cy="2220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B63FE88-D0DE-4091-9D22-2A7F7AA2551E}"/>
              </a:ext>
            </a:extLst>
          </p:cNvPr>
          <p:cNvPicPr>
            <a:picLocks noChangeAspect="1"/>
          </p:cNvPicPr>
          <p:nvPr/>
        </p:nvPicPr>
        <p:blipFill>
          <a:blip r:embed="rId3"/>
          <a:stretch>
            <a:fillRect/>
          </a:stretch>
        </p:blipFill>
        <p:spPr>
          <a:xfrm>
            <a:off x="6048005" y="711814"/>
            <a:ext cx="5989839" cy="1828958"/>
          </a:xfrm>
          <a:prstGeom prst="rect">
            <a:avLst/>
          </a:prstGeom>
        </p:spPr>
      </p:pic>
      <p:pic>
        <p:nvPicPr>
          <p:cNvPr id="5" name="Picture 4">
            <a:extLst>
              <a:ext uri="{FF2B5EF4-FFF2-40B4-BE49-F238E27FC236}">
                <a16:creationId xmlns:a16="http://schemas.microsoft.com/office/drawing/2014/main" id="{3F6CCC87-3934-45CB-B2B8-4265A8BBA2B4}"/>
              </a:ext>
            </a:extLst>
          </p:cNvPr>
          <p:cNvPicPr>
            <a:picLocks noChangeAspect="1"/>
          </p:cNvPicPr>
          <p:nvPr/>
        </p:nvPicPr>
        <p:blipFill>
          <a:blip r:embed="rId4"/>
          <a:stretch>
            <a:fillRect/>
          </a:stretch>
        </p:blipFill>
        <p:spPr>
          <a:xfrm>
            <a:off x="7184461" y="5014841"/>
            <a:ext cx="2770684" cy="1843159"/>
          </a:xfrm>
          <a:prstGeom prst="rect">
            <a:avLst/>
          </a:prstGeom>
        </p:spPr>
      </p:pic>
    </p:spTree>
    <p:extLst>
      <p:ext uri="{BB962C8B-B14F-4D97-AF65-F5344CB8AC3E}">
        <p14:creationId xmlns:p14="http://schemas.microsoft.com/office/powerpoint/2010/main" val="809778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en-US"/>
              <a:t>Device Requirements</a:t>
            </a:r>
          </a:p>
        </p:txBody>
      </p:sp>
      <p:sp>
        <p:nvSpPr>
          <p:cNvPr id="29702" name="Rectangle 3"/>
          <p:cNvSpPr>
            <a:spLocks noGrp="1" noChangeArrowheads="1"/>
          </p:cNvSpPr>
          <p:nvPr>
            <p:ph idx="1"/>
          </p:nvPr>
        </p:nvSpPr>
        <p:spPr>
          <a:xfrm>
            <a:off x="836060" y="1437325"/>
            <a:ext cx="10467120" cy="4595446"/>
          </a:xfrm>
        </p:spPr>
        <p:txBody>
          <a:bodyPr>
            <a:normAutofit/>
          </a:bodyPr>
          <a:lstStyle/>
          <a:p>
            <a:pPr eaLnBrk="1" hangingPunct="1"/>
            <a:r>
              <a:rPr lang="en-US" altLang="en-US" sz="3200" dirty="0"/>
              <a:t>What kinds of devices are on your network?</a:t>
            </a:r>
          </a:p>
          <a:p>
            <a:pPr lvl="1" eaLnBrk="1" hangingPunct="1"/>
            <a:r>
              <a:rPr lang="en-US" altLang="en-US" sz="2800" i="1" dirty="0"/>
              <a:t>Generic computing devices</a:t>
            </a:r>
            <a:r>
              <a:rPr lang="en-US" altLang="en-US" sz="2800" dirty="0"/>
              <a:t> (PCs, Macs, laptops, handheld computers, workstations)</a:t>
            </a:r>
          </a:p>
          <a:p>
            <a:pPr lvl="1" eaLnBrk="1" hangingPunct="1"/>
            <a:r>
              <a:rPr lang="en-US" altLang="en-US" sz="2800" i="1" dirty="0"/>
              <a:t>Servers</a:t>
            </a:r>
            <a:r>
              <a:rPr lang="en-US" altLang="en-US" sz="2800" dirty="0"/>
              <a:t> (all flavors of server – file, print, app, computation)</a:t>
            </a:r>
          </a:p>
          <a:p>
            <a:pPr lvl="1"/>
            <a:r>
              <a:rPr lang="en-US" altLang="en-US" sz="2800" i="1" dirty="0"/>
              <a:t>Specialized devices</a:t>
            </a:r>
            <a:r>
              <a:rPr lang="en-US" altLang="en-US" sz="2800" dirty="0"/>
              <a:t> (supercomputers, massively parallel servers), data collection systems (POS terminals), industry-specific devices, networked devices (cameras, tools, access control, medical equipment's ) VOIP ATMs, IOT, etc.</a:t>
            </a:r>
          </a:p>
          <a:p>
            <a:pPr marL="457200" lvl="1" indent="0">
              <a:buNone/>
            </a:pPr>
            <a:endParaRPr lang="en-US" altLang="en-US" sz="2800" dirty="0"/>
          </a:p>
        </p:txBody>
      </p:sp>
      <p:pic>
        <p:nvPicPr>
          <p:cNvPr id="1026" name="Picture 2" descr="Workstations vs. Servers vs. PC – Router Switch Blog">
            <a:extLst>
              <a:ext uri="{FF2B5EF4-FFF2-40B4-BE49-F238E27FC236}">
                <a16:creationId xmlns:a16="http://schemas.microsoft.com/office/drawing/2014/main" id="{C4EED036-2E7D-44EC-BCB6-B0D9EB1A0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6629" y="4842080"/>
            <a:ext cx="1627457" cy="7690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atabase Server Png Free Download - Server Pc PNG Image | Transparent PNG  Free Download on SeekPNG">
            <a:extLst>
              <a:ext uri="{FF2B5EF4-FFF2-40B4-BE49-F238E27FC236}">
                <a16:creationId xmlns:a16="http://schemas.microsoft.com/office/drawing/2014/main" id="{5F85DD54-FADB-45B7-AC15-F69528DB7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311" y="5011226"/>
            <a:ext cx="22288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text, electronics, computer, display&#10;&#10;Description automatically generated">
            <a:extLst>
              <a:ext uri="{FF2B5EF4-FFF2-40B4-BE49-F238E27FC236}">
                <a16:creationId xmlns:a16="http://schemas.microsoft.com/office/drawing/2014/main" id="{B63986CB-14BF-46C0-9F82-BF27AEB2FD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1852" y="4857750"/>
            <a:ext cx="2286000" cy="2000250"/>
          </a:xfrm>
          <a:prstGeom prst="rect">
            <a:avLst/>
          </a:prstGeom>
        </p:spPr>
      </p:pic>
      <p:pic>
        <p:nvPicPr>
          <p:cNvPr id="1030" name="Picture 6" descr="POS Terminal full set which include POS Machine , Printer, Scanner and">
            <a:extLst>
              <a:ext uri="{FF2B5EF4-FFF2-40B4-BE49-F238E27FC236}">
                <a16:creationId xmlns:a16="http://schemas.microsoft.com/office/drawing/2014/main" id="{ECCE6709-84AB-4795-B4CF-2E19865DE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477" y="4939788"/>
            <a:ext cx="1857375" cy="18573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con&#10;&#10;Description automatically generated">
            <a:extLst>
              <a:ext uri="{FF2B5EF4-FFF2-40B4-BE49-F238E27FC236}">
                <a16:creationId xmlns:a16="http://schemas.microsoft.com/office/drawing/2014/main" id="{FA5122DF-5243-4D7C-BF8E-2156CA48DB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95554" y="4673891"/>
            <a:ext cx="2190750" cy="2095500"/>
          </a:xfrm>
          <a:prstGeom prst="rect">
            <a:avLst/>
          </a:prstGeom>
        </p:spPr>
      </p:pic>
    </p:spTree>
    <p:extLst>
      <p:ext uri="{BB962C8B-B14F-4D97-AF65-F5344CB8AC3E}">
        <p14:creationId xmlns:p14="http://schemas.microsoft.com/office/powerpoint/2010/main" val="2758259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altLang="en-US"/>
              <a:t>Device Requirements</a:t>
            </a:r>
          </a:p>
        </p:txBody>
      </p:sp>
      <p:sp>
        <p:nvSpPr>
          <p:cNvPr id="31750" name="Rectangle 3"/>
          <p:cNvSpPr>
            <a:spLocks noGrp="1" noChangeArrowheads="1"/>
          </p:cNvSpPr>
          <p:nvPr>
            <p:ph idx="1"/>
          </p:nvPr>
        </p:nvSpPr>
        <p:spPr>
          <a:xfrm>
            <a:off x="864579" y="1423457"/>
            <a:ext cx="10688324" cy="3777622"/>
          </a:xfrm>
        </p:spPr>
        <p:txBody>
          <a:bodyPr>
            <a:normAutofit/>
          </a:bodyPr>
          <a:lstStyle/>
          <a:p>
            <a:pPr eaLnBrk="1" hangingPunct="1"/>
            <a:r>
              <a:rPr lang="en-US" altLang="en-US" sz="3200" dirty="0"/>
              <a:t>We want an understanding of the device’s performance – its ability to process data from the network</a:t>
            </a:r>
          </a:p>
          <a:p>
            <a:pPr lvl="1" eaLnBrk="1" hangingPunct="1"/>
            <a:r>
              <a:rPr lang="en-US" altLang="en-US" sz="2800" dirty="0"/>
              <a:t>Device I/O rates, network dependency, interfacing technology and speeds</a:t>
            </a:r>
          </a:p>
          <a:p>
            <a:pPr lvl="1" eaLnBrk="1" hangingPunct="1"/>
            <a:r>
              <a:rPr lang="en-US" altLang="en-US" sz="2800" dirty="0"/>
              <a:t>Delay time for performing a given app function</a:t>
            </a:r>
          </a:p>
        </p:txBody>
      </p:sp>
      <p:pic>
        <p:nvPicPr>
          <p:cNvPr id="317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221" y="4006695"/>
            <a:ext cx="6613833" cy="219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9288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en-US"/>
              <a:t>Device Requirements</a:t>
            </a:r>
          </a:p>
        </p:txBody>
      </p:sp>
      <p:sp>
        <p:nvSpPr>
          <p:cNvPr id="32774" name="Rectangle 3"/>
          <p:cNvSpPr>
            <a:spLocks noGrp="1" noChangeArrowheads="1"/>
          </p:cNvSpPr>
          <p:nvPr>
            <p:ph idx="1"/>
          </p:nvPr>
        </p:nvSpPr>
        <p:spPr>
          <a:xfrm>
            <a:off x="864580" y="1558804"/>
            <a:ext cx="9995511" cy="4859216"/>
          </a:xfrm>
        </p:spPr>
        <p:txBody>
          <a:bodyPr>
            <a:normAutofit/>
          </a:bodyPr>
          <a:lstStyle/>
          <a:p>
            <a:pPr eaLnBrk="1" hangingPunct="1">
              <a:lnSpc>
                <a:spcPct val="90000"/>
              </a:lnSpc>
            </a:pPr>
            <a:r>
              <a:rPr lang="en-US" altLang="en-US" sz="3200" dirty="0"/>
              <a:t>Performance results from many factors</a:t>
            </a:r>
          </a:p>
          <a:p>
            <a:pPr lvl="1" eaLnBrk="1" hangingPunct="1">
              <a:lnSpc>
                <a:spcPct val="90000"/>
              </a:lnSpc>
            </a:pPr>
            <a:r>
              <a:rPr lang="en-US" altLang="en-US" sz="2800" dirty="0"/>
              <a:t>Storage performance, that is, flash, disk drive, </a:t>
            </a:r>
            <a:br>
              <a:rPr lang="en-US" altLang="en-US" sz="2800" dirty="0"/>
            </a:br>
            <a:r>
              <a:rPr lang="en-US" altLang="en-US" sz="2800" dirty="0"/>
              <a:t>or tape performance</a:t>
            </a:r>
          </a:p>
          <a:p>
            <a:pPr lvl="1" eaLnBrk="1" hangingPunct="1">
              <a:lnSpc>
                <a:spcPct val="90000"/>
              </a:lnSpc>
            </a:pPr>
            <a:r>
              <a:rPr lang="en-US" altLang="en-US" sz="2800" dirty="0"/>
              <a:t>Processor (CPU) performance</a:t>
            </a:r>
          </a:p>
          <a:p>
            <a:pPr lvl="1" eaLnBrk="1" hangingPunct="1">
              <a:lnSpc>
                <a:spcPct val="90000"/>
              </a:lnSpc>
            </a:pPr>
            <a:r>
              <a:rPr lang="en-US" altLang="en-US" sz="2800" dirty="0"/>
              <a:t>Memory performance (access times)</a:t>
            </a:r>
          </a:p>
          <a:p>
            <a:pPr lvl="1" eaLnBrk="1" hangingPunct="1">
              <a:lnSpc>
                <a:spcPct val="90000"/>
              </a:lnSpc>
            </a:pPr>
            <a:r>
              <a:rPr lang="en-US" altLang="en-US" sz="2800" dirty="0"/>
              <a:t>Bus performance (bus capacity, width  and frequency)</a:t>
            </a:r>
          </a:p>
          <a:p>
            <a:pPr lvl="1" eaLnBrk="1" hangingPunct="1">
              <a:lnSpc>
                <a:spcPct val="90000"/>
              </a:lnSpc>
            </a:pPr>
            <a:r>
              <a:rPr lang="en-US" altLang="en-US" sz="2800" dirty="0"/>
              <a:t>OS performance (effectiveness of the protocol stack and APIs)</a:t>
            </a:r>
          </a:p>
          <a:p>
            <a:pPr lvl="1" eaLnBrk="1" hangingPunct="1">
              <a:lnSpc>
                <a:spcPct val="90000"/>
              </a:lnSpc>
            </a:pPr>
            <a:r>
              <a:rPr lang="en-US" altLang="en-US" sz="2800" dirty="0"/>
              <a:t>Device driver performance</a:t>
            </a:r>
          </a:p>
        </p:txBody>
      </p:sp>
    </p:spTree>
    <p:extLst>
      <p:ext uri="{BB962C8B-B14F-4D97-AF65-F5344CB8AC3E}">
        <p14:creationId xmlns:p14="http://schemas.microsoft.com/office/powerpoint/2010/main" val="576399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en-US" altLang="en-US"/>
              <a:t>Network Requirements</a:t>
            </a:r>
          </a:p>
        </p:txBody>
      </p:sp>
      <p:sp>
        <p:nvSpPr>
          <p:cNvPr id="34822" name="Rectangle 3"/>
          <p:cNvSpPr>
            <a:spLocks noGrp="1" noChangeArrowheads="1"/>
          </p:cNvSpPr>
          <p:nvPr>
            <p:ph idx="1"/>
          </p:nvPr>
        </p:nvSpPr>
        <p:spPr>
          <a:xfrm>
            <a:off x="864580" y="1481822"/>
            <a:ext cx="10024818" cy="5042319"/>
          </a:xfrm>
        </p:spPr>
        <p:txBody>
          <a:bodyPr>
            <a:normAutofit/>
          </a:bodyPr>
          <a:lstStyle/>
          <a:p>
            <a:pPr eaLnBrk="1" hangingPunct="1"/>
            <a:r>
              <a:rPr lang="en-US" altLang="en-US" sz="3200" dirty="0"/>
              <a:t>Network requirements are the requirements for interacting with the existing /other network(s) and network management concerns</a:t>
            </a:r>
          </a:p>
          <a:p>
            <a:pPr eaLnBrk="1" hangingPunct="1"/>
            <a:r>
              <a:rPr lang="en-US" altLang="en-US" sz="3200" dirty="0"/>
              <a:t>Most networks may need to integrate with existing networks</a:t>
            </a:r>
          </a:p>
          <a:p>
            <a:pPr eaLnBrk="1" hangingPunct="1"/>
            <a:r>
              <a:rPr lang="en-US" altLang="en-US" sz="3200" dirty="0"/>
              <a:t>What is the plan for the future evolution of the network?</a:t>
            </a:r>
          </a:p>
          <a:p>
            <a:pPr eaLnBrk="1" hangingPunct="1"/>
            <a:r>
              <a:rPr lang="en-US" altLang="en-US" sz="3200" dirty="0"/>
              <a:t>What will happen to product specific protocols or technologies if the network become heterogeneous.  </a:t>
            </a:r>
          </a:p>
        </p:txBody>
      </p:sp>
    </p:spTree>
    <p:extLst>
      <p:ext uri="{BB962C8B-B14F-4D97-AF65-F5344CB8AC3E}">
        <p14:creationId xmlns:p14="http://schemas.microsoft.com/office/powerpoint/2010/main" val="1695178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a:t>Network Requirements</a:t>
            </a:r>
          </a:p>
        </p:txBody>
      </p:sp>
      <p:sp>
        <p:nvSpPr>
          <p:cNvPr id="35846" name="Rectangle 3"/>
          <p:cNvSpPr>
            <a:spLocks noGrp="1" noChangeArrowheads="1"/>
          </p:cNvSpPr>
          <p:nvPr>
            <p:ph idx="1"/>
          </p:nvPr>
        </p:nvSpPr>
        <p:spPr>
          <a:xfrm>
            <a:off x="803031" y="1556885"/>
            <a:ext cx="11201400" cy="5008038"/>
          </a:xfrm>
        </p:spPr>
        <p:txBody>
          <a:bodyPr>
            <a:normAutofit/>
          </a:bodyPr>
          <a:lstStyle/>
          <a:p>
            <a:pPr eaLnBrk="1" hangingPunct="1"/>
            <a:r>
              <a:rPr lang="en-US" altLang="en-US" sz="3200" dirty="0"/>
              <a:t>Issues with network integration include</a:t>
            </a:r>
          </a:p>
          <a:p>
            <a:pPr lvl="1" eaLnBrk="1" hangingPunct="1"/>
            <a:r>
              <a:rPr lang="en-US" altLang="en-US" sz="2800" dirty="0"/>
              <a:t>Scaling dependencies – how will the size of the existing network affect the new one? </a:t>
            </a:r>
          </a:p>
          <a:p>
            <a:pPr lvl="2" eaLnBrk="1" hangingPunct="1"/>
            <a:r>
              <a:rPr lang="en-US" altLang="en-US" sz="2400" dirty="0"/>
              <a:t>Will the existing network change structure, or just add on a new wing?</a:t>
            </a:r>
          </a:p>
          <a:p>
            <a:pPr lvl="1" eaLnBrk="1" hangingPunct="1"/>
            <a:r>
              <a:rPr lang="en-US" altLang="en-US" sz="2800" dirty="0"/>
              <a:t>Location dependencies – interaction between old and new networks could change the location of key components</a:t>
            </a:r>
          </a:p>
          <a:p>
            <a:pPr lvl="1" eaLnBrk="1" hangingPunct="1"/>
            <a:r>
              <a:rPr lang="en-US" altLang="en-US" sz="2800" dirty="0"/>
              <a:t>Performance constraints – existing network could limit performance of the new one</a:t>
            </a:r>
          </a:p>
        </p:txBody>
      </p:sp>
    </p:spTree>
    <p:extLst>
      <p:ext uri="{BB962C8B-B14F-4D97-AF65-F5344CB8AC3E}">
        <p14:creationId xmlns:p14="http://schemas.microsoft.com/office/powerpoint/2010/main" val="2493562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dirty="0"/>
              <a:t>Network Requirements</a:t>
            </a:r>
          </a:p>
        </p:txBody>
      </p:sp>
      <p:sp>
        <p:nvSpPr>
          <p:cNvPr id="36870" name="Rectangle 3"/>
          <p:cNvSpPr>
            <a:spLocks noGrp="1" noChangeArrowheads="1"/>
          </p:cNvSpPr>
          <p:nvPr>
            <p:ph idx="1"/>
          </p:nvPr>
        </p:nvSpPr>
        <p:spPr>
          <a:xfrm>
            <a:off x="383163" y="1463763"/>
            <a:ext cx="10944257" cy="5052647"/>
          </a:xfrm>
        </p:spPr>
        <p:txBody>
          <a:bodyPr>
            <a:normAutofit/>
          </a:bodyPr>
          <a:lstStyle/>
          <a:p>
            <a:pPr lvl="1" eaLnBrk="1" hangingPunct="1">
              <a:lnSpc>
                <a:spcPct val="90000"/>
              </a:lnSpc>
            </a:pPr>
            <a:r>
              <a:rPr lang="en-US" altLang="en-US" sz="3200" dirty="0"/>
              <a:t>Network, system, and support service dependencies</a:t>
            </a:r>
          </a:p>
          <a:p>
            <a:pPr lvl="2" eaLnBrk="1" hangingPunct="1">
              <a:lnSpc>
                <a:spcPct val="90000"/>
              </a:lnSpc>
            </a:pPr>
            <a:r>
              <a:rPr lang="en-US" altLang="en-US" sz="2800" dirty="0"/>
              <a:t>Addressing, security, routing protocols and network services</a:t>
            </a:r>
          </a:p>
          <a:p>
            <a:pPr lvl="3"/>
            <a:r>
              <a:rPr lang="en-US" altLang="en-US" sz="2600" dirty="0"/>
              <a:t>DNS, DHCP</a:t>
            </a:r>
          </a:p>
          <a:p>
            <a:pPr lvl="1"/>
            <a:r>
              <a:rPr lang="en-US" altLang="en-US" sz="3600" dirty="0"/>
              <a:t>Interoperability dependencies</a:t>
            </a:r>
          </a:p>
          <a:p>
            <a:pPr lvl="2" eaLnBrk="1" hangingPunct="1">
              <a:lnSpc>
                <a:spcPct val="90000"/>
              </a:lnSpc>
            </a:pPr>
            <a:r>
              <a:rPr lang="en-US" altLang="en-US" sz="2800" dirty="0"/>
              <a:t>Changes in technology or media at the interfaces between networks need to be accounted ,Implementation of </a:t>
            </a:r>
            <a:r>
              <a:rPr lang="en-US" altLang="en-US" sz="2800" dirty="0" err="1"/>
              <a:t>QoS</a:t>
            </a:r>
            <a:r>
              <a:rPr lang="en-US" altLang="en-US" sz="2800" dirty="0"/>
              <a:t>.</a:t>
            </a:r>
          </a:p>
          <a:p>
            <a:pPr lvl="1" eaLnBrk="1" hangingPunct="1">
              <a:lnSpc>
                <a:spcPct val="90000"/>
              </a:lnSpc>
            </a:pPr>
            <a:r>
              <a:rPr lang="en-US" altLang="en-US" sz="3200" dirty="0"/>
              <a:t>Network obsolescence/facing out of technologies and compatibility</a:t>
            </a:r>
          </a:p>
          <a:p>
            <a:pPr lvl="2"/>
            <a:r>
              <a:rPr lang="en-US" altLang="en-US" sz="2800" dirty="0"/>
              <a:t>What will be the impact if a technology or </a:t>
            </a:r>
            <a:r>
              <a:rPr lang="en-US" altLang="en-US" sz="2800" dirty="0" err="1"/>
              <a:t>protocall</a:t>
            </a:r>
            <a:r>
              <a:rPr lang="en-US" altLang="en-US" sz="2800" dirty="0"/>
              <a:t> become obsolete during transition</a:t>
            </a:r>
            <a:r>
              <a:rPr lang="en-US" altLang="en-US" sz="2400" dirty="0"/>
              <a:t>?</a:t>
            </a:r>
          </a:p>
        </p:txBody>
      </p:sp>
    </p:spTree>
    <p:extLst>
      <p:ext uri="{BB962C8B-B14F-4D97-AF65-F5344CB8AC3E}">
        <p14:creationId xmlns:p14="http://schemas.microsoft.com/office/powerpoint/2010/main" val="46368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en-US" altLang="en-US"/>
              <a:t>Network Requirements</a:t>
            </a:r>
          </a:p>
        </p:txBody>
      </p:sp>
      <p:sp>
        <p:nvSpPr>
          <p:cNvPr id="37894" name="Rectangle 3"/>
          <p:cNvSpPr>
            <a:spLocks noGrp="1" noChangeArrowheads="1"/>
          </p:cNvSpPr>
          <p:nvPr>
            <p:ph idx="1"/>
          </p:nvPr>
        </p:nvSpPr>
        <p:spPr>
          <a:xfrm>
            <a:off x="811820" y="1562101"/>
            <a:ext cx="10247558" cy="4777153"/>
          </a:xfrm>
        </p:spPr>
        <p:txBody>
          <a:bodyPr>
            <a:normAutofit/>
          </a:bodyPr>
          <a:lstStyle/>
          <a:p>
            <a:pPr eaLnBrk="1" hangingPunct="1"/>
            <a:r>
              <a:rPr lang="en-US" altLang="en-US" sz="3200" dirty="0"/>
              <a:t>Network Administration ,Management and security need to be addressed throughout development.</a:t>
            </a:r>
          </a:p>
          <a:p>
            <a:pPr lvl="1" eaLnBrk="1" hangingPunct="1"/>
            <a:r>
              <a:rPr lang="en-US" altLang="en-US" sz="2800" dirty="0"/>
              <a:t>How will the network be monitored for events? </a:t>
            </a:r>
          </a:p>
          <a:p>
            <a:pPr lvl="2"/>
            <a:r>
              <a:rPr lang="en-US" altLang="en-US" dirty="0"/>
              <a:t>Thresholds and alerts.</a:t>
            </a:r>
          </a:p>
          <a:p>
            <a:pPr lvl="1" eaLnBrk="1" hangingPunct="1"/>
            <a:r>
              <a:rPr lang="en-US" altLang="en-US" sz="2800" dirty="0"/>
              <a:t>What factors to be monitored for network performance?</a:t>
            </a:r>
          </a:p>
          <a:p>
            <a:pPr lvl="2" eaLnBrk="1" hangingPunct="1"/>
            <a:r>
              <a:rPr lang="en-US" altLang="en-US" sz="2400" dirty="0"/>
              <a:t>What is the hierarchy for management data flow?</a:t>
            </a:r>
          </a:p>
          <a:p>
            <a:pPr lvl="1" eaLnBrk="1" hangingPunct="1"/>
            <a:r>
              <a:rPr lang="en-US" altLang="en-US" sz="2800" dirty="0"/>
              <a:t>Network configuration management </a:t>
            </a:r>
          </a:p>
          <a:p>
            <a:pPr lvl="1" eaLnBrk="1" hangingPunct="1"/>
            <a:r>
              <a:rPr lang="en-US" altLang="en-US" sz="2800" dirty="0"/>
              <a:t>Troubleshoot  and Event management. </a:t>
            </a:r>
          </a:p>
        </p:txBody>
      </p:sp>
      <p:pic>
        <p:nvPicPr>
          <p:cNvPr id="3" name="Picture 2" descr="Chart&#10;&#10;Description automatically generated">
            <a:extLst>
              <a:ext uri="{FF2B5EF4-FFF2-40B4-BE49-F238E27FC236}">
                <a16:creationId xmlns:a16="http://schemas.microsoft.com/office/drawing/2014/main" id="{3582132F-3233-4E34-B4F5-D254F5C572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495" y="5149883"/>
            <a:ext cx="4762500" cy="1285875"/>
          </a:xfrm>
          <a:prstGeom prst="rect">
            <a:avLst/>
          </a:prstGeom>
        </p:spPr>
      </p:pic>
      <p:pic>
        <p:nvPicPr>
          <p:cNvPr id="5" name="Picture 4" descr="Chart, diagram&#10;&#10;Description automatically generated">
            <a:extLst>
              <a:ext uri="{FF2B5EF4-FFF2-40B4-BE49-F238E27FC236}">
                <a16:creationId xmlns:a16="http://schemas.microsoft.com/office/drawing/2014/main" id="{E58CA788-61C9-4C62-A298-815536DC8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9904" y="4202348"/>
            <a:ext cx="3321003" cy="2474473"/>
          </a:xfrm>
          <a:prstGeom prst="rect">
            <a:avLst/>
          </a:prstGeom>
        </p:spPr>
      </p:pic>
    </p:spTree>
    <p:extLst>
      <p:ext uri="{BB962C8B-B14F-4D97-AF65-F5344CB8AC3E}">
        <p14:creationId xmlns:p14="http://schemas.microsoft.com/office/powerpoint/2010/main" val="3763059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A47F-9015-4494-B508-69106630B058}"/>
              </a:ext>
            </a:extLst>
          </p:cNvPr>
          <p:cNvSpPr>
            <a:spLocks noGrp="1"/>
          </p:cNvSpPr>
          <p:nvPr>
            <p:ph type="title"/>
          </p:nvPr>
        </p:nvSpPr>
        <p:spPr/>
        <p:txBody>
          <a:bodyPr/>
          <a:lstStyle/>
          <a:p>
            <a:r>
              <a:rPr lang="en-US" altLang="en-US" dirty="0"/>
              <a:t>Network Requirements</a:t>
            </a:r>
            <a:endParaRPr lang="en-US" dirty="0"/>
          </a:p>
        </p:txBody>
      </p:sp>
      <p:sp>
        <p:nvSpPr>
          <p:cNvPr id="3" name="Content Placeholder 2">
            <a:extLst>
              <a:ext uri="{FF2B5EF4-FFF2-40B4-BE49-F238E27FC236}">
                <a16:creationId xmlns:a16="http://schemas.microsoft.com/office/drawing/2014/main" id="{4A5140A2-F0B0-429F-BD8C-9264A2D61232}"/>
              </a:ext>
            </a:extLst>
          </p:cNvPr>
          <p:cNvSpPr>
            <a:spLocks noGrp="1"/>
          </p:cNvSpPr>
          <p:nvPr>
            <p:ph idx="1"/>
          </p:nvPr>
        </p:nvSpPr>
        <p:spPr>
          <a:xfrm>
            <a:off x="811820" y="1558804"/>
            <a:ext cx="10183080" cy="4923692"/>
          </a:xfrm>
        </p:spPr>
        <p:txBody>
          <a:bodyPr>
            <a:normAutofit/>
          </a:bodyPr>
          <a:lstStyle/>
          <a:p>
            <a:r>
              <a:rPr lang="en-US" altLang="en-US" sz="3200" dirty="0"/>
              <a:t>Security  of the network.</a:t>
            </a:r>
          </a:p>
          <a:p>
            <a:pPr lvl="1"/>
            <a:r>
              <a:rPr lang="en-US" altLang="en-US" sz="3000" dirty="0"/>
              <a:t>What is the approach on security.</a:t>
            </a:r>
          </a:p>
          <a:p>
            <a:pPr lvl="1"/>
            <a:r>
              <a:rPr lang="en-US" altLang="en-US" sz="3000" dirty="0"/>
              <a:t>How to secure end point.</a:t>
            </a:r>
          </a:p>
          <a:p>
            <a:r>
              <a:rPr lang="en-US" altLang="en-US" sz="3200" dirty="0"/>
              <a:t>Addressing the application level controls.</a:t>
            </a:r>
          </a:p>
          <a:p>
            <a:r>
              <a:rPr lang="en-US" altLang="en-US" sz="3200" dirty="0"/>
              <a:t>Zones with different security levels.</a:t>
            </a:r>
          </a:p>
          <a:p>
            <a:r>
              <a:rPr lang="en-US" altLang="en-US" sz="3200" dirty="0"/>
              <a:t>Bandwidth Vs filtering?</a:t>
            </a:r>
          </a:p>
          <a:p>
            <a:endParaRPr lang="en-US" sz="3200" dirty="0"/>
          </a:p>
        </p:txBody>
      </p:sp>
      <p:pic>
        <p:nvPicPr>
          <p:cNvPr id="5" name="Picture 4" descr="Diagram&#10;&#10;Description automatically generated">
            <a:extLst>
              <a:ext uri="{FF2B5EF4-FFF2-40B4-BE49-F238E27FC236}">
                <a16:creationId xmlns:a16="http://schemas.microsoft.com/office/drawing/2014/main" id="{A2CC4647-AE28-409E-B151-9BE24D8EA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9474" y="1396628"/>
            <a:ext cx="3880281" cy="1759527"/>
          </a:xfrm>
          <a:prstGeom prst="rect">
            <a:avLst/>
          </a:prstGeom>
        </p:spPr>
      </p:pic>
      <p:pic>
        <p:nvPicPr>
          <p:cNvPr id="7" name="Picture 6" descr="Diagram&#10;&#10;Description automatically generated">
            <a:extLst>
              <a:ext uri="{FF2B5EF4-FFF2-40B4-BE49-F238E27FC236}">
                <a16:creationId xmlns:a16="http://schemas.microsoft.com/office/drawing/2014/main" id="{9F488BBF-A6D2-4692-AA35-C495CC589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9173" y="3469280"/>
            <a:ext cx="4750531" cy="3377973"/>
          </a:xfrm>
          <a:prstGeom prst="rect">
            <a:avLst/>
          </a:prstGeom>
        </p:spPr>
      </p:pic>
    </p:spTree>
    <p:extLst>
      <p:ext uri="{BB962C8B-B14F-4D97-AF65-F5344CB8AC3E}">
        <p14:creationId xmlns:p14="http://schemas.microsoft.com/office/powerpoint/2010/main" val="3623933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p:txBody>
          <a:bodyPr/>
          <a:lstStyle/>
          <a:p>
            <a:pPr eaLnBrk="1" hangingPunct="1"/>
            <a:r>
              <a:rPr lang="en-US" altLang="en-US"/>
              <a:t>Other Requirements</a:t>
            </a:r>
          </a:p>
        </p:txBody>
      </p:sp>
      <p:sp>
        <p:nvSpPr>
          <p:cNvPr id="39942" name="Rectangle 3"/>
          <p:cNvSpPr>
            <a:spLocks noGrp="1" noChangeArrowheads="1"/>
          </p:cNvSpPr>
          <p:nvPr>
            <p:ph idx="1"/>
          </p:nvPr>
        </p:nvSpPr>
        <p:spPr>
          <a:xfrm>
            <a:off x="864580" y="1558804"/>
            <a:ext cx="10832123" cy="5070231"/>
          </a:xfrm>
        </p:spPr>
        <p:txBody>
          <a:bodyPr>
            <a:normAutofit/>
          </a:bodyPr>
          <a:lstStyle/>
          <a:p>
            <a:pPr eaLnBrk="1" hangingPunct="1"/>
            <a:r>
              <a:rPr lang="en-US" altLang="en-US" sz="3200" dirty="0"/>
              <a:t>Requirements can come from other outside sources –Customers, business partners, legal requirements, Organization (enterprise) requirements, etc.</a:t>
            </a:r>
          </a:p>
          <a:p>
            <a:pPr eaLnBrk="1" hangingPunct="1"/>
            <a:r>
              <a:rPr lang="en-US" altLang="en-US" sz="3200" dirty="0"/>
              <a:t>Additional requirements can include</a:t>
            </a:r>
          </a:p>
          <a:p>
            <a:pPr lvl="1" eaLnBrk="1" hangingPunct="1"/>
            <a:r>
              <a:rPr lang="en-US" altLang="en-US" sz="2800" dirty="0"/>
              <a:t>Operational suitability – how well can the customer configure and monitor the system?</a:t>
            </a:r>
          </a:p>
          <a:p>
            <a:pPr lvl="1" eaLnBrk="1" hangingPunct="1"/>
            <a:r>
              <a:rPr lang="en-US" altLang="en-US" sz="2800" dirty="0"/>
              <a:t>Supportability – how well can the customer maintain the system?</a:t>
            </a:r>
          </a:p>
          <a:p>
            <a:pPr lvl="1"/>
            <a:r>
              <a:rPr lang="en-US" altLang="en-US" sz="2800" dirty="0"/>
              <a:t>Conformity to standards</a:t>
            </a:r>
            <a:r>
              <a:rPr lang="en-US" altLang="en-US" dirty="0"/>
              <a:t> and security</a:t>
            </a:r>
            <a:endParaRPr lang="en-US" altLang="en-US" sz="2800" dirty="0"/>
          </a:p>
          <a:p>
            <a:pPr marL="457200" lvl="1" indent="0" eaLnBrk="1" hangingPunct="1">
              <a:buNone/>
            </a:pPr>
            <a:endParaRPr lang="en-US" altLang="en-US" sz="2800" dirty="0"/>
          </a:p>
        </p:txBody>
      </p:sp>
    </p:spTree>
    <p:extLst>
      <p:ext uri="{BB962C8B-B14F-4D97-AF65-F5344CB8AC3E}">
        <p14:creationId xmlns:p14="http://schemas.microsoft.com/office/powerpoint/2010/main" val="118222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prioritized the requirements</a:t>
            </a:r>
          </a:p>
        </p:txBody>
      </p:sp>
      <p:sp>
        <p:nvSpPr>
          <p:cNvPr id="3" name="Content Placeholder 2"/>
          <p:cNvSpPr>
            <a:spLocks noGrp="1"/>
          </p:cNvSpPr>
          <p:nvPr>
            <p:ph idx="1"/>
          </p:nvPr>
        </p:nvSpPr>
        <p:spPr>
          <a:xfrm>
            <a:off x="864580" y="1558804"/>
            <a:ext cx="10013096" cy="4689231"/>
          </a:xfrm>
        </p:spPr>
        <p:txBody>
          <a:bodyPr/>
          <a:lstStyle/>
          <a:p>
            <a:r>
              <a:rPr lang="en-US" sz="3200" dirty="0"/>
              <a:t>What factors to be considered</a:t>
            </a:r>
          </a:p>
          <a:p>
            <a:r>
              <a:rPr lang="en-US" sz="3200" dirty="0"/>
              <a:t>The requirement VS cost to address.</a:t>
            </a:r>
          </a:p>
          <a:p>
            <a:r>
              <a:rPr lang="en-US" sz="3200" dirty="0"/>
              <a:t>Business priority.</a:t>
            </a:r>
          </a:p>
          <a:p>
            <a:r>
              <a:rPr lang="en-US" sz="3200" dirty="0"/>
              <a:t>Can the requirement to be address in future with minimum impact.</a:t>
            </a:r>
          </a:p>
          <a:p>
            <a:endParaRPr lang="en-US" dirty="0"/>
          </a:p>
        </p:txBody>
      </p:sp>
    </p:spTree>
    <p:extLst>
      <p:ext uri="{BB962C8B-B14F-4D97-AF65-F5344CB8AC3E}">
        <p14:creationId xmlns:p14="http://schemas.microsoft.com/office/powerpoint/2010/main" val="618336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78A6-82A8-4647-9A9C-C75768F2EC1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867993E-E9C1-4876-89B9-CCF641837DBB}"/>
              </a:ext>
            </a:extLst>
          </p:cNvPr>
          <p:cNvSpPr>
            <a:spLocks noGrp="1"/>
          </p:cNvSpPr>
          <p:nvPr>
            <p:ph idx="1"/>
          </p:nvPr>
        </p:nvSpPr>
        <p:spPr/>
        <p:txBody>
          <a:bodyPr/>
          <a:lstStyle/>
          <a:p>
            <a:r>
              <a:rPr lang="en-US" dirty="0"/>
              <a:t>Network Analysis, Architecture and Design, Second Edition (The Morgan Kaufmann Series in Networking)</a:t>
            </a:r>
          </a:p>
          <a:p>
            <a:r>
              <a:rPr lang="en-US" dirty="0">
                <a:hlinkClick r:id="rId2"/>
              </a:rPr>
              <a:t>https://flylib.com/books/en/2.809.1.25/1/</a:t>
            </a:r>
            <a:endParaRPr lang="en-US" dirty="0"/>
          </a:p>
          <a:p>
            <a:endParaRPr lang="en-US" dirty="0"/>
          </a:p>
        </p:txBody>
      </p:sp>
      <p:sp>
        <p:nvSpPr>
          <p:cNvPr id="4" name="Slide Number Placeholder 3">
            <a:extLst>
              <a:ext uri="{FF2B5EF4-FFF2-40B4-BE49-F238E27FC236}">
                <a16:creationId xmlns:a16="http://schemas.microsoft.com/office/drawing/2014/main" id="{79F40270-0907-44FD-8FAB-B6FDABA0CC1C}"/>
              </a:ext>
            </a:extLst>
          </p:cNvPr>
          <p:cNvSpPr>
            <a:spLocks noGrp="1"/>
          </p:cNvSpPr>
          <p:nvPr>
            <p:ph type="sldNum" sz="quarter" idx="12"/>
          </p:nvPr>
        </p:nvSpPr>
        <p:spPr/>
        <p:txBody>
          <a:bodyPr/>
          <a:lstStyle/>
          <a:p>
            <a:fld id="{B74EB0F0-7D7E-412A-B235-20FE2876EE16}" type="slidenum">
              <a:rPr lang="en-US" smtClean="0"/>
              <a:t>37</a:t>
            </a:fld>
            <a:endParaRPr lang="en-US"/>
          </a:p>
        </p:txBody>
      </p:sp>
    </p:spTree>
    <p:extLst>
      <p:ext uri="{BB962C8B-B14F-4D97-AF65-F5344CB8AC3E}">
        <p14:creationId xmlns:p14="http://schemas.microsoft.com/office/powerpoint/2010/main" val="1394485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A376-6576-24B0-1FB3-22FE44B0AF87}"/>
              </a:ext>
            </a:extLst>
          </p:cNvPr>
          <p:cNvSpPr>
            <a:spLocks noGrp="1"/>
          </p:cNvSpPr>
          <p:nvPr>
            <p:ph type="title"/>
          </p:nvPr>
        </p:nvSpPr>
        <p:spPr/>
        <p:txBody>
          <a:bodyPr/>
          <a:lstStyle/>
          <a:p>
            <a:r>
              <a:rPr lang="en-US" dirty="0"/>
              <a:t>Session Break</a:t>
            </a:r>
          </a:p>
        </p:txBody>
      </p:sp>
      <p:sp>
        <p:nvSpPr>
          <p:cNvPr id="3" name="Content Placeholder 2">
            <a:extLst>
              <a:ext uri="{FF2B5EF4-FFF2-40B4-BE49-F238E27FC236}">
                <a16:creationId xmlns:a16="http://schemas.microsoft.com/office/drawing/2014/main" id="{7490DD55-BB01-1274-D8A3-6E18E44E2FB8}"/>
              </a:ext>
            </a:extLst>
          </p:cNvPr>
          <p:cNvSpPr>
            <a:spLocks noGrp="1"/>
          </p:cNvSpPr>
          <p:nvPr>
            <p:ph idx="1"/>
          </p:nvPr>
        </p:nvSpPr>
        <p:spPr/>
        <p:txBody>
          <a:bodyPr/>
          <a:lstStyle/>
          <a:p>
            <a:r>
              <a:rPr lang="en-US" dirty="0"/>
              <a:t>Session break from 10.45am – 11.00am</a:t>
            </a:r>
          </a:p>
        </p:txBody>
      </p:sp>
      <p:sp>
        <p:nvSpPr>
          <p:cNvPr id="4" name="Slide Number Placeholder 3">
            <a:extLst>
              <a:ext uri="{FF2B5EF4-FFF2-40B4-BE49-F238E27FC236}">
                <a16:creationId xmlns:a16="http://schemas.microsoft.com/office/drawing/2014/main" id="{D01D231A-4F30-CC8E-03F2-54DCF7164505}"/>
              </a:ext>
            </a:extLst>
          </p:cNvPr>
          <p:cNvSpPr>
            <a:spLocks noGrp="1"/>
          </p:cNvSpPr>
          <p:nvPr>
            <p:ph type="sldNum" sz="quarter" idx="12"/>
          </p:nvPr>
        </p:nvSpPr>
        <p:spPr/>
        <p:txBody>
          <a:bodyPr/>
          <a:lstStyle/>
          <a:p>
            <a:fld id="{B74EB0F0-7D7E-412A-B235-20FE2876EE16}" type="slidenum">
              <a:rPr lang="en-US" smtClean="0"/>
              <a:t>38</a:t>
            </a:fld>
            <a:endParaRPr lang="en-US"/>
          </a:p>
        </p:txBody>
      </p:sp>
    </p:spTree>
    <p:extLst>
      <p:ext uri="{BB962C8B-B14F-4D97-AF65-F5344CB8AC3E}">
        <p14:creationId xmlns:p14="http://schemas.microsoft.com/office/powerpoint/2010/main" val="26832392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lides" id="{ABE79801-4083-46BE-945E-2E01B7E13FE2}" vid="{D325130D-3D76-4BE9-AD0A-8AC275FE50FA}"/>
    </a:ext>
  </a:extLst>
</a:theme>
</file>

<file path=docProps/app.xml><?xml version="1.0" encoding="utf-8"?>
<Properties xmlns="http://schemas.openxmlformats.org/officeDocument/2006/extended-properties" xmlns:vt="http://schemas.openxmlformats.org/officeDocument/2006/docPropsVTypes">
  <TotalTime>662</TotalTime>
  <Words>1990</Words>
  <Application>Microsoft Office PowerPoint</Application>
  <PresentationFormat>Widescreen</PresentationFormat>
  <Paragraphs>270</Paragraphs>
  <Slides>38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Arial Black</vt:lpstr>
      <vt:lpstr>Calibri</vt:lpstr>
      <vt:lpstr>Calibri Light</vt:lpstr>
      <vt:lpstr>Liberation Serif</vt:lpstr>
      <vt:lpstr>1_Office Theme</vt:lpstr>
      <vt:lpstr>PowerPoint Presentation</vt:lpstr>
      <vt:lpstr>What We have Discussed So Far?</vt:lpstr>
      <vt:lpstr>Network Implementation Process</vt:lpstr>
      <vt:lpstr>Task as a Network Designer</vt:lpstr>
      <vt:lpstr>The Design Goals</vt:lpstr>
      <vt:lpstr>The Key Designing/Plans of a Network</vt:lpstr>
      <vt:lpstr>The Key Designing/Plans of a Network</vt:lpstr>
      <vt:lpstr>A Good Design</vt:lpstr>
      <vt:lpstr>Design Choices </vt:lpstr>
      <vt:lpstr>Current Expectations from Networks</vt:lpstr>
      <vt:lpstr>Technological Trends</vt:lpstr>
      <vt:lpstr>What are the Constrains </vt:lpstr>
      <vt:lpstr>Challenge the Challenges</vt:lpstr>
      <vt:lpstr>Frameworks</vt:lpstr>
      <vt:lpstr>Traditional Analytical method (Top Down approach) </vt:lpstr>
      <vt:lpstr>Traditional Approach - Limitations</vt:lpstr>
      <vt:lpstr>PPDIOO method (CISCO)</vt:lpstr>
      <vt:lpstr>Identification of Requirements of a Network </vt:lpstr>
      <vt:lpstr>Phase 1 Analyzing the requirements </vt:lpstr>
      <vt:lpstr>Requirements</vt:lpstr>
      <vt:lpstr>Identification of Requirements</vt:lpstr>
      <vt:lpstr>Requirements Analysis</vt:lpstr>
      <vt:lpstr>User Requirements</vt:lpstr>
      <vt:lpstr>Application Requirements</vt:lpstr>
      <vt:lpstr>Application Requirements</vt:lpstr>
      <vt:lpstr>Application Requirements</vt:lpstr>
      <vt:lpstr>Device Requirements</vt:lpstr>
      <vt:lpstr>Device Requirements</vt:lpstr>
      <vt:lpstr>Device Requirements</vt:lpstr>
      <vt:lpstr>Network Requirements</vt:lpstr>
      <vt:lpstr>Network Requirements</vt:lpstr>
      <vt:lpstr>Network Requirements</vt:lpstr>
      <vt:lpstr>Network Requirements</vt:lpstr>
      <vt:lpstr>Network Requirements</vt:lpstr>
      <vt:lpstr>Other Requirements</vt:lpstr>
      <vt:lpstr>How to prioritized the requirements</vt:lpstr>
      <vt:lpstr>References</vt:lpstr>
      <vt:lpstr>Session Break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Chamara Disanayaka</dc:creator>
  <cp:lastModifiedBy>Chamara Disanayaka</cp:lastModifiedBy>
  <cp:revision>30</cp:revision>
  <dcterms:created xsi:type="dcterms:W3CDTF">2022-02-16T05:40:27Z</dcterms:created>
  <dcterms:modified xsi:type="dcterms:W3CDTF">2024-02-29T01:54:39Z</dcterms:modified>
</cp:coreProperties>
</file>