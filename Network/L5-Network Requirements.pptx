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5" r:id="rId2"/>
    <p:sldId id="390" r:id="rId3"/>
    <p:sldId id="288" r:id="rId4"/>
    <p:sldId id="258" r:id="rId5"/>
    <p:sldId id="259" r:id="rId6"/>
    <p:sldId id="290" r:id="rId7"/>
    <p:sldId id="369" r:id="rId8"/>
    <p:sldId id="389" r:id="rId9"/>
    <p:sldId id="261" r:id="rId10"/>
    <p:sldId id="262" r:id="rId11"/>
    <p:sldId id="263" r:id="rId12"/>
    <p:sldId id="264" r:id="rId13"/>
    <p:sldId id="266" r:id="rId14"/>
    <p:sldId id="267" r:id="rId15"/>
    <p:sldId id="387" r:id="rId16"/>
    <p:sldId id="269" r:id="rId17"/>
    <p:sldId id="270" r:id="rId18"/>
    <p:sldId id="271" r:id="rId19"/>
    <p:sldId id="272" r:id="rId20"/>
    <p:sldId id="289" r:id="rId21"/>
    <p:sldId id="274" r:id="rId22"/>
    <p:sldId id="276" r:id="rId23"/>
    <p:sldId id="374" r:id="rId24"/>
    <p:sldId id="260" r:id="rId25"/>
    <p:sldId id="375" r:id="rId26"/>
    <p:sldId id="376" r:id="rId27"/>
    <p:sldId id="377" r:id="rId28"/>
    <p:sldId id="378" r:id="rId29"/>
    <p:sldId id="265" r:id="rId30"/>
    <p:sldId id="379" r:id="rId31"/>
    <p:sldId id="388" r:id="rId32"/>
    <p:sldId id="268" r:id="rId33"/>
    <p:sldId id="380" r:id="rId34"/>
    <p:sldId id="381" r:id="rId35"/>
    <p:sldId id="382" r:id="rId36"/>
    <p:sldId id="383" r:id="rId37"/>
    <p:sldId id="296" r:id="rId38"/>
    <p:sldId id="273" r:id="rId39"/>
    <p:sldId id="384" r:id="rId40"/>
    <p:sldId id="275" r:id="rId41"/>
    <p:sldId id="385" r:id="rId42"/>
    <p:sldId id="277" r:id="rId43"/>
    <p:sldId id="386" r:id="rId44"/>
    <p:sldId id="370" r:id="rId45"/>
    <p:sldId id="37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3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2-24T13:55:08.130"/>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361 702,'12'-10,"0"2,0 0,1 0,0 1,1 1,0 0,21-6,-12 4,48-21,-40 16,0 0,1 2,66-13,-70 18,0-1,0-1,-1-2,31-14,53-18,-39 22,335-111,50-77,-426 194,0 0,0 2,1 1,1 2,0 1,46-5,-77 12,0 1,1 0,-1 0,0 0,1 0,-1 0,0 0,1 1,-1-1,0 1,1-1,-1 1,0 0,0 0,0 0,0 0,0 1,0-1,2 2,-3-1,0 0,0-1,0 1,0 0,0 0,0-1,-1 1,1 0,-1 0,1 0,-1 0,0 0,0 0,0 0,0 0,0 0,0 0,-1 0,1 0,-1 0,1 0,-1 0,-1 3,-6 11,-1 0,0 0,-1-1,0 0,-22 23,9-10,-130 145,98-115,2 3,-84 125,59-56,-5-3,-135 157,38-86,-242 288,-148 335,505-715,8-16,-53 115,106-195,0 0,0 0,1 1,0 0,0 0,2-1,-2 13,3-22,0 0,0 0,0 0,0 0,0 0,0 0,0-1,0 1,0 0,0 0,0 0,1 0,-1 0,0-1,1 1,-1 0,1 0,-1 0,1-1,-1 1,1 0,-1-1,1 1,0 0,-1-1,1 1,0-1,0 1,2 0,0 0,0-1,0 0,0 0,0 0,0 0,1 0,-1 0,4-2,43-8,-1-2,0-3,56-24,139-76,-100 36,-4-6,142-113,230-241,-338 284,6 7,292-182,284-121,-329 215,-398 220,1 1,0 1,1 2,0 1,1 1,35-5,-66 14,0 1,0 0,0-1,0 1,0 0,0 0,0 0,0 0,0 0,0 0,0 0,0 0,0 0,1 1,-1-1,-1 0,1 1,0-1,0 1,0-1,0 1,0-1,0 1,0 0,-1-1,1 1,0 0,0-1,-1 1,1 0,0 0,-1 0,1 0,-1 0,0 0,1 0,-1 0,0 0,1 0,-1 0,0 0,0 0,0 0,0 0,0 0,0 0,0 2,-1 6,0-1,-1 1,0 0,0 0,-4 8,-11 25,-1-1,-3 0,-1-2,-28 38,-122 149,163-216,-762 996,634-817,-186 269,174-260,-8 12,-31 133,26 18,-8 18,-39 51,154-337,-1 2,54-93,1 1,0 0,0 0,0 0,0 0,0 0,0 0,1 0,0 0,-1 6,2-9,-1 1,0 0,0-1,0 1,0-1,1 1,-1 0,0-1,1 1,-1-1,0 1,1-1,-1 1,1-1,-1 1,1-1,-1 0,1 1,-1-1,1 1,0-1,1 1,0-1,-1 1,1-1,0 0,-1 0,1 0,0 0,0 0,-1 0,1 0,3-1,11-5,1 0,-2 0,1-2,-1 0,0 0,25-20,-16 12,357-268,-11-25,-308 256,487-428,59-50,-43 100,-170 138,-78 66,-315 226,52-45,-54 45,0 1,1 0,-1-1,0 1,1 0,-1 0,0-1,1 1,-1 0,1 0,-1 0,1-1,-1 1,0 0,1 0,-1 0,1 0,-1 0,1 0,-1 0,1 0,-1 0,1 0,-1 0,0 0,1 0,-1 1,1-1,-1 0,1 0,-1 0,0 1,1-1,0 2,-1-1,1 0,-1 1,0-1,1 0,-1 1,0-1,0 1,0-1,0 0,0 1,0-1,-1 2,-4 18,0-1,-1 1,-1-1,-1-1,-14 25,-12 22,-59 83,-55 52,81-113,-780 1098,78 63,706-1135,-463 791,416-759,63-88,43-53,0 1,1-1,-1 1,1 0,1 0,-1 1,-2 11,4-17,1 0,0 0,-1 0,1 1,0-1,0 0,0 0,0 0,0 1,0-1,0 0,1 0,-1 0,0 0,1 1,-1-1,1 0,-1 0,1 0,-1 0,1 0,0 0,0 0,-1 0,1 0,0 0,0-1,0 1,0 0,0-1,0 1,0 0,0-1,0 1,1-1,-1 1,0-1,0 0,0 0,0 1,1-1,-1 0,0 0,0 0,0 0,1-1,-1 1,0 0,0 0,2-1,10-1,0 0,1-1,-1-1,0 0,16-8,71-37,9-15,-2-4,133-113,181-191,-354 311,167-156,138-124,50 10,-364 294,104-48,-117 64,59-44,-103 65,-1-1,0 1,1 0,-1 0,0 0,1 0,-1 0,0 0,1 0,-1-1,0 1,1 0,-1 0,0 0,1 0,-1 0,0 1,1-1,-1 0,0 0,1 0,-1 0,0 0,1 0,-1 0,0 1,0-1,1 0,-1 0,0 0,0 1,1-1,-1 0,0 0,0 1,1-1,-1 0,0 1,0-1,0 0,0 1,0-1,0 0,1 1,-1-1,0 0,0 1,0-1,0 0,0 1,0 25,-4 2,0-2,-2 1,-13 40,-39 79,34-88,-266 578,205-478,-200 281,142-233,137-195,1 1,0 1,1-1,0 1,1-1,-2 19,-10 32,2-24,5-16,0 0,2 1,0-1,2 1,-2 25,6-46,0-1,0 1,0-1,0 1,0-1,1 1,-1-1,1 1,0-1,-1 0,1 1,0-1,1 0,-1 0,0 0,1 0,-1 0,1 0,-1 0,3 2,-1-2,0-1,0 1,0-1,0 0,0 1,0-1,1 0,-1-1,0 1,1-1,-1 1,0-1,4 0,10-2,0 0,-1-1,1-1,26-10,11-7,53-29,-71 31,1 1,1 2,1 2,43-11,-67 23,1 0,0 1,22 1,-16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7-13T15:33:10.481"/>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2326 193,'-56'-1,"-89"-14,102 9,26 5,1-1,-1-1,1 0,-28-11,-169-70,185 72,0 1,-1 2,-1 0,1 2,-1 1,0 2,-1 0,-32 2,-570 4,611 1,-1 0,1 2,0 0,1 2,-1 0,-28 15,45-20,-150 59,126-46,0 1,0 1,2 2,0 1,1 1,-27 29,13-10,-58 77,70-88,23-25,0 0,1 0,0 1,0-1,0 1,-5 10,-17 22,22-32,1-1,-1 1,1 0,0 0,0 0,0 0,1 1,0-1,0 1,-2 10,2-3,0 0,1 1,1-1,1 17,0-27,-1 1,0 0,1-1,0 1,0 0,0-1,1 1,-1-1,1 0,-1 1,1-1,0 0,1 0,-1 0,0 0,1-1,0 1,-1 0,1-1,4 2,11 7,0-2,1 0,0-2,1 0,0-1,0-1,0 0,0-2,32 2,162-7,-106-1,154 16,-83 1,222-10,-210-6,216 2,-402 0,1-1,0 0,-1 0,1 0,-1-1,1 0,-1 0,0-1,0 1,0-1,0 0,0 0,-1-1,1 1,-1-1,0 0,0 0,0-1,3-5,1-2,0 0,0 0,-2-1,1 0,-2-1,7-22,18-98,8-28,-28 122,9-73,-12 59,2-38,-8 68</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F882-693F-478A-8984-70A31C52FA36}"/>
              </a:ext>
            </a:extLst>
          </p:cNvPr>
          <p:cNvSpPr>
            <a:spLocks noGrp="1"/>
          </p:cNvSpPr>
          <p:nvPr>
            <p:ph type="ctrTitle"/>
          </p:nvPr>
        </p:nvSpPr>
        <p:spPr>
          <a:xfrm>
            <a:off x="1524000" y="1122363"/>
            <a:ext cx="9144000" cy="2387600"/>
          </a:xfrm>
        </p:spPr>
        <p:txBody>
          <a:bodyPr anchor="b"/>
          <a:lstStyle>
            <a:lvl1pPr algn="ctr">
              <a:defRPr sz="6000" b="1"/>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6CAA352-33CA-4220-BE66-BFC51A1AC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0F39838-0565-4597-98D1-CB38660DB8C1}"/>
              </a:ext>
            </a:extLst>
          </p:cNvPr>
          <p:cNvSpPr>
            <a:spLocks noGrp="1"/>
          </p:cNvSpPr>
          <p:nvPr>
            <p:ph type="dt" sz="half" idx="10"/>
          </p:nvPr>
        </p:nvSpPr>
        <p:spPr/>
        <p:txBody>
          <a:bodyPr/>
          <a:lstStyle/>
          <a:p>
            <a:fld id="{3AEF8274-FB96-49C4-9D6E-9D2C2D401B55}" type="datetime1">
              <a:rPr lang="en-US" smtClean="0"/>
              <a:t>4/27/2024</a:t>
            </a:fld>
            <a:endParaRPr lang="en-US"/>
          </a:p>
        </p:txBody>
      </p:sp>
      <p:sp>
        <p:nvSpPr>
          <p:cNvPr id="5" name="Footer Placeholder 4">
            <a:extLst>
              <a:ext uri="{FF2B5EF4-FFF2-40B4-BE49-F238E27FC236}">
                <a16:creationId xmlns:a16="http://schemas.microsoft.com/office/drawing/2014/main" id="{D4C5452D-74CB-4A3A-9D85-6CDBC21F0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530DE4-ED07-40F9-9C16-2ACC3FD215C4}"/>
              </a:ext>
            </a:extLst>
          </p:cNvPr>
          <p:cNvSpPr>
            <a:spLocks noGrp="1"/>
          </p:cNvSpPr>
          <p:nvPr>
            <p:ph type="sldNum" sz="quarter" idx="12"/>
          </p:nvPr>
        </p:nvSpPr>
        <p:spPr/>
        <p:txBody>
          <a:bodyPr/>
          <a:lstStyle/>
          <a:p>
            <a:fld id="{B74EB0F0-7D7E-412A-B235-20FE2876EE16}" type="slidenum">
              <a:rPr lang="en-US" smtClean="0"/>
              <a:t>‹#›</a:t>
            </a:fld>
            <a:endParaRPr lang="en-US"/>
          </a:p>
        </p:txBody>
      </p:sp>
      <p:pic>
        <p:nvPicPr>
          <p:cNvPr id="7" name="Picture 6">
            <a:extLst>
              <a:ext uri="{FF2B5EF4-FFF2-40B4-BE49-F238E27FC236}">
                <a16:creationId xmlns:a16="http://schemas.microsoft.com/office/drawing/2014/main" id="{96477961-878C-4ABF-BB3C-FC7EB975CA2B}"/>
              </a:ext>
            </a:extLst>
          </p:cNvPr>
          <p:cNvPicPr>
            <a:picLocks noChangeAspect="1"/>
          </p:cNvPicPr>
          <p:nvPr userDrawn="1"/>
        </p:nvPicPr>
        <p:blipFill>
          <a:blip r:embed="rId2">
            <a:lum/>
            <a:alphaModFix/>
          </a:blip>
          <a:srcRect/>
          <a:stretch>
            <a:fillRect/>
          </a:stretch>
        </p:blipFill>
        <p:spPr>
          <a:xfrm>
            <a:off x="838200" y="4734413"/>
            <a:ext cx="3160414" cy="1417595"/>
          </a:xfrm>
          <a:prstGeom prst="rect">
            <a:avLst/>
          </a:prstGeom>
          <a:noFill/>
          <a:ln>
            <a:noFill/>
          </a:ln>
        </p:spPr>
      </p:pic>
      <p:sp>
        <p:nvSpPr>
          <p:cNvPr id="8" name="Freeform: Shape 7">
            <a:extLst>
              <a:ext uri="{FF2B5EF4-FFF2-40B4-BE49-F238E27FC236}">
                <a16:creationId xmlns:a16="http://schemas.microsoft.com/office/drawing/2014/main" id="{69DA0942-36F4-44D2-989D-6FFF57252C20}"/>
              </a:ext>
            </a:extLst>
          </p:cNvPr>
          <p:cNvSpPr/>
          <p:nvPr userDrawn="1"/>
        </p:nvSpPr>
        <p:spPr>
          <a:xfrm>
            <a:off x="4038600" y="5735637"/>
            <a:ext cx="5508000" cy="741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3FAF46"/>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
        <p:nvSpPr>
          <p:cNvPr id="9" name="Freeform: Shape 8">
            <a:extLst>
              <a:ext uri="{FF2B5EF4-FFF2-40B4-BE49-F238E27FC236}">
                <a16:creationId xmlns:a16="http://schemas.microsoft.com/office/drawing/2014/main" id="{8E773B61-1620-4E28-871B-8ED74233F20E}"/>
              </a:ext>
            </a:extLst>
          </p:cNvPr>
          <p:cNvSpPr/>
          <p:nvPr userDrawn="1"/>
        </p:nvSpPr>
        <p:spPr>
          <a:xfrm>
            <a:off x="4038600" y="5844357"/>
            <a:ext cx="5577840" cy="165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Tree>
    <p:extLst>
      <p:ext uri="{BB962C8B-B14F-4D97-AF65-F5344CB8AC3E}">
        <p14:creationId xmlns:p14="http://schemas.microsoft.com/office/powerpoint/2010/main" val="2160229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2264-13B8-4164-8A7F-01416FF8738C}"/>
              </a:ext>
            </a:extLst>
          </p:cNvPr>
          <p:cNvSpPr>
            <a:spLocks noGrp="1"/>
          </p:cNvSpPr>
          <p:nvPr>
            <p:ph type="title"/>
          </p:nvPr>
        </p:nvSpPr>
        <p:spPr>
          <a:xfrm>
            <a:off x="811820" y="518746"/>
            <a:ext cx="10515600" cy="1040058"/>
          </a:xfrm>
        </p:spPr>
        <p:txBody>
          <a:bodyPr>
            <a:normAutofit/>
          </a:bodyPr>
          <a:lstStyle>
            <a:lvl1pPr>
              <a:defRPr sz="3200" b="1">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18B97401-2A02-4DA8-B694-681757FFC9CB}"/>
              </a:ext>
            </a:extLst>
          </p:cNvPr>
          <p:cNvSpPr>
            <a:spLocks noGrp="1"/>
          </p:cNvSpPr>
          <p:nvPr>
            <p:ph idx="1"/>
          </p:nvPr>
        </p:nvSpPr>
        <p:spPr>
          <a:xfrm>
            <a:off x="838200" y="1737703"/>
            <a:ext cx="10515600" cy="4351338"/>
          </a:xfrm>
        </p:spPr>
        <p:txBody>
          <a:bodyPr/>
          <a:lstStyle>
            <a:lvl1pPr>
              <a:defRPr sz="30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2B9B45F-96EC-4371-AF2B-31FF780B0781}"/>
              </a:ext>
            </a:extLst>
          </p:cNvPr>
          <p:cNvSpPr>
            <a:spLocks noGrp="1"/>
          </p:cNvSpPr>
          <p:nvPr>
            <p:ph type="dt" sz="half" idx="10"/>
          </p:nvPr>
        </p:nvSpPr>
        <p:spPr/>
        <p:txBody>
          <a:bodyPr/>
          <a:lstStyle/>
          <a:p>
            <a:fld id="{B369C47C-2FC5-4798-A420-00913EF17CB0}" type="datetime1">
              <a:rPr lang="en-US" smtClean="0"/>
              <a:t>4/27/2024</a:t>
            </a:fld>
            <a:endParaRPr lang="en-US"/>
          </a:p>
        </p:txBody>
      </p:sp>
      <p:sp>
        <p:nvSpPr>
          <p:cNvPr id="5" name="Footer Placeholder 4">
            <a:extLst>
              <a:ext uri="{FF2B5EF4-FFF2-40B4-BE49-F238E27FC236}">
                <a16:creationId xmlns:a16="http://schemas.microsoft.com/office/drawing/2014/main" id="{FC1F992E-04F3-4A3A-8A5F-361AC165C1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7391C-8F35-4F56-BEAA-20B1EF748203}"/>
              </a:ext>
            </a:extLst>
          </p:cNvPr>
          <p:cNvSpPr>
            <a:spLocks noGrp="1"/>
          </p:cNvSpPr>
          <p:nvPr>
            <p:ph type="sldNum" sz="quarter" idx="12"/>
          </p:nvPr>
        </p:nvSpPr>
        <p:spPr/>
        <p:txBody>
          <a:bodyPr/>
          <a:lstStyle/>
          <a:p>
            <a:fld id="{B74EB0F0-7D7E-412A-B235-20FE2876EE16}" type="slidenum">
              <a:rPr lang="en-US" smtClean="0"/>
              <a:t>‹#›</a:t>
            </a:fld>
            <a:endParaRPr lang="en-US"/>
          </a:p>
        </p:txBody>
      </p:sp>
      <p:sp>
        <p:nvSpPr>
          <p:cNvPr id="7" name="Freeform: Shape 6">
            <a:extLst>
              <a:ext uri="{FF2B5EF4-FFF2-40B4-BE49-F238E27FC236}">
                <a16:creationId xmlns:a16="http://schemas.microsoft.com/office/drawing/2014/main" id="{3E0CBFF8-DB1E-4A21-AB54-C2C734FEBC94}"/>
              </a:ext>
            </a:extLst>
          </p:cNvPr>
          <p:cNvSpPr/>
          <p:nvPr userDrawn="1"/>
        </p:nvSpPr>
        <p:spPr>
          <a:xfrm>
            <a:off x="817688" y="1371919"/>
            <a:ext cx="9438832" cy="45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sp>
        <p:nvSpPr>
          <p:cNvPr id="8" name="Freeform: Shape 7">
            <a:extLst>
              <a:ext uri="{FF2B5EF4-FFF2-40B4-BE49-F238E27FC236}">
                <a16:creationId xmlns:a16="http://schemas.microsoft.com/office/drawing/2014/main" id="{084B5BFD-A347-4E0A-94EC-08CFE24459BA}"/>
              </a:ext>
            </a:extLst>
          </p:cNvPr>
          <p:cNvSpPr/>
          <p:nvPr userDrawn="1"/>
        </p:nvSpPr>
        <p:spPr>
          <a:xfrm>
            <a:off x="817688" y="1323201"/>
            <a:ext cx="9286920" cy="183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3FAF46"/>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pic>
        <p:nvPicPr>
          <p:cNvPr id="9" name="Picture 8">
            <a:extLst>
              <a:ext uri="{FF2B5EF4-FFF2-40B4-BE49-F238E27FC236}">
                <a16:creationId xmlns:a16="http://schemas.microsoft.com/office/drawing/2014/main" id="{890FC133-6000-42CF-95E8-D61CD9688221}"/>
              </a:ext>
            </a:extLst>
          </p:cNvPr>
          <p:cNvPicPr>
            <a:picLocks noChangeAspect="1"/>
          </p:cNvPicPr>
          <p:nvPr userDrawn="1"/>
        </p:nvPicPr>
        <p:blipFill>
          <a:blip r:embed="rId2">
            <a:lum/>
            <a:alphaModFix/>
          </a:blip>
          <a:srcRect/>
          <a:stretch>
            <a:fillRect/>
          </a:stretch>
        </p:blipFill>
        <p:spPr>
          <a:xfrm>
            <a:off x="838200" y="6356350"/>
            <a:ext cx="916559" cy="411120"/>
          </a:xfrm>
          <a:prstGeom prst="rect">
            <a:avLst/>
          </a:prstGeom>
          <a:noFill/>
          <a:ln>
            <a:noFill/>
          </a:ln>
        </p:spPr>
      </p:pic>
    </p:spTree>
    <p:extLst>
      <p:ext uri="{BB962C8B-B14F-4D97-AF65-F5344CB8AC3E}">
        <p14:creationId xmlns:p14="http://schemas.microsoft.com/office/powerpoint/2010/main" val="353265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89B2-B2C2-4362-8648-DDF8C6D45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03B785-2CBD-4E6D-9B9B-78608B59AD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3BD086-3F3E-4DB4-A002-89440365C463}"/>
              </a:ext>
            </a:extLst>
          </p:cNvPr>
          <p:cNvSpPr>
            <a:spLocks noGrp="1"/>
          </p:cNvSpPr>
          <p:nvPr>
            <p:ph type="dt" sz="half" idx="10"/>
          </p:nvPr>
        </p:nvSpPr>
        <p:spPr/>
        <p:txBody>
          <a:bodyPr/>
          <a:lstStyle/>
          <a:p>
            <a:fld id="{5059CB56-5D6A-4D34-9F46-21AD4650E44A}" type="datetime1">
              <a:rPr lang="en-US" smtClean="0"/>
              <a:t>4/27/2024</a:t>
            </a:fld>
            <a:endParaRPr lang="en-US"/>
          </a:p>
        </p:txBody>
      </p:sp>
      <p:sp>
        <p:nvSpPr>
          <p:cNvPr id="5" name="Footer Placeholder 4">
            <a:extLst>
              <a:ext uri="{FF2B5EF4-FFF2-40B4-BE49-F238E27FC236}">
                <a16:creationId xmlns:a16="http://schemas.microsoft.com/office/drawing/2014/main" id="{20703831-337F-41D4-8B4C-5B82766C5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F7CE0-3A34-4FA2-9383-CA492D92A997}"/>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704876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4960B1-2392-42C2-934B-D56F5C87C7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CB05FC-C0AF-4DAD-9799-F04827BABA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A7F9C7-7038-4374-B297-8F533A91093D}"/>
              </a:ext>
            </a:extLst>
          </p:cNvPr>
          <p:cNvSpPr>
            <a:spLocks noGrp="1"/>
          </p:cNvSpPr>
          <p:nvPr>
            <p:ph type="dt" sz="half" idx="10"/>
          </p:nvPr>
        </p:nvSpPr>
        <p:spPr/>
        <p:txBody>
          <a:bodyPr/>
          <a:lstStyle/>
          <a:p>
            <a:fld id="{BEB92232-B6B0-4DD4-B0ED-E06ABF041FC6}" type="datetime1">
              <a:rPr lang="en-US" smtClean="0"/>
              <a:t>4/27/2024</a:t>
            </a:fld>
            <a:endParaRPr lang="en-US"/>
          </a:p>
        </p:txBody>
      </p:sp>
      <p:sp>
        <p:nvSpPr>
          <p:cNvPr id="6" name="Footer Placeholder 5">
            <a:extLst>
              <a:ext uri="{FF2B5EF4-FFF2-40B4-BE49-F238E27FC236}">
                <a16:creationId xmlns:a16="http://schemas.microsoft.com/office/drawing/2014/main" id="{A29CA050-8CE5-40C4-AEF8-21EF42278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E21202-A6DB-4A09-8330-7F793D2D8605}"/>
              </a:ext>
            </a:extLst>
          </p:cNvPr>
          <p:cNvSpPr>
            <a:spLocks noGrp="1"/>
          </p:cNvSpPr>
          <p:nvPr>
            <p:ph type="sldNum" sz="quarter" idx="12"/>
          </p:nvPr>
        </p:nvSpPr>
        <p:spPr/>
        <p:txBody>
          <a:bodyPr/>
          <a:lstStyle/>
          <a:p>
            <a:fld id="{B74EB0F0-7D7E-412A-B235-20FE2876EE16}" type="slidenum">
              <a:rPr lang="en-US" smtClean="0"/>
              <a:t>‹#›</a:t>
            </a:fld>
            <a:endParaRPr lang="en-US"/>
          </a:p>
        </p:txBody>
      </p:sp>
      <p:sp>
        <p:nvSpPr>
          <p:cNvPr id="8" name="Freeform: Shape 7">
            <a:extLst>
              <a:ext uri="{FF2B5EF4-FFF2-40B4-BE49-F238E27FC236}">
                <a16:creationId xmlns:a16="http://schemas.microsoft.com/office/drawing/2014/main" id="{562688FB-17D7-4AFA-840D-AAAF7CBD9297}"/>
              </a:ext>
            </a:extLst>
          </p:cNvPr>
          <p:cNvSpPr/>
          <p:nvPr userDrawn="1"/>
        </p:nvSpPr>
        <p:spPr>
          <a:xfrm>
            <a:off x="817688" y="1371919"/>
            <a:ext cx="9438832" cy="4571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gradFill>
            <a:gsLst>
              <a:gs pos="0">
                <a:srgbClr val="2A6099"/>
              </a:gs>
              <a:gs pos="100000">
                <a:srgbClr val="FFFFFF"/>
              </a:gs>
            </a:gsLst>
            <a:lin ang="2460000"/>
          </a:gradFill>
          <a:ln>
            <a:noFill/>
            <a:prstDash val="solid"/>
          </a:ln>
        </p:spPr>
        <p:txBody>
          <a:bodyPr lIns="0" tIns="0" rIns="0" bIns="0" anchor="ctr" anchorCtr="0">
            <a:noAutofit/>
          </a:bodyPr>
          <a:lstStyle/>
          <a:p>
            <a:pPr lvl="0" hangingPunct="0">
              <a:buNone/>
              <a:tabLst/>
            </a:pPr>
            <a:endParaRPr lang="en-US" sz="2400" kern="1200">
              <a:latin typeface="Liberation Serif" pitchFamily="18"/>
              <a:ea typeface="DejaVu Sans" pitchFamily="2"/>
              <a:cs typeface="DejaVu Sans" pitchFamily="2"/>
            </a:endParaRPr>
          </a:p>
        </p:txBody>
      </p:sp>
      <p:pic>
        <p:nvPicPr>
          <p:cNvPr id="9" name="Picture 8">
            <a:extLst>
              <a:ext uri="{FF2B5EF4-FFF2-40B4-BE49-F238E27FC236}">
                <a16:creationId xmlns:a16="http://schemas.microsoft.com/office/drawing/2014/main" id="{08601543-0AA8-4775-97A3-8CB087A8733F}"/>
              </a:ext>
            </a:extLst>
          </p:cNvPr>
          <p:cNvPicPr>
            <a:picLocks noChangeAspect="1"/>
          </p:cNvPicPr>
          <p:nvPr userDrawn="1"/>
        </p:nvPicPr>
        <p:blipFill>
          <a:blip r:embed="rId2">
            <a:lum/>
            <a:alphaModFix/>
          </a:blip>
          <a:srcRect/>
          <a:stretch>
            <a:fillRect/>
          </a:stretch>
        </p:blipFill>
        <p:spPr>
          <a:xfrm>
            <a:off x="838200" y="6356350"/>
            <a:ext cx="916559" cy="411120"/>
          </a:xfrm>
          <a:prstGeom prst="rect">
            <a:avLst/>
          </a:prstGeom>
          <a:noFill/>
          <a:ln>
            <a:noFill/>
          </a:ln>
        </p:spPr>
      </p:pic>
      <p:sp>
        <p:nvSpPr>
          <p:cNvPr id="10" name="Title 1">
            <a:extLst>
              <a:ext uri="{FF2B5EF4-FFF2-40B4-BE49-F238E27FC236}">
                <a16:creationId xmlns:a16="http://schemas.microsoft.com/office/drawing/2014/main" id="{5FEBA6EA-B997-4328-A2C1-6ACD39D6F9AF}"/>
              </a:ext>
            </a:extLst>
          </p:cNvPr>
          <p:cNvSpPr>
            <a:spLocks noGrp="1"/>
          </p:cNvSpPr>
          <p:nvPr>
            <p:ph type="title"/>
          </p:nvPr>
        </p:nvSpPr>
        <p:spPr>
          <a:xfrm>
            <a:off x="811820" y="518746"/>
            <a:ext cx="10515600" cy="1040058"/>
          </a:xfrm>
        </p:spPr>
        <p:txBody>
          <a:bodyPr>
            <a:normAutofit/>
          </a:bodyPr>
          <a:lstStyle>
            <a:lvl1pPr>
              <a:defRPr sz="3200" b="1">
                <a:latin typeface="+mn-lt"/>
              </a:defRPr>
            </a:lvl1pPr>
          </a:lstStyle>
          <a:p>
            <a:r>
              <a:rPr lang="en-US" dirty="0"/>
              <a:t>Click to edit Master title style</a:t>
            </a:r>
          </a:p>
        </p:txBody>
      </p:sp>
    </p:spTree>
    <p:extLst>
      <p:ext uri="{BB962C8B-B14F-4D97-AF65-F5344CB8AC3E}">
        <p14:creationId xmlns:p14="http://schemas.microsoft.com/office/powerpoint/2010/main" val="282549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44D46-CCC5-408A-BB55-2BC721DCFF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85DA4B-C32F-4B29-8506-6CCDC1BBA3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2A693-94CA-4046-A5F2-54F4F4DE87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F9F10C-0B83-4BD8-8433-26A864FA66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D6F767-015F-427C-AE36-937E42042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7EE13A-7224-453B-AE40-62462481074B}"/>
              </a:ext>
            </a:extLst>
          </p:cNvPr>
          <p:cNvSpPr>
            <a:spLocks noGrp="1"/>
          </p:cNvSpPr>
          <p:nvPr>
            <p:ph type="dt" sz="half" idx="10"/>
          </p:nvPr>
        </p:nvSpPr>
        <p:spPr/>
        <p:txBody>
          <a:bodyPr/>
          <a:lstStyle/>
          <a:p>
            <a:fld id="{80C4E74C-10E2-4223-AD54-37E0383366BD}" type="datetime1">
              <a:rPr lang="en-US" smtClean="0"/>
              <a:t>4/27/2024</a:t>
            </a:fld>
            <a:endParaRPr lang="en-US"/>
          </a:p>
        </p:txBody>
      </p:sp>
      <p:sp>
        <p:nvSpPr>
          <p:cNvPr id="8" name="Footer Placeholder 7">
            <a:extLst>
              <a:ext uri="{FF2B5EF4-FFF2-40B4-BE49-F238E27FC236}">
                <a16:creationId xmlns:a16="http://schemas.microsoft.com/office/drawing/2014/main" id="{0D074E8A-678C-4BB1-B2B0-19AE552AA4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7FE1EE-B1FE-4324-B538-55848365D240}"/>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1597684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5EDD-FE7C-4FB5-A1D3-6084462431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28534A-5667-4CAC-ADBE-0F2EE28EC7C8}"/>
              </a:ext>
            </a:extLst>
          </p:cNvPr>
          <p:cNvSpPr>
            <a:spLocks noGrp="1"/>
          </p:cNvSpPr>
          <p:nvPr>
            <p:ph type="dt" sz="half" idx="10"/>
          </p:nvPr>
        </p:nvSpPr>
        <p:spPr/>
        <p:txBody>
          <a:bodyPr/>
          <a:lstStyle/>
          <a:p>
            <a:fld id="{3EA055C0-BE2F-424B-9B10-99A90BCCA0FE}" type="datetime1">
              <a:rPr lang="en-US" smtClean="0"/>
              <a:t>4/27/2024</a:t>
            </a:fld>
            <a:endParaRPr lang="en-US"/>
          </a:p>
        </p:txBody>
      </p:sp>
      <p:sp>
        <p:nvSpPr>
          <p:cNvPr id="4" name="Footer Placeholder 3">
            <a:extLst>
              <a:ext uri="{FF2B5EF4-FFF2-40B4-BE49-F238E27FC236}">
                <a16:creationId xmlns:a16="http://schemas.microsoft.com/office/drawing/2014/main" id="{5A8D44B0-109C-49A2-9026-D731CD6FCD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EB0DE3-A520-427A-8D30-857390533F88}"/>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642640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DF819B-C471-49CE-8E53-08E9ADB20EFC}"/>
              </a:ext>
            </a:extLst>
          </p:cNvPr>
          <p:cNvSpPr>
            <a:spLocks noGrp="1"/>
          </p:cNvSpPr>
          <p:nvPr>
            <p:ph type="dt" sz="half" idx="10"/>
          </p:nvPr>
        </p:nvSpPr>
        <p:spPr/>
        <p:txBody>
          <a:bodyPr/>
          <a:lstStyle/>
          <a:p>
            <a:fld id="{2A2A1E5F-6D3B-480A-9891-781F8B5AD344}" type="datetime1">
              <a:rPr lang="en-US" smtClean="0"/>
              <a:t>4/27/2024</a:t>
            </a:fld>
            <a:endParaRPr lang="en-US"/>
          </a:p>
        </p:txBody>
      </p:sp>
      <p:sp>
        <p:nvSpPr>
          <p:cNvPr id="3" name="Footer Placeholder 2">
            <a:extLst>
              <a:ext uri="{FF2B5EF4-FFF2-40B4-BE49-F238E27FC236}">
                <a16:creationId xmlns:a16="http://schemas.microsoft.com/office/drawing/2014/main" id="{0AEE76DF-8428-4E52-AC0E-4AF57C42E8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F123E0-429A-4323-A898-77B587362F88}"/>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20329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C383-8317-4CBE-8C5B-862C320EA4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CC63E2-0341-4FE3-BC8B-86D02BB38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A47640-E8A3-4266-A4AC-B3322ED1F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9F82CC-1925-4B5E-AA06-D59FC44EA9CF}"/>
              </a:ext>
            </a:extLst>
          </p:cNvPr>
          <p:cNvSpPr>
            <a:spLocks noGrp="1"/>
          </p:cNvSpPr>
          <p:nvPr>
            <p:ph type="dt" sz="half" idx="10"/>
          </p:nvPr>
        </p:nvSpPr>
        <p:spPr/>
        <p:txBody>
          <a:bodyPr/>
          <a:lstStyle/>
          <a:p>
            <a:fld id="{9299669F-05C5-437D-973C-9CC6830D8DC9}" type="datetime1">
              <a:rPr lang="en-US" smtClean="0"/>
              <a:t>4/27/2024</a:t>
            </a:fld>
            <a:endParaRPr lang="en-US"/>
          </a:p>
        </p:txBody>
      </p:sp>
      <p:sp>
        <p:nvSpPr>
          <p:cNvPr id="6" name="Footer Placeholder 5">
            <a:extLst>
              <a:ext uri="{FF2B5EF4-FFF2-40B4-BE49-F238E27FC236}">
                <a16:creationId xmlns:a16="http://schemas.microsoft.com/office/drawing/2014/main" id="{FA3B3AA4-62F6-4610-98E0-0A9F2AA26C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08512-1DE1-4435-829E-DFCC8CDF3759}"/>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2523385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5F271-E684-44B4-B8C8-29BA12961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F4BDEB-636D-4728-81CB-FA591C6D58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BEDDCA1-537D-4B0B-8CB1-F62D8C773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7F011-6E2C-4DB1-B3B2-C8998FD258CA}"/>
              </a:ext>
            </a:extLst>
          </p:cNvPr>
          <p:cNvSpPr>
            <a:spLocks noGrp="1"/>
          </p:cNvSpPr>
          <p:nvPr>
            <p:ph type="dt" sz="half" idx="10"/>
          </p:nvPr>
        </p:nvSpPr>
        <p:spPr/>
        <p:txBody>
          <a:bodyPr/>
          <a:lstStyle/>
          <a:p>
            <a:fld id="{0DC2561B-D112-41AA-A270-ABF3D5CF179B}" type="datetime1">
              <a:rPr lang="en-US" smtClean="0"/>
              <a:t>4/27/2024</a:t>
            </a:fld>
            <a:endParaRPr lang="en-US"/>
          </a:p>
        </p:txBody>
      </p:sp>
      <p:sp>
        <p:nvSpPr>
          <p:cNvPr id="6" name="Footer Placeholder 5">
            <a:extLst>
              <a:ext uri="{FF2B5EF4-FFF2-40B4-BE49-F238E27FC236}">
                <a16:creationId xmlns:a16="http://schemas.microsoft.com/office/drawing/2014/main" id="{D2C370A1-1964-4C2C-A6ED-C3C08D3D74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2D274B-AAE6-49F2-84AD-8001E2C7475D}"/>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65496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260F-7846-4DA2-BBD0-473703D85F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55302A-B711-4343-9128-92C37D1B3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CFCB34-505D-4ADF-8490-7B551BB5994A}"/>
              </a:ext>
            </a:extLst>
          </p:cNvPr>
          <p:cNvSpPr>
            <a:spLocks noGrp="1"/>
          </p:cNvSpPr>
          <p:nvPr>
            <p:ph type="dt" sz="half" idx="10"/>
          </p:nvPr>
        </p:nvSpPr>
        <p:spPr/>
        <p:txBody>
          <a:bodyPr/>
          <a:lstStyle/>
          <a:p>
            <a:fld id="{21F265F5-8649-4246-BA7B-3CBB332E39AF}" type="datetime1">
              <a:rPr lang="en-US" smtClean="0"/>
              <a:t>4/27/2024</a:t>
            </a:fld>
            <a:endParaRPr lang="en-US"/>
          </a:p>
        </p:txBody>
      </p:sp>
      <p:sp>
        <p:nvSpPr>
          <p:cNvPr id="5" name="Footer Placeholder 4">
            <a:extLst>
              <a:ext uri="{FF2B5EF4-FFF2-40B4-BE49-F238E27FC236}">
                <a16:creationId xmlns:a16="http://schemas.microsoft.com/office/drawing/2014/main" id="{2D662B4A-18F0-4CE4-BE8E-3FBBFB8ADA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AF3F7-B719-4619-9455-4240B45C178A}"/>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138690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DAE27-3070-49C5-954D-0EAB397B3B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3B4DE4-8967-4CE3-A361-E0EB941F39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09D48-57B1-4277-968B-0C26BBBCF06D}"/>
              </a:ext>
            </a:extLst>
          </p:cNvPr>
          <p:cNvSpPr>
            <a:spLocks noGrp="1"/>
          </p:cNvSpPr>
          <p:nvPr>
            <p:ph type="dt" sz="half" idx="10"/>
          </p:nvPr>
        </p:nvSpPr>
        <p:spPr/>
        <p:txBody>
          <a:bodyPr/>
          <a:lstStyle/>
          <a:p>
            <a:fld id="{E5FBC7AC-6050-4018-BA5E-91C5AD6816F9}" type="datetime1">
              <a:rPr lang="en-US" smtClean="0"/>
              <a:t>4/27/2024</a:t>
            </a:fld>
            <a:endParaRPr lang="en-US"/>
          </a:p>
        </p:txBody>
      </p:sp>
      <p:sp>
        <p:nvSpPr>
          <p:cNvPr id="5" name="Footer Placeholder 4">
            <a:extLst>
              <a:ext uri="{FF2B5EF4-FFF2-40B4-BE49-F238E27FC236}">
                <a16:creationId xmlns:a16="http://schemas.microsoft.com/office/drawing/2014/main" id="{2FEBA19C-A2FC-41C6-B98C-F8FE03B1E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CDB934-7CE4-4B97-A07F-8DAAE5CACA0E}"/>
              </a:ext>
            </a:extLst>
          </p:cNvPr>
          <p:cNvSpPr>
            <a:spLocks noGrp="1"/>
          </p:cNvSpPr>
          <p:nvPr>
            <p:ph type="sldNum" sz="quarter" idx="12"/>
          </p:nvPr>
        </p:nvSpPr>
        <p:spPr/>
        <p:txBody>
          <a:bodyPr/>
          <a:lstStyle/>
          <a:p>
            <a:fld id="{B74EB0F0-7D7E-412A-B235-20FE2876EE16}" type="slidenum">
              <a:rPr lang="en-US" smtClean="0"/>
              <a:t>‹#›</a:t>
            </a:fld>
            <a:endParaRPr lang="en-US"/>
          </a:p>
        </p:txBody>
      </p:sp>
    </p:spTree>
    <p:extLst>
      <p:ext uri="{BB962C8B-B14F-4D97-AF65-F5344CB8AC3E}">
        <p14:creationId xmlns:p14="http://schemas.microsoft.com/office/powerpoint/2010/main" val="3796458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45920" y="120240"/>
            <a:ext cx="10352640" cy="1135080"/>
          </a:xfrm>
          <a:prstGeom prst="rect">
            <a:avLst/>
          </a:prstGeom>
        </p:spPr>
        <p:txBody>
          <a:bodyPr lIns="90000" tIns="46800" rIns="90000" bIns="46800" anchor="b">
            <a:noAutofit/>
          </a:bodyPr>
          <a:lstStyle/>
          <a:p>
            <a:endParaRPr lang="en-US" sz="3600" b="0" strike="noStrike" spc="-1">
              <a:solidFill>
                <a:srgbClr val="000000"/>
              </a:solidFill>
              <a:latin typeface="Arial Black"/>
            </a:endParaRPr>
          </a:p>
        </p:txBody>
      </p:sp>
      <p:sp>
        <p:nvSpPr>
          <p:cNvPr id="9" name="PlaceHolder 2"/>
          <p:cNvSpPr>
            <a:spLocks noGrp="1"/>
          </p:cNvSpPr>
          <p:nvPr>
            <p:ph type="body"/>
          </p:nvPr>
        </p:nvSpPr>
        <p:spPr>
          <a:xfrm>
            <a:off x="609120" y="1886040"/>
            <a:ext cx="10894560" cy="4163760"/>
          </a:xfrm>
          <a:prstGeom prst="rect">
            <a:avLst/>
          </a:prstGeom>
        </p:spPr>
        <p:txBody>
          <a:bodyPr lIns="90000" tIns="46800" rIns="90000" bIns="46800">
            <a:normAutofit/>
          </a:bodyPr>
          <a:lstStyle/>
          <a:p>
            <a:endParaRPr lang="en-US" sz="3200" b="0" strike="noStrike" spc="-1">
              <a:solidFill>
                <a:srgbClr val="000000"/>
              </a:solidFill>
              <a:latin typeface="Arial"/>
            </a:endParaRPr>
          </a:p>
        </p:txBody>
      </p:sp>
    </p:spTree>
    <p:extLst>
      <p:ext uri="{BB962C8B-B14F-4D97-AF65-F5344CB8AC3E}">
        <p14:creationId xmlns:p14="http://schemas.microsoft.com/office/powerpoint/2010/main" val="1391264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454400" y="152400"/>
            <a:ext cx="8331200" cy="533400"/>
          </a:xfrm>
        </p:spPr>
        <p:txBody>
          <a:bodyPr/>
          <a:lstStyle/>
          <a:p>
            <a:r>
              <a:rPr lang="en-US"/>
              <a:t>Click to edit Master title style</a:t>
            </a:r>
          </a:p>
        </p:txBody>
      </p:sp>
      <p:sp>
        <p:nvSpPr>
          <p:cNvPr id="3" name="Table Placeholder 2"/>
          <p:cNvSpPr>
            <a:spLocks noGrp="1"/>
          </p:cNvSpPr>
          <p:nvPr>
            <p:ph type="tbl" idx="1"/>
          </p:nvPr>
        </p:nvSpPr>
        <p:spPr>
          <a:xfrm>
            <a:off x="3454400" y="1066800"/>
            <a:ext cx="8331200" cy="5029200"/>
          </a:xfrm>
        </p:spPr>
        <p:txBody>
          <a:bodyPr/>
          <a:lstStyle/>
          <a:p>
            <a:endParaRPr lang="en-US"/>
          </a:p>
        </p:txBody>
      </p:sp>
      <p:sp>
        <p:nvSpPr>
          <p:cNvPr id="4" name="Date Placeholder 3"/>
          <p:cNvSpPr>
            <a:spLocks noGrp="1"/>
          </p:cNvSpPr>
          <p:nvPr>
            <p:ph type="dt" sz="half" idx="10"/>
          </p:nvPr>
        </p:nvSpPr>
        <p:spPr>
          <a:xfrm>
            <a:off x="914400" y="4495800"/>
            <a:ext cx="2540000" cy="2209800"/>
          </a:xfrm>
        </p:spPr>
        <p:txBody>
          <a:bodyPr/>
          <a:lstStyle>
            <a:lvl1pPr>
              <a:defRPr/>
            </a:lvl1pPr>
          </a:lstStyle>
          <a:p>
            <a:endParaRPr lang="en-US"/>
          </a:p>
        </p:txBody>
      </p:sp>
      <p:sp>
        <p:nvSpPr>
          <p:cNvPr id="5" name="Footer Placeholder 4"/>
          <p:cNvSpPr>
            <a:spLocks noGrp="1"/>
          </p:cNvSpPr>
          <p:nvPr>
            <p:ph type="ftr" sz="quarter" idx="11"/>
          </p:nvPr>
        </p:nvSpPr>
        <p:spPr>
          <a:xfrm>
            <a:off x="4165600" y="6248400"/>
            <a:ext cx="38608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8400"/>
            <a:ext cx="2540000" cy="457200"/>
          </a:xfrm>
        </p:spPr>
        <p:txBody>
          <a:bodyPr/>
          <a:lstStyle>
            <a:lvl1pPr>
              <a:defRPr/>
            </a:lvl1pPr>
          </a:lstStyle>
          <a:p>
            <a:fld id="{88C3AA75-2DAC-4611-9EDB-EA53D81A5A3A}" type="slidenum">
              <a:rPr lang="en-US"/>
              <a:pPr/>
              <a:t>‹#›</a:t>
            </a:fld>
            <a:endParaRPr lang="en-US"/>
          </a:p>
        </p:txBody>
      </p:sp>
    </p:spTree>
    <p:extLst>
      <p:ext uri="{BB962C8B-B14F-4D97-AF65-F5344CB8AC3E}">
        <p14:creationId xmlns:p14="http://schemas.microsoft.com/office/powerpoint/2010/main" val="288271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E03A76-BA73-4FE8-99C8-85F00E2FF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24940D-77B5-4D3F-8441-C78887D8F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1FC9E7-48FB-4158-BAC3-93BE65F01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F4DD6-61D7-4878-BA4B-2AE18A735097}" type="datetime1">
              <a:rPr lang="en-US" smtClean="0"/>
              <a:t>4/27/2024</a:t>
            </a:fld>
            <a:endParaRPr lang="en-US"/>
          </a:p>
        </p:txBody>
      </p:sp>
      <p:sp>
        <p:nvSpPr>
          <p:cNvPr id="5" name="Footer Placeholder 4">
            <a:extLst>
              <a:ext uri="{FF2B5EF4-FFF2-40B4-BE49-F238E27FC236}">
                <a16:creationId xmlns:a16="http://schemas.microsoft.com/office/drawing/2014/main" id="{07F808D8-56E1-4B29-97FD-5F4646390E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0494D3-6A6D-4CF0-B7AC-0D4CF9957A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4EB0F0-7D7E-412A-B235-20FE2876EE16}" type="slidenum">
              <a:rPr lang="en-US" smtClean="0"/>
              <a:t>‹#›</a:t>
            </a:fld>
            <a:endParaRPr lang="en-US"/>
          </a:p>
        </p:txBody>
      </p:sp>
    </p:spTree>
    <p:extLst>
      <p:ext uri="{BB962C8B-B14F-4D97-AF65-F5344CB8AC3E}">
        <p14:creationId xmlns:p14="http://schemas.microsoft.com/office/powerpoint/2010/main" val="793483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g"/><Relationship Id="rId10" Type="http://schemas.openxmlformats.org/officeDocument/2006/relationships/image" Target="../media/image10.jpg"/><Relationship Id="rId4" Type="http://schemas.openxmlformats.org/officeDocument/2006/relationships/image" Target="../media/image4.png"/><Relationship Id="rId9"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22.jpe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1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library.books24x7.com.ezproxy.library.drexel.edu/viewer.asp?bkid=7059&amp;image_src=http://images.books24x7.com.ezproxy.library.drexel.edu/bookimages/id_7059/fig143_01_0.jpg&amp;image_id=54&amp;previd=IMG_54&amp;titlelabel=Figure+3.13:+&amp;title=Thresholds+between+testbed+and+low-and+high-performance+uptime." TargetMode="External"/><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flylib.com/books/en/2.809.1.25/1/"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BB63EF-0B15-49A8-90CF-7B07ED53FD5D}"/>
              </a:ext>
            </a:extLst>
          </p:cNvPr>
          <p:cNvSpPr txBox="1">
            <a:spLocks/>
          </p:cNvSpPr>
          <p:nvPr/>
        </p:nvSpPr>
        <p:spPr>
          <a:xfrm>
            <a:off x="1066800" y="1293813"/>
            <a:ext cx="9848850" cy="2659524"/>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3200" dirty="0">
                <a:solidFill>
                  <a:prstClr val="black"/>
                </a:solidFill>
                <a:latin typeface="Calibri" panose="020F0502020204030204"/>
              </a:rPr>
              <a:t>PUSL 2026</a:t>
            </a:r>
            <a:r>
              <a:rPr kumimoji="0" lang="en-US" sz="3200" b="1" i="0" u="none" strike="noStrike" kern="1200" cap="none" spc="0" normalizeH="0" baseline="0" noProof="0" dirty="0">
                <a:ln>
                  <a:noFill/>
                </a:ln>
                <a:solidFill>
                  <a:prstClr val="black"/>
                </a:solidFill>
                <a:effectLst/>
                <a:uLnTx/>
                <a:uFillTx/>
                <a:latin typeface="Calibri" panose="020F0502020204030204"/>
                <a:ea typeface="+mj-ea"/>
                <a:cs typeface="+mj-cs"/>
              </a:rPr>
              <a:t> - Computer Networks</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2900" b="1" i="0" u="none" strike="noStrike" kern="1200" cap="none" spc="0" normalizeH="0" baseline="0" noProof="0" dirty="0">
              <a:ln>
                <a:noFill/>
              </a:ln>
              <a:solidFill>
                <a:prstClr val="black"/>
              </a:solidFill>
              <a:effectLst/>
              <a:uLnTx/>
              <a:uFillTx/>
              <a:latin typeface="Calibri" panose="020F0502020204030204"/>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Lecture 5 – Network Implementation Process &amp;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Operational Requirements </a:t>
            </a:r>
            <a:br>
              <a:rPr kumimoji="0" lang="en-US" sz="6000" b="1" i="0" u="none" strike="noStrike" kern="1200" cap="none" spc="0" normalizeH="0" baseline="0" noProof="0" dirty="0">
                <a:ln>
                  <a:noFill/>
                </a:ln>
                <a:solidFill>
                  <a:prstClr val="black"/>
                </a:solidFill>
                <a:effectLst/>
                <a:uLnTx/>
                <a:uFillTx/>
                <a:latin typeface="Calibri Light" panose="020F0302020204030204"/>
                <a:ea typeface="+mj-ea"/>
                <a:cs typeface="+mj-cs"/>
              </a:rPr>
            </a:br>
            <a:endParaRPr kumimoji="0" lang="en-US" sz="6000" b="1"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5" name="Subtitle 2">
            <a:extLst>
              <a:ext uri="{FF2B5EF4-FFF2-40B4-BE49-F238E27FC236}">
                <a16:creationId xmlns:a16="http://schemas.microsoft.com/office/drawing/2014/main" id="{596D3F27-F507-4390-BE16-5420493F33F5}"/>
              </a:ext>
            </a:extLst>
          </p:cNvPr>
          <p:cNvSpPr txBox="1">
            <a:spLocks/>
          </p:cNvSpPr>
          <p:nvPr/>
        </p:nvSpPr>
        <p:spPr>
          <a:xfrm>
            <a:off x="4172506" y="4643022"/>
            <a:ext cx="7738367" cy="1074197"/>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mn-ea"/>
                <a:cs typeface="+mn-cs"/>
              </a:rPr>
              <a:t>Chamara Disanayake</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Senior Lecturer</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Department of Network and Security</a:t>
            </a:r>
          </a:p>
        </p:txBody>
      </p:sp>
    </p:spTree>
    <p:extLst>
      <p:ext uri="{BB962C8B-B14F-4D97-AF65-F5344CB8AC3E}">
        <p14:creationId xmlns:p14="http://schemas.microsoft.com/office/powerpoint/2010/main" val="2267155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microscope, worktable&#10;&#10;Description automatically generated">
            <a:extLst>
              <a:ext uri="{FF2B5EF4-FFF2-40B4-BE49-F238E27FC236}">
                <a16:creationId xmlns:a16="http://schemas.microsoft.com/office/drawing/2014/main" id="{DBB66D88-9175-1E15-E245-1C93E4724C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9006" y="1"/>
            <a:ext cx="2626179" cy="1856792"/>
          </a:xfrm>
          <a:prstGeom prst="rect">
            <a:avLst/>
          </a:prstGeom>
        </p:spPr>
      </p:pic>
      <p:sp>
        <p:nvSpPr>
          <p:cNvPr id="2" name="Title 1">
            <a:extLst>
              <a:ext uri="{FF2B5EF4-FFF2-40B4-BE49-F238E27FC236}">
                <a16:creationId xmlns:a16="http://schemas.microsoft.com/office/drawing/2014/main" id="{F40A2D9C-2406-6B40-8F92-5E87CFAF622C}"/>
              </a:ext>
            </a:extLst>
          </p:cNvPr>
          <p:cNvSpPr>
            <a:spLocks noGrp="1"/>
          </p:cNvSpPr>
          <p:nvPr>
            <p:ph type="title"/>
          </p:nvPr>
        </p:nvSpPr>
        <p:spPr/>
        <p:txBody>
          <a:bodyPr/>
          <a:lstStyle/>
          <a:p>
            <a:r>
              <a:rPr lang="en-US" dirty="0"/>
              <a:t>Flash Back</a:t>
            </a:r>
          </a:p>
        </p:txBody>
      </p:sp>
      <p:sp>
        <p:nvSpPr>
          <p:cNvPr id="3" name="Content Placeholder 2">
            <a:extLst>
              <a:ext uri="{FF2B5EF4-FFF2-40B4-BE49-F238E27FC236}">
                <a16:creationId xmlns:a16="http://schemas.microsoft.com/office/drawing/2014/main" id="{413F9C91-55AE-6E07-DB58-C1ACB40B8822}"/>
              </a:ext>
            </a:extLst>
          </p:cNvPr>
          <p:cNvSpPr>
            <a:spLocks noGrp="1"/>
          </p:cNvSpPr>
          <p:nvPr>
            <p:ph idx="1"/>
          </p:nvPr>
        </p:nvSpPr>
        <p:spPr/>
        <p:txBody>
          <a:bodyPr>
            <a:normAutofit/>
          </a:bodyPr>
          <a:lstStyle/>
          <a:p>
            <a:r>
              <a:rPr lang="en-US" dirty="0"/>
              <a:t>Computer Networks – Basic infrastructure of the current facilities which has uplifted the lifestyle of the mankind.</a:t>
            </a:r>
          </a:p>
          <a:p>
            <a:endParaRPr lang="en-US" dirty="0"/>
          </a:p>
        </p:txBody>
      </p:sp>
      <p:sp>
        <p:nvSpPr>
          <p:cNvPr id="4" name="Slide Number Placeholder 3">
            <a:extLst>
              <a:ext uri="{FF2B5EF4-FFF2-40B4-BE49-F238E27FC236}">
                <a16:creationId xmlns:a16="http://schemas.microsoft.com/office/drawing/2014/main" id="{20BFA563-0621-C986-4BB0-2F9B0AE5E31E}"/>
              </a:ext>
            </a:extLst>
          </p:cNvPr>
          <p:cNvSpPr>
            <a:spLocks noGrp="1"/>
          </p:cNvSpPr>
          <p:nvPr>
            <p:ph type="sldNum" sz="quarter" idx="12"/>
          </p:nvPr>
        </p:nvSpPr>
        <p:spPr/>
        <p:txBody>
          <a:bodyPr/>
          <a:lstStyle/>
          <a:p>
            <a:fld id="{B74EB0F0-7D7E-412A-B235-20FE2876EE16}" type="slidenum">
              <a:rPr lang="en-US" smtClean="0"/>
              <a:t>2</a:t>
            </a:fld>
            <a:endParaRPr lang="en-US"/>
          </a:p>
        </p:txBody>
      </p:sp>
      <p:pic>
        <p:nvPicPr>
          <p:cNvPr id="6" name="Picture 5" descr="A black background with a black square&#10;&#10;Description automatically generated with medium confidence">
            <a:extLst>
              <a:ext uri="{FF2B5EF4-FFF2-40B4-BE49-F238E27FC236}">
                <a16:creationId xmlns:a16="http://schemas.microsoft.com/office/drawing/2014/main" id="{2DC05FF5-DA22-A1AA-8E3D-199BAB3EA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4135" y="169028"/>
            <a:ext cx="1199861" cy="1199861"/>
          </a:xfrm>
          <a:prstGeom prst="rect">
            <a:avLst/>
          </a:prstGeom>
        </p:spPr>
      </p:pic>
      <p:pic>
        <p:nvPicPr>
          <p:cNvPr id="7" name="Picture 6" descr="A picture containing text, indoor, several, worktable&#10;&#10;Description automatically generated">
            <a:extLst>
              <a:ext uri="{FF2B5EF4-FFF2-40B4-BE49-F238E27FC236}">
                <a16:creationId xmlns:a16="http://schemas.microsoft.com/office/drawing/2014/main" id="{7B91E230-D692-05BF-DE50-AEEA72881A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0875" y="2549991"/>
            <a:ext cx="1990531" cy="839755"/>
          </a:xfrm>
          <a:prstGeom prst="rect">
            <a:avLst/>
          </a:prstGeom>
        </p:spPr>
      </p:pic>
      <p:pic>
        <p:nvPicPr>
          <p:cNvPr id="8" name="Picture 7" descr="Diagram&#10;&#10;Description automatically generated">
            <a:extLst>
              <a:ext uri="{FF2B5EF4-FFF2-40B4-BE49-F238E27FC236}">
                <a16:creationId xmlns:a16="http://schemas.microsoft.com/office/drawing/2014/main" id="{5A21BB65-37A2-39A6-7722-59069AFC48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5952" y="3576719"/>
            <a:ext cx="1708114" cy="1050490"/>
          </a:xfrm>
          <a:prstGeom prst="rect">
            <a:avLst/>
          </a:prstGeom>
          <a:noFill/>
        </p:spPr>
      </p:pic>
      <p:sp>
        <p:nvSpPr>
          <p:cNvPr id="10" name="TextBox 9">
            <a:extLst>
              <a:ext uri="{FF2B5EF4-FFF2-40B4-BE49-F238E27FC236}">
                <a16:creationId xmlns:a16="http://schemas.microsoft.com/office/drawing/2014/main" id="{D4796B61-BAE1-B26A-76C2-486758C9B70C}"/>
              </a:ext>
            </a:extLst>
          </p:cNvPr>
          <p:cNvSpPr txBox="1"/>
          <p:nvPr/>
        </p:nvSpPr>
        <p:spPr>
          <a:xfrm>
            <a:off x="6340229" y="2745869"/>
            <a:ext cx="6097554" cy="3200876"/>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B050"/>
                </a:solidFill>
              </a:rPr>
              <a:t>Devices</a:t>
            </a:r>
          </a:p>
          <a:p>
            <a:pPr marL="742950" lvl="1" indent="-285750">
              <a:buFont typeface="Arial" panose="020B0604020202020204" pitchFamily="34" charset="0"/>
              <a:buChar char="•"/>
            </a:pPr>
            <a:r>
              <a:rPr lang="en-US" dirty="0"/>
              <a:t>Device Orientation</a:t>
            </a:r>
          </a:p>
          <a:p>
            <a:pPr marL="742950" lvl="1" indent="-285750">
              <a:buFont typeface="Arial" panose="020B0604020202020204" pitchFamily="34" charset="0"/>
              <a:buChar char="•"/>
            </a:pPr>
            <a:r>
              <a:rPr lang="en-US" dirty="0"/>
              <a:t>End Devices</a:t>
            </a:r>
          </a:p>
          <a:p>
            <a:pPr marL="1200150" lvl="2" indent="-285750">
              <a:buFont typeface="Arial" panose="020B0604020202020204" pitchFamily="34" charset="0"/>
              <a:buChar char="•"/>
            </a:pPr>
            <a:r>
              <a:rPr lang="en-US" sz="1600" dirty="0"/>
              <a:t>Devices which start and terminate the communication</a:t>
            </a:r>
          </a:p>
          <a:p>
            <a:pPr marL="742950" lvl="1" indent="-285750">
              <a:buFont typeface="Arial" panose="020B0604020202020204" pitchFamily="34" charset="0"/>
              <a:buChar char="•"/>
            </a:pPr>
            <a:r>
              <a:rPr lang="en-US" dirty="0"/>
              <a:t>Intermediary Devices</a:t>
            </a:r>
          </a:p>
          <a:p>
            <a:pPr marL="1200150" lvl="2" indent="-285750">
              <a:buFont typeface="Arial" panose="020B0604020202020204" pitchFamily="34" charset="0"/>
              <a:buChar char="•"/>
            </a:pPr>
            <a:r>
              <a:rPr lang="en-US" sz="1600" dirty="0"/>
              <a:t>Active and Passive Devices</a:t>
            </a:r>
          </a:p>
          <a:p>
            <a:pPr marL="285750" indent="-285750">
              <a:buFont typeface="Arial" panose="020B0604020202020204" pitchFamily="34" charset="0"/>
              <a:buChar char="•"/>
            </a:pPr>
            <a:r>
              <a:rPr lang="en-US" dirty="0">
                <a:solidFill>
                  <a:srgbClr val="FF0000"/>
                </a:solidFill>
              </a:rPr>
              <a:t>Designing a Network</a:t>
            </a:r>
          </a:p>
          <a:p>
            <a:pPr marL="742950" lvl="1" indent="-285750">
              <a:buFont typeface="Arial" panose="020B0604020202020204" pitchFamily="34" charset="0"/>
              <a:buChar char="•"/>
            </a:pPr>
            <a:r>
              <a:rPr lang="en-US" sz="1600" dirty="0"/>
              <a:t>Requirements for a Network</a:t>
            </a:r>
          </a:p>
          <a:p>
            <a:pPr marL="742950" lvl="1" indent="-285750">
              <a:buFont typeface="Arial" panose="020B0604020202020204" pitchFamily="34" charset="0"/>
              <a:buChar char="•"/>
            </a:pPr>
            <a:r>
              <a:rPr lang="en-US" sz="1600" dirty="0"/>
              <a:t>Outcomes</a:t>
            </a:r>
          </a:p>
          <a:p>
            <a:pPr marL="1200150" lvl="2" indent="-285750">
              <a:buFont typeface="Arial" panose="020B0604020202020204" pitchFamily="34" charset="0"/>
              <a:buChar char="•"/>
            </a:pPr>
            <a:r>
              <a:rPr lang="en-US" sz="1600" dirty="0"/>
              <a:t>Physical and Logical Design</a:t>
            </a:r>
          </a:p>
          <a:p>
            <a:pPr marL="742950" lvl="1" indent="-285750">
              <a:buFont typeface="Arial" panose="020B0604020202020204" pitchFamily="34" charset="0"/>
              <a:buChar char="•"/>
            </a:pPr>
            <a:r>
              <a:rPr lang="en-US" sz="1600" dirty="0"/>
              <a:t>Network Development Models</a:t>
            </a:r>
          </a:p>
          <a:p>
            <a:pPr marL="742950" lvl="1" indent="-285750">
              <a:buFont typeface="Arial" panose="020B0604020202020204" pitchFamily="34" charset="0"/>
              <a:buChar char="•"/>
            </a:pPr>
            <a:endParaRPr lang="en-US" sz="1600" dirty="0"/>
          </a:p>
        </p:txBody>
      </p:sp>
      <p:sp>
        <p:nvSpPr>
          <p:cNvPr id="12" name="TextBox 11">
            <a:extLst>
              <a:ext uri="{FF2B5EF4-FFF2-40B4-BE49-F238E27FC236}">
                <a16:creationId xmlns:a16="http://schemas.microsoft.com/office/drawing/2014/main" id="{559E876F-08D6-F0D3-4E10-62BD769D0C81}"/>
              </a:ext>
            </a:extLst>
          </p:cNvPr>
          <p:cNvSpPr txBox="1"/>
          <p:nvPr/>
        </p:nvSpPr>
        <p:spPr>
          <a:xfrm>
            <a:off x="811820" y="2726682"/>
            <a:ext cx="5683898" cy="3077766"/>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C00000"/>
                </a:solidFill>
              </a:rPr>
              <a:t>Five main components of a network communication</a:t>
            </a:r>
          </a:p>
          <a:p>
            <a:pPr marL="742950" lvl="1" indent="-285750">
              <a:buFont typeface="Arial" panose="020B0604020202020204" pitchFamily="34" charset="0"/>
              <a:buChar char="•"/>
            </a:pPr>
            <a:r>
              <a:rPr lang="en-US" dirty="0"/>
              <a:t>Sender, Receiver, Data (Message), Medium, Protocols</a:t>
            </a:r>
          </a:p>
          <a:p>
            <a:pPr marL="285750" indent="-285750">
              <a:buFont typeface="Arial" panose="020B0604020202020204" pitchFamily="34" charset="0"/>
              <a:buChar char="•"/>
            </a:pPr>
            <a:r>
              <a:rPr lang="en-US" dirty="0">
                <a:solidFill>
                  <a:srgbClr val="7030A0"/>
                </a:solidFill>
              </a:rPr>
              <a:t>Network Types</a:t>
            </a:r>
          </a:p>
          <a:p>
            <a:pPr marL="742950" lvl="1" indent="-285750">
              <a:buFont typeface="Arial" panose="020B0604020202020204" pitchFamily="34" charset="0"/>
              <a:buChar char="•"/>
            </a:pPr>
            <a:r>
              <a:rPr lang="en-US" dirty="0"/>
              <a:t>PAN &lt; LAN &lt; WAN</a:t>
            </a:r>
          </a:p>
          <a:p>
            <a:pPr marL="285750" indent="-285750">
              <a:buFont typeface="Arial" panose="020B0604020202020204" pitchFamily="34" charset="0"/>
              <a:buChar char="•"/>
            </a:pPr>
            <a:r>
              <a:rPr lang="en-US" dirty="0">
                <a:solidFill>
                  <a:srgbClr val="0070C0"/>
                </a:solidFill>
              </a:rPr>
              <a:t>Media</a:t>
            </a:r>
          </a:p>
          <a:p>
            <a:pPr marL="742950" lvl="1" indent="-285750">
              <a:buFont typeface="Arial" panose="020B0604020202020204" pitchFamily="34" charset="0"/>
              <a:buChar char="•"/>
            </a:pPr>
            <a:r>
              <a:rPr lang="en-US" dirty="0"/>
              <a:t>Guided Media</a:t>
            </a:r>
          </a:p>
          <a:p>
            <a:pPr marL="1200150" lvl="2" indent="-285750">
              <a:buFont typeface="Arial" panose="020B0604020202020204" pitchFamily="34" charset="0"/>
              <a:buChar char="•"/>
            </a:pPr>
            <a:r>
              <a:rPr lang="en-US" sz="1600" dirty="0"/>
              <a:t>Coaxial, UTP, Fiber</a:t>
            </a:r>
            <a:endParaRPr lang="en-US" dirty="0"/>
          </a:p>
          <a:p>
            <a:pPr marL="742950" lvl="1" indent="-285750">
              <a:buFont typeface="Arial" panose="020B0604020202020204" pitchFamily="34" charset="0"/>
              <a:buChar char="•"/>
            </a:pPr>
            <a:r>
              <a:rPr lang="en-US" dirty="0"/>
              <a:t>Unguided Media</a:t>
            </a:r>
          </a:p>
          <a:p>
            <a:pPr marL="1200150" lvl="2" indent="-285750">
              <a:buFont typeface="Arial" panose="020B0604020202020204" pitchFamily="34" charset="0"/>
              <a:buChar char="•"/>
            </a:pPr>
            <a:r>
              <a:rPr lang="en-US" sz="1600" dirty="0"/>
              <a:t>Wi-Fi, Mobile, Satellite, BT</a:t>
            </a:r>
            <a:endParaRPr lang="en-US" dirty="0"/>
          </a:p>
          <a:p>
            <a:pPr marL="285750" indent="-285750">
              <a:buFont typeface="Arial" panose="020B0604020202020204" pitchFamily="34" charset="0"/>
              <a:buChar char="•"/>
            </a:pPr>
            <a:endParaRPr lang="en-US" dirty="0"/>
          </a:p>
        </p:txBody>
      </p:sp>
      <p:pic>
        <p:nvPicPr>
          <p:cNvPr id="16" name="Picture 15">
            <a:extLst>
              <a:ext uri="{FF2B5EF4-FFF2-40B4-BE49-F238E27FC236}">
                <a16:creationId xmlns:a16="http://schemas.microsoft.com/office/drawing/2014/main" id="{6DE6E330-83E9-C5F1-608B-AB85367412DC}"/>
              </a:ext>
            </a:extLst>
          </p:cNvPr>
          <p:cNvPicPr>
            <a:picLocks noChangeAspect="1"/>
          </p:cNvPicPr>
          <p:nvPr/>
        </p:nvPicPr>
        <p:blipFill>
          <a:blip r:embed="rId6"/>
          <a:stretch>
            <a:fillRect/>
          </a:stretch>
        </p:blipFill>
        <p:spPr>
          <a:xfrm>
            <a:off x="10233175" y="4406028"/>
            <a:ext cx="1626033" cy="1316533"/>
          </a:xfrm>
          <a:prstGeom prst="rect">
            <a:avLst/>
          </a:prstGeom>
        </p:spPr>
      </p:pic>
      <p:pic>
        <p:nvPicPr>
          <p:cNvPr id="18" name="Picture 17">
            <a:extLst>
              <a:ext uri="{FF2B5EF4-FFF2-40B4-BE49-F238E27FC236}">
                <a16:creationId xmlns:a16="http://schemas.microsoft.com/office/drawing/2014/main" id="{71F536B8-7BAD-455A-A3CC-BA6DE8D3702E}"/>
              </a:ext>
            </a:extLst>
          </p:cNvPr>
          <p:cNvPicPr>
            <a:picLocks noChangeAspect="1"/>
          </p:cNvPicPr>
          <p:nvPr/>
        </p:nvPicPr>
        <p:blipFill>
          <a:blip r:embed="rId7"/>
          <a:stretch>
            <a:fillRect/>
          </a:stretch>
        </p:blipFill>
        <p:spPr>
          <a:xfrm>
            <a:off x="9931487" y="5504646"/>
            <a:ext cx="1110446" cy="1092536"/>
          </a:xfrm>
          <a:prstGeom prst="rect">
            <a:avLst/>
          </a:prstGeom>
        </p:spPr>
      </p:pic>
      <p:pic>
        <p:nvPicPr>
          <p:cNvPr id="19" name="Picture 18">
            <a:extLst>
              <a:ext uri="{FF2B5EF4-FFF2-40B4-BE49-F238E27FC236}">
                <a16:creationId xmlns:a16="http://schemas.microsoft.com/office/drawing/2014/main" id="{14C7399B-B3D6-CA5C-3448-E18DEE3A0A9B}"/>
              </a:ext>
            </a:extLst>
          </p:cNvPr>
          <p:cNvPicPr>
            <a:picLocks noChangeAspect="1"/>
          </p:cNvPicPr>
          <p:nvPr/>
        </p:nvPicPr>
        <p:blipFill>
          <a:blip r:embed="rId8"/>
          <a:stretch>
            <a:fillRect/>
          </a:stretch>
        </p:blipFill>
        <p:spPr>
          <a:xfrm>
            <a:off x="507075" y="4627209"/>
            <a:ext cx="975072" cy="1330773"/>
          </a:xfrm>
          <a:prstGeom prst="rect">
            <a:avLst/>
          </a:prstGeom>
        </p:spPr>
      </p:pic>
      <p:pic>
        <p:nvPicPr>
          <p:cNvPr id="20" name="Picture 19" descr="A picture containing electronics&#10;&#10;Description automatically generated">
            <a:extLst>
              <a:ext uri="{FF2B5EF4-FFF2-40B4-BE49-F238E27FC236}">
                <a16:creationId xmlns:a16="http://schemas.microsoft.com/office/drawing/2014/main" id="{841FF2A7-7826-ABCE-06C7-516177601CEA}"/>
              </a:ext>
            </a:extLst>
          </p:cNvPr>
          <p:cNvPicPr>
            <a:picLocks noChangeAspect="1"/>
          </p:cNvPicPr>
          <p:nvPr/>
        </p:nvPicPr>
        <p:blipFill rotWithShape="1">
          <a:blip r:embed="rId9">
            <a:extLst>
              <a:ext uri="{28A0092B-C50C-407E-A947-70E740481C1C}">
                <a14:useLocalDpi xmlns:a14="http://schemas.microsoft.com/office/drawing/2010/main" val="0"/>
              </a:ext>
            </a:extLst>
          </a:blip>
          <a:srcRect l="14555" t="26627" r="15333" b="29778"/>
          <a:stretch/>
        </p:blipFill>
        <p:spPr>
          <a:xfrm>
            <a:off x="9999270" y="3829524"/>
            <a:ext cx="584200" cy="272440"/>
          </a:xfrm>
          <a:prstGeom prst="rect">
            <a:avLst/>
          </a:prstGeom>
        </p:spPr>
      </p:pic>
      <p:pic>
        <p:nvPicPr>
          <p:cNvPr id="21" name="Picture 20" descr="A picture containing cable, connector&#10;&#10;Description automatically generated">
            <a:extLst>
              <a:ext uri="{FF2B5EF4-FFF2-40B4-BE49-F238E27FC236}">
                <a16:creationId xmlns:a16="http://schemas.microsoft.com/office/drawing/2014/main" id="{2EF771D1-EAAF-20E8-BD78-B7A68EE7B70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82833" y="3978163"/>
            <a:ext cx="974794" cy="974794"/>
          </a:xfrm>
          <a:prstGeom prst="rect">
            <a:avLst/>
          </a:prstGeom>
        </p:spPr>
      </p:pic>
      <p:pic>
        <p:nvPicPr>
          <p:cNvPr id="22" name="Picture 21">
            <a:extLst>
              <a:ext uri="{FF2B5EF4-FFF2-40B4-BE49-F238E27FC236}">
                <a16:creationId xmlns:a16="http://schemas.microsoft.com/office/drawing/2014/main" id="{82805F43-B142-FA9E-D536-2AA37B3D9048}"/>
              </a:ext>
            </a:extLst>
          </p:cNvPr>
          <p:cNvPicPr>
            <a:picLocks noChangeAspect="1"/>
          </p:cNvPicPr>
          <p:nvPr/>
        </p:nvPicPr>
        <p:blipFill>
          <a:blip r:embed="rId11"/>
          <a:stretch>
            <a:fillRect/>
          </a:stretch>
        </p:blipFill>
        <p:spPr>
          <a:xfrm>
            <a:off x="2624135" y="5846849"/>
            <a:ext cx="3657099" cy="349472"/>
          </a:xfrm>
          <a:prstGeom prst="rect">
            <a:avLst/>
          </a:prstGeom>
        </p:spPr>
      </p:pic>
    </p:spTree>
    <p:extLst>
      <p:ext uri="{BB962C8B-B14F-4D97-AF65-F5344CB8AC3E}">
        <p14:creationId xmlns:p14="http://schemas.microsoft.com/office/powerpoint/2010/main" val="2283802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0870B-4C99-4628-B3E9-082CD8F287CD}"/>
              </a:ext>
            </a:extLst>
          </p:cNvPr>
          <p:cNvSpPr>
            <a:spLocks noGrp="1"/>
          </p:cNvSpPr>
          <p:nvPr>
            <p:ph type="title"/>
          </p:nvPr>
        </p:nvSpPr>
        <p:spPr/>
        <p:txBody>
          <a:bodyPr/>
          <a:lstStyle/>
          <a:p>
            <a:r>
              <a:rPr lang="en-US" dirty="0"/>
              <a:t>Analyzing the requirements </a:t>
            </a:r>
          </a:p>
        </p:txBody>
      </p:sp>
      <p:sp>
        <p:nvSpPr>
          <p:cNvPr id="3" name="Content Placeholder 2">
            <a:extLst>
              <a:ext uri="{FF2B5EF4-FFF2-40B4-BE49-F238E27FC236}">
                <a16:creationId xmlns:a16="http://schemas.microsoft.com/office/drawing/2014/main" id="{0A492524-AE5B-4002-A8F2-2A5A3B831146}"/>
              </a:ext>
            </a:extLst>
          </p:cNvPr>
          <p:cNvSpPr>
            <a:spLocks noGrp="1"/>
          </p:cNvSpPr>
          <p:nvPr>
            <p:ph idx="1"/>
          </p:nvPr>
        </p:nvSpPr>
        <p:spPr>
          <a:xfrm>
            <a:off x="811820" y="1449171"/>
            <a:ext cx="10978103" cy="4583723"/>
          </a:xfrm>
        </p:spPr>
        <p:txBody>
          <a:bodyPr>
            <a:normAutofit/>
          </a:bodyPr>
          <a:lstStyle/>
          <a:p>
            <a:r>
              <a:rPr lang="en-US" sz="2800" dirty="0"/>
              <a:t>Identify the business goals</a:t>
            </a:r>
          </a:p>
          <a:p>
            <a:pPr lvl="1"/>
            <a:r>
              <a:rPr lang="en-US" sz="2600" dirty="0"/>
              <a:t>What the management needs to have?</a:t>
            </a:r>
          </a:p>
          <a:p>
            <a:r>
              <a:rPr lang="en-US" sz="2800" dirty="0"/>
              <a:t>Getting the Requirements</a:t>
            </a:r>
          </a:p>
          <a:p>
            <a:pPr lvl="1"/>
            <a:r>
              <a:rPr lang="en-US" sz="2600" dirty="0"/>
              <a:t>User / Application / Device and Network</a:t>
            </a:r>
          </a:p>
          <a:p>
            <a:r>
              <a:rPr lang="en-US" sz="2800" dirty="0"/>
              <a:t>Analyze them and build priority Metrix</a:t>
            </a:r>
          </a:p>
          <a:p>
            <a:r>
              <a:rPr lang="en-US" sz="2800" dirty="0"/>
              <a:t>Collect background of existing networks ( traffic plots /graphs /logs and projections)</a:t>
            </a:r>
          </a:p>
          <a:p>
            <a:r>
              <a:rPr lang="en-US" sz="2800" dirty="0"/>
              <a:t>Analyze the technical options and set tradeoffs</a:t>
            </a:r>
          </a:p>
          <a:p>
            <a:endParaRPr lang="en-US" sz="3200" dirty="0"/>
          </a:p>
        </p:txBody>
      </p:sp>
    </p:spTree>
    <p:extLst>
      <p:ext uri="{BB962C8B-B14F-4D97-AF65-F5344CB8AC3E}">
        <p14:creationId xmlns:p14="http://schemas.microsoft.com/office/powerpoint/2010/main" val="1057177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en-US" dirty="0"/>
              <a:t>Requirements</a:t>
            </a:r>
          </a:p>
        </p:txBody>
      </p:sp>
      <p:pic>
        <p:nvPicPr>
          <p:cNvPr id="3" name="Picture 2" descr="Chart&#10;&#10;Description automatically generated">
            <a:extLst>
              <a:ext uri="{FF2B5EF4-FFF2-40B4-BE49-F238E27FC236}">
                <a16:creationId xmlns:a16="http://schemas.microsoft.com/office/drawing/2014/main" id="{71A8EA4C-7194-431F-9E3C-ECF005DB4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4053" y="2064775"/>
            <a:ext cx="5880202" cy="2973702"/>
          </a:xfrm>
          <a:prstGeom prst="rect">
            <a:avLst/>
          </a:prstGeom>
        </p:spPr>
      </p:pic>
      <p:sp>
        <p:nvSpPr>
          <p:cNvPr id="23558" name="Rectangle 3"/>
          <p:cNvSpPr>
            <a:spLocks noGrp="1" noChangeArrowheads="1"/>
          </p:cNvSpPr>
          <p:nvPr>
            <p:ph idx="1"/>
          </p:nvPr>
        </p:nvSpPr>
        <p:spPr>
          <a:xfrm>
            <a:off x="702013" y="1558804"/>
            <a:ext cx="10515600" cy="4351338"/>
          </a:xfrm>
        </p:spPr>
        <p:txBody>
          <a:bodyPr>
            <a:normAutofit/>
          </a:bodyPr>
          <a:lstStyle/>
          <a:p>
            <a:pPr eaLnBrk="1" hangingPunct="1"/>
            <a:r>
              <a:rPr lang="en-US" altLang="en-US" sz="3200" dirty="0"/>
              <a:t>Needs to Identify the requirements  before Planning and designing </a:t>
            </a:r>
          </a:p>
          <a:p>
            <a:pPr eaLnBrk="1" hangingPunct="1"/>
            <a:r>
              <a:rPr lang="en-US" altLang="en-US" sz="3200" dirty="0"/>
              <a:t>The process involve. </a:t>
            </a:r>
          </a:p>
          <a:p>
            <a:pPr lvl="1"/>
            <a:r>
              <a:rPr lang="en-US" altLang="en-US" dirty="0"/>
              <a:t>Identify requirements </a:t>
            </a:r>
          </a:p>
          <a:p>
            <a:pPr lvl="1"/>
            <a:r>
              <a:rPr lang="en-US" altLang="en-US" dirty="0"/>
              <a:t>Gather all requirements </a:t>
            </a:r>
          </a:p>
          <a:p>
            <a:pPr lvl="1"/>
            <a:r>
              <a:rPr lang="en-US" altLang="en-US" dirty="0"/>
              <a:t>Classification and prioritized of requirements.</a:t>
            </a:r>
          </a:p>
          <a:p>
            <a:pPr lvl="1"/>
            <a:r>
              <a:rPr lang="en-US" altLang="en-US" dirty="0"/>
              <a:t>Verify requirements and Priority</a:t>
            </a:r>
          </a:p>
          <a:p>
            <a:pPr lvl="1"/>
            <a:r>
              <a:rPr lang="en-US" altLang="en-US" dirty="0"/>
              <a:t>Address them accordingly in the designing</a:t>
            </a:r>
            <a:endParaRPr lang="en-US" altLang="en-US" sz="3200" dirty="0"/>
          </a:p>
          <a:p>
            <a:pPr eaLnBrk="1" hangingPunct="1"/>
            <a:endParaRPr lang="en-US" altLang="en-US" sz="3600" dirty="0"/>
          </a:p>
          <a:p>
            <a:pPr eaLnBrk="1" hangingPunct="1"/>
            <a:endParaRPr lang="en-US" altLang="en-US" sz="3600" dirty="0"/>
          </a:p>
        </p:txBody>
      </p:sp>
    </p:spTree>
    <p:extLst>
      <p:ext uri="{BB962C8B-B14F-4D97-AF65-F5344CB8AC3E}">
        <p14:creationId xmlns:p14="http://schemas.microsoft.com/office/powerpoint/2010/main" val="29080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altLang="en-US" dirty="0"/>
              <a:t>Identification of Requirements</a:t>
            </a:r>
          </a:p>
        </p:txBody>
      </p:sp>
      <p:sp>
        <p:nvSpPr>
          <p:cNvPr id="24582" name="Rectangle 3"/>
          <p:cNvSpPr>
            <a:spLocks noGrp="1" noChangeArrowheads="1"/>
          </p:cNvSpPr>
          <p:nvPr>
            <p:ph idx="1"/>
          </p:nvPr>
        </p:nvSpPr>
        <p:spPr>
          <a:xfrm>
            <a:off x="811820" y="1540189"/>
            <a:ext cx="10676546" cy="3975394"/>
          </a:xfrm>
        </p:spPr>
        <p:txBody>
          <a:bodyPr>
            <a:normAutofit lnSpcReduction="10000"/>
          </a:bodyPr>
          <a:lstStyle/>
          <a:p>
            <a:pPr eaLnBrk="1" hangingPunct="1"/>
            <a:r>
              <a:rPr lang="en-US" altLang="en-US" sz="3200" dirty="0"/>
              <a:t>Requirements can come from many aspects of the network system</a:t>
            </a:r>
          </a:p>
          <a:p>
            <a:pPr marL="457200" lvl="1" indent="0">
              <a:buNone/>
            </a:pPr>
            <a:r>
              <a:rPr lang="en-US" altLang="en-US" sz="3000" dirty="0"/>
              <a:t>Consider the </a:t>
            </a:r>
            <a:r>
              <a:rPr lang="en-US" altLang="en-US" sz="3000" dirty="0">
                <a:solidFill>
                  <a:srgbClr val="0070C0"/>
                </a:solidFill>
              </a:rPr>
              <a:t>Computer Network </a:t>
            </a:r>
            <a:r>
              <a:rPr lang="en-US" altLang="en-US" sz="3000" dirty="0"/>
              <a:t>is like the </a:t>
            </a:r>
            <a:r>
              <a:rPr lang="en-US" altLang="en-US" sz="3000" dirty="0">
                <a:solidFill>
                  <a:srgbClr val="C00000"/>
                </a:solidFill>
              </a:rPr>
              <a:t>Road Network</a:t>
            </a:r>
          </a:p>
          <a:p>
            <a:pPr lvl="1" eaLnBrk="1" hangingPunct="1"/>
            <a:r>
              <a:rPr lang="en-US" altLang="en-US" dirty="0"/>
              <a:t>User Requirements </a:t>
            </a:r>
          </a:p>
          <a:p>
            <a:pPr lvl="1" eaLnBrk="1" hangingPunct="1"/>
            <a:r>
              <a:rPr lang="en-US" altLang="en-US" dirty="0"/>
              <a:t>Application Requirements </a:t>
            </a:r>
          </a:p>
          <a:p>
            <a:pPr lvl="1" eaLnBrk="1" hangingPunct="1"/>
            <a:r>
              <a:rPr lang="en-US" altLang="en-US" dirty="0"/>
              <a:t>Device Requirements </a:t>
            </a:r>
          </a:p>
          <a:p>
            <a:pPr lvl="1" eaLnBrk="1" hangingPunct="1"/>
            <a:r>
              <a:rPr lang="en-US" altLang="en-US" dirty="0"/>
              <a:t>Network Requirements </a:t>
            </a:r>
          </a:p>
          <a:p>
            <a:pPr lvl="1" eaLnBrk="1" hangingPunct="1"/>
            <a:r>
              <a:rPr lang="en-US" altLang="en-US" dirty="0"/>
              <a:t>Other Requirements </a:t>
            </a:r>
          </a:p>
          <a:p>
            <a:pPr lvl="1"/>
            <a:r>
              <a:rPr lang="en-US" altLang="en-US" dirty="0"/>
              <a:t>Technological Trends</a:t>
            </a:r>
          </a:p>
        </p:txBody>
      </p:sp>
    </p:spTree>
    <p:extLst>
      <p:ext uri="{BB962C8B-B14F-4D97-AF65-F5344CB8AC3E}">
        <p14:creationId xmlns:p14="http://schemas.microsoft.com/office/powerpoint/2010/main" val="3825252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2DE5-39C0-4FEE-929E-BAB8FE974A50}"/>
              </a:ext>
            </a:extLst>
          </p:cNvPr>
          <p:cNvSpPr>
            <a:spLocks noGrp="1"/>
          </p:cNvSpPr>
          <p:nvPr>
            <p:ph type="title"/>
          </p:nvPr>
        </p:nvSpPr>
        <p:spPr/>
        <p:txBody>
          <a:bodyPr/>
          <a:lstStyle/>
          <a:p>
            <a:r>
              <a:rPr lang="en-US" altLang="en-US" dirty="0"/>
              <a:t>Requirements Analysis</a:t>
            </a:r>
            <a:endParaRPr lang="en-US" dirty="0"/>
          </a:p>
        </p:txBody>
      </p:sp>
      <p:sp>
        <p:nvSpPr>
          <p:cNvPr id="4" name="Rectangle 3">
            <a:extLst>
              <a:ext uri="{FF2B5EF4-FFF2-40B4-BE49-F238E27FC236}">
                <a16:creationId xmlns:a16="http://schemas.microsoft.com/office/drawing/2014/main" id="{4DB00DCA-FEC6-4B9B-8A87-6AB6DCCFE4AE}"/>
              </a:ext>
            </a:extLst>
          </p:cNvPr>
          <p:cNvSpPr>
            <a:spLocks noGrp="1" noChangeArrowheads="1"/>
          </p:cNvSpPr>
          <p:nvPr>
            <p:ph idx="1"/>
          </p:nvPr>
        </p:nvSpPr>
        <p:spPr>
          <a:xfrm>
            <a:off x="811820" y="1558804"/>
            <a:ext cx="7232954" cy="4780450"/>
          </a:xfrm>
        </p:spPr>
        <p:txBody>
          <a:bodyPr>
            <a:normAutofit/>
          </a:bodyPr>
          <a:lstStyle/>
          <a:p>
            <a:pPr eaLnBrk="1" hangingPunct="1">
              <a:lnSpc>
                <a:spcPct val="90000"/>
              </a:lnSpc>
            </a:pPr>
            <a:r>
              <a:rPr lang="en-US" altLang="en-US" sz="2800" dirty="0"/>
              <a:t>How do we describe requirements for a network?</a:t>
            </a:r>
          </a:p>
          <a:p>
            <a:pPr lvl="1"/>
            <a:r>
              <a:rPr lang="en-US" altLang="en-US" sz="2600" dirty="0"/>
              <a:t>Users are the main key .</a:t>
            </a:r>
          </a:p>
          <a:p>
            <a:pPr lvl="1"/>
            <a:r>
              <a:rPr lang="en-US" altLang="en-US" sz="2600" dirty="0"/>
              <a:t>Difficult to provide all the requirements.</a:t>
            </a:r>
          </a:p>
          <a:p>
            <a:pPr lvl="1"/>
            <a:r>
              <a:rPr lang="en-US" altLang="en-US" sz="2600" dirty="0"/>
              <a:t>Must address common ones first.</a:t>
            </a:r>
          </a:p>
          <a:p>
            <a:pPr lvl="1"/>
            <a:r>
              <a:rPr lang="en-US" altLang="en-US" sz="2600" dirty="0"/>
              <a:t>Speed is a common topic but depend </a:t>
            </a:r>
            <a:r>
              <a:rPr lang="en-US" altLang="en-US" sz="2800" dirty="0"/>
              <a:t>on multiple factors from user  perception to hardware. </a:t>
            </a:r>
          </a:p>
        </p:txBody>
      </p:sp>
      <p:pic>
        <p:nvPicPr>
          <p:cNvPr id="8" name="Picture 7" descr="Diagram&#10;&#10;Description automatically generated">
            <a:extLst>
              <a:ext uri="{FF2B5EF4-FFF2-40B4-BE49-F238E27FC236}">
                <a16:creationId xmlns:a16="http://schemas.microsoft.com/office/drawing/2014/main" id="{C0882045-D1A8-43E3-A761-66B6F1DA2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7841" y="1881853"/>
            <a:ext cx="4586998" cy="3860185"/>
          </a:xfrm>
          <a:prstGeom prst="rect">
            <a:avLst/>
          </a:prstGeom>
        </p:spPr>
      </p:pic>
    </p:spTree>
    <p:extLst>
      <p:ext uri="{BB962C8B-B14F-4D97-AF65-F5344CB8AC3E}">
        <p14:creationId xmlns:p14="http://schemas.microsoft.com/office/powerpoint/2010/main" val="199799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B5761F4-B64F-46E3-B31A-389F4F3B72BD}"/>
              </a:ext>
            </a:extLst>
          </p:cNvPr>
          <p:cNvPicPr>
            <a:picLocks noChangeAspect="1"/>
          </p:cNvPicPr>
          <p:nvPr/>
        </p:nvPicPr>
        <p:blipFill>
          <a:blip r:embed="rId2"/>
          <a:stretch>
            <a:fillRect/>
          </a:stretch>
        </p:blipFill>
        <p:spPr>
          <a:xfrm>
            <a:off x="7232815" y="2261680"/>
            <a:ext cx="4282811" cy="2972058"/>
          </a:xfrm>
          <a:prstGeom prst="rect">
            <a:avLst/>
          </a:prstGeom>
        </p:spPr>
      </p:pic>
      <p:sp>
        <p:nvSpPr>
          <p:cNvPr id="3" name="Content Placeholder 2">
            <a:extLst>
              <a:ext uri="{FF2B5EF4-FFF2-40B4-BE49-F238E27FC236}">
                <a16:creationId xmlns:a16="http://schemas.microsoft.com/office/drawing/2014/main" id="{ABE248A4-DF49-4874-8A71-EE21193F40FB}"/>
              </a:ext>
            </a:extLst>
          </p:cNvPr>
          <p:cNvSpPr>
            <a:spLocks noGrp="1"/>
          </p:cNvSpPr>
          <p:nvPr>
            <p:ph sz="half" idx="1"/>
          </p:nvPr>
        </p:nvSpPr>
        <p:spPr>
          <a:xfrm>
            <a:off x="838200" y="1825625"/>
            <a:ext cx="5181600" cy="4351338"/>
          </a:xfrm>
        </p:spPr>
        <p:txBody>
          <a:bodyPr>
            <a:normAutofit/>
          </a:bodyPr>
          <a:lstStyle/>
          <a:p>
            <a:r>
              <a:rPr lang="en-US" sz="2400"/>
              <a:t>The term </a:t>
            </a:r>
            <a:r>
              <a:rPr lang="en-US" sz="2400" i="1"/>
              <a:t>user</a:t>
            </a:r>
            <a:r>
              <a:rPr lang="en-US" sz="2400"/>
              <a:t> represents primarily the end users of the system</a:t>
            </a:r>
          </a:p>
          <a:p>
            <a:pPr lvl="1"/>
            <a:r>
              <a:rPr lang="en-US" dirty="0"/>
              <a:t>It can be expanded to include everyone involved in the system, such as network and system administrators and management. </a:t>
            </a:r>
          </a:p>
          <a:p>
            <a:r>
              <a:rPr lang="en-US" sz="2400" i="1"/>
              <a:t>User requirements</a:t>
            </a:r>
            <a:r>
              <a:rPr lang="en-US" sz="2400"/>
              <a:t> is the set of requirements gathered or derived from user input and is what is needed by users to successfully accomplish their tasks on the system.</a:t>
            </a:r>
          </a:p>
        </p:txBody>
      </p:sp>
      <p:sp>
        <p:nvSpPr>
          <p:cNvPr id="4" name="Slide Number Placeholder 3">
            <a:extLst>
              <a:ext uri="{FF2B5EF4-FFF2-40B4-BE49-F238E27FC236}">
                <a16:creationId xmlns:a16="http://schemas.microsoft.com/office/drawing/2014/main" id="{B9F7BFA2-8B5C-4319-885A-44F15FE96BB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74EB0F0-7D7E-412A-B235-20FE2876EE16}" type="slidenum">
              <a:rPr lang="en-US" smtClean="0"/>
              <a:pPr>
                <a:spcAft>
                  <a:spcPts val="600"/>
                </a:spcAft>
              </a:pPr>
              <a:t>7</a:t>
            </a:fld>
            <a:endParaRPr lang="en-US"/>
          </a:p>
        </p:txBody>
      </p:sp>
      <p:sp>
        <p:nvSpPr>
          <p:cNvPr id="2" name="Title 1">
            <a:extLst>
              <a:ext uri="{FF2B5EF4-FFF2-40B4-BE49-F238E27FC236}">
                <a16:creationId xmlns:a16="http://schemas.microsoft.com/office/drawing/2014/main" id="{9EF4C461-DAF0-4C31-9938-4CCA067054EA}"/>
              </a:ext>
            </a:extLst>
          </p:cNvPr>
          <p:cNvSpPr>
            <a:spLocks noGrp="1"/>
          </p:cNvSpPr>
          <p:nvPr>
            <p:ph type="title"/>
          </p:nvPr>
        </p:nvSpPr>
        <p:spPr>
          <a:xfrm>
            <a:off x="811820" y="518746"/>
            <a:ext cx="10515600" cy="1040058"/>
          </a:xfrm>
        </p:spPr>
        <p:txBody>
          <a:bodyPr anchor="ctr">
            <a:normAutofit/>
          </a:bodyPr>
          <a:lstStyle/>
          <a:p>
            <a:r>
              <a:rPr lang="en-US" dirty="0"/>
              <a:t>User Requirements</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0399F5DC-8F8A-47D6-8F68-B30C05E281B4}"/>
                  </a:ext>
                </a:extLst>
              </p14:cNvPr>
              <p14:cNvContentPartPr/>
              <p14:nvPr/>
            </p14:nvContentPartPr>
            <p14:xfrm>
              <a:off x="9231325" y="2444509"/>
              <a:ext cx="1697040" cy="2606400"/>
            </p14:xfrm>
          </p:contentPart>
        </mc:Choice>
        <mc:Fallback xmlns="">
          <p:pic>
            <p:nvPicPr>
              <p:cNvPr id="8" name="Ink 7">
                <a:extLst>
                  <a:ext uri="{FF2B5EF4-FFF2-40B4-BE49-F238E27FC236}">
                    <a16:creationId xmlns:a16="http://schemas.microsoft.com/office/drawing/2014/main" id="{0399F5DC-8F8A-47D6-8F68-B30C05E281B4}"/>
                  </a:ext>
                </a:extLst>
              </p:cNvPr>
              <p:cNvPicPr/>
              <p:nvPr/>
            </p:nvPicPr>
            <p:blipFill>
              <a:blip r:embed="rId4"/>
              <a:stretch>
                <a:fillRect/>
              </a:stretch>
            </p:blipFill>
            <p:spPr>
              <a:xfrm>
                <a:off x="9195685" y="2372869"/>
                <a:ext cx="1768680" cy="2750040"/>
              </a:xfrm>
              <a:prstGeom prst="rect">
                <a:avLst/>
              </a:prstGeom>
            </p:spPr>
          </p:pic>
        </mc:Fallback>
      </mc:AlternateContent>
      <p:sp>
        <p:nvSpPr>
          <p:cNvPr id="12" name="TextBox 11">
            <a:extLst>
              <a:ext uri="{FF2B5EF4-FFF2-40B4-BE49-F238E27FC236}">
                <a16:creationId xmlns:a16="http://schemas.microsoft.com/office/drawing/2014/main" id="{674D6BB9-F16E-4573-B711-3358A804E5A0}"/>
              </a:ext>
            </a:extLst>
          </p:cNvPr>
          <p:cNvSpPr txBox="1"/>
          <p:nvPr/>
        </p:nvSpPr>
        <p:spPr>
          <a:xfrm>
            <a:off x="6184136" y="1640959"/>
            <a:ext cx="6094378" cy="369332"/>
          </a:xfrm>
          <a:prstGeom prst="rect">
            <a:avLst/>
          </a:prstGeom>
          <a:noFill/>
        </p:spPr>
        <p:txBody>
          <a:bodyPr wrap="square">
            <a:spAutoFit/>
          </a:bodyPr>
          <a:lstStyle/>
          <a:p>
            <a:r>
              <a:rPr lang="en-US" sz="1800" b="0" i="0" u="none" strike="noStrike" baseline="0" dirty="0">
                <a:solidFill>
                  <a:srgbClr val="C00000"/>
                </a:solidFill>
                <a:latin typeface="inbemr-n"/>
              </a:rPr>
              <a:t>“What does it take to get the job done?”</a:t>
            </a:r>
            <a:endParaRPr lang="en-US" dirty="0">
              <a:solidFill>
                <a:srgbClr val="C00000"/>
              </a:solidFill>
            </a:endParaRPr>
          </a:p>
        </p:txBody>
      </p:sp>
    </p:spTree>
    <p:extLst>
      <p:ext uri="{BB962C8B-B14F-4D97-AF65-F5344CB8AC3E}">
        <p14:creationId xmlns:p14="http://schemas.microsoft.com/office/powerpoint/2010/main" val="345948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2000" fill="hold"/>
                                        <p:tgtEl>
                                          <p:spTgt spid="8"/>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38ADA84-71EC-BF9B-98FD-5331B5023F92}"/>
              </a:ext>
            </a:extLst>
          </p:cNvPr>
          <p:cNvPicPr>
            <a:picLocks noChangeAspect="1"/>
          </p:cNvPicPr>
          <p:nvPr/>
        </p:nvPicPr>
        <p:blipFill rotWithShape="1">
          <a:blip r:embed="rId2"/>
          <a:srcRect l="45543" r="16806"/>
          <a:stretch/>
        </p:blipFill>
        <p:spPr>
          <a:xfrm>
            <a:off x="10579510" y="118020"/>
            <a:ext cx="1612490" cy="2972058"/>
          </a:xfrm>
          <a:prstGeom prst="rect">
            <a:avLst/>
          </a:prstGeom>
        </p:spPr>
      </p:pic>
      <p:sp>
        <p:nvSpPr>
          <p:cNvPr id="6" name="Title 5">
            <a:extLst>
              <a:ext uri="{FF2B5EF4-FFF2-40B4-BE49-F238E27FC236}">
                <a16:creationId xmlns:a16="http://schemas.microsoft.com/office/drawing/2014/main" id="{36893163-7F28-C76F-0FD1-4BF860ECB55B}"/>
              </a:ext>
            </a:extLst>
          </p:cNvPr>
          <p:cNvSpPr>
            <a:spLocks noGrp="1"/>
          </p:cNvSpPr>
          <p:nvPr>
            <p:ph type="title"/>
          </p:nvPr>
        </p:nvSpPr>
        <p:spPr/>
        <p:txBody>
          <a:bodyPr/>
          <a:lstStyle/>
          <a:p>
            <a:r>
              <a:rPr lang="en-US" dirty="0"/>
              <a:t>User Requirements</a:t>
            </a:r>
          </a:p>
        </p:txBody>
      </p:sp>
      <p:sp>
        <p:nvSpPr>
          <p:cNvPr id="7" name="Content Placeholder 6">
            <a:extLst>
              <a:ext uri="{FF2B5EF4-FFF2-40B4-BE49-F238E27FC236}">
                <a16:creationId xmlns:a16="http://schemas.microsoft.com/office/drawing/2014/main" id="{FB69084C-6851-A921-9951-B06FABF744B2}"/>
              </a:ext>
            </a:extLst>
          </p:cNvPr>
          <p:cNvSpPr>
            <a:spLocks noGrp="1"/>
          </p:cNvSpPr>
          <p:nvPr>
            <p:ph idx="1"/>
          </p:nvPr>
        </p:nvSpPr>
        <p:spPr>
          <a:xfrm>
            <a:off x="533400" y="1649279"/>
            <a:ext cx="10515600" cy="4351338"/>
          </a:xfrm>
        </p:spPr>
        <p:txBody>
          <a:bodyPr/>
          <a:lstStyle/>
          <a:p>
            <a:r>
              <a:rPr lang="en-US" sz="2800" i="1" dirty="0">
                <a:solidFill>
                  <a:srgbClr val="00B050"/>
                </a:solidFill>
              </a:rPr>
              <a:t>Timeliness</a:t>
            </a:r>
            <a:r>
              <a:rPr lang="en-US" sz="2800" dirty="0"/>
              <a:t> is a requirement that the user is able to access, transfer, or modify information within a tolerable time frame. </a:t>
            </a:r>
          </a:p>
          <a:p>
            <a:pPr lvl="1"/>
            <a:r>
              <a:rPr lang="en-US" sz="2400" dirty="0"/>
              <a:t>E.g.: User may want to download a file and process and upload it within 10 minutes</a:t>
            </a:r>
          </a:p>
          <a:p>
            <a:r>
              <a:rPr lang="en-US" sz="2800" i="1" dirty="0">
                <a:solidFill>
                  <a:srgbClr val="0070C0"/>
                </a:solidFill>
              </a:rPr>
              <a:t>Interactivity</a:t>
            </a:r>
            <a:r>
              <a:rPr lang="en-US" sz="2800" dirty="0"/>
              <a:t> is similar to timeliness but focuses on a response time from the system </a:t>
            </a:r>
          </a:p>
          <a:p>
            <a:pPr lvl="1"/>
            <a:r>
              <a:rPr lang="en-US" sz="2400" dirty="0"/>
              <a:t>User may need to do an online quiz within 10 minutes which needs answer selection, submission, loading new question etc.</a:t>
            </a:r>
          </a:p>
          <a:p>
            <a:r>
              <a:rPr lang="en-US" sz="2600" i="1" dirty="0">
                <a:solidFill>
                  <a:srgbClr val="FFC000"/>
                </a:solidFill>
              </a:rPr>
              <a:t>Adaptability</a:t>
            </a:r>
            <a:r>
              <a:rPr lang="en-US" sz="2600" dirty="0"/>
              <a:t> is the ability of the system to adapt to users' changing needs.</a:t>
            </a:r>
          </a:p>
          <a:p>
            <a:pPr lvl="1"/>
            <a:r>
              <a:rPr lang="en-US" sz="2400" dirty="0"/>
              <a:t>Examples are in distance-independence and mobility. </a:t>
            </a:r>
          </a:p>
          <a:p>
            <a:endParaRPr lang="en-US" dirty="0"/>
          </a:p>
        </p:txBody>
      </p:sp>
      <p:sp>
        <p:nvSpPr>
          <p:cNvPr id="4" name="Slide Number Placeholder 3">
            <a:extLst>
              <a:ext uri="{FF2B5EF4-FFF2-40B4-BE49-F238E27FC236}">
                <a16:creationId xmlns:a16="http://schemas.microsoft.com/office/drawing/2014/main" id="{8334F541-404E-E05E-10A5-67D3D2555DC7}"/>
              </a:ext>
            </a:extLst>
          </p:cNvPr>
          <p:cNvSpPr>
            <a:spLocks noGrp="1"/>
          </p:cNvSpPr>
          <p:nvPr>
            <p:ph type="sldNum" sz="quarter" idx="12"/>
          </p:nvPr>
        </p:nvSpPr>
        <p:spPr/>
        <p:txBody>
          <a:bodyPr/>
          <a:lstStyle/>
          <a:p>
            <a:fld id="{B74EB0F0-7D7E-412A-B235-20FE2876EE16}" type="slidenum">
              <a:rPr lang="en-US" smtClean="0"/>
              <a:t>8</a:t>
            </a:fld>
            <a:endParaRPr lang="en-US"/>
          </a:p>
        </p:txBody>
      </p:sp>
    </p:spTree>
    <p:extLst>
      <p:ext uri="{BB962C8B-B14F-4D97-AF65-F5344CB8AC3E}">
        <p14:creationId xmlns:p14="http://schemas.microsoft.com/office/powerpoint/2010/main" val="1438531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sz="half" idx="1"/>
          </p:nvPr>
        </p:nvSpPr>
        <p:spPr>
          <a:xfrm>
            <a:off x="838200" y="1825625"/>
            <a:ext cx="5181600" cy="4351338"/>
          </a:xfrm>
        </p:spPr>
        <p:txBody>
          <a:bodyPr>
            <a:normAutofit/>
          </a:bodyPr>
          <a:lstStyle/>
          <a:p>
            <a:pPr eaLnBrk="1" hangingPunct="1"/>
            <a:r>
              <a:rPr lang="en-US" altLang="en-US" sz="2600" dirty="0"/>
              <a:t>What types of apps are we using?</a:t>
            </a:r>
          </a:p>
          <a:p>
            <a:pPr lvl="1" eaLnBrk="1" hangingPunct="1"/>
            <a:r>
              <a:rPr lang="en-US" altLang="en-US" sz="2600" dirty="0"/>
              <a:t>Mission-critical</a:t>
            </a:r>
          </a:p>
          <a:p>
            <a:pPr lvl="1" eaLnBrk="1" hangingPunct="1"/>
            <a:r>
              <a:rPr lang="en-US" altLang="en-US" sz="2600" dirty="0"/>
              <a:t>Rate-critical</a:t>
            </a:r>
          </a:p>
          <a:p>
            <a:pPr lvl="1" eaLnBrk="1" hangingPunct="1"/>
            <a:r>
              <a:rPr lang="en-US" altLang="en-US" sz="2600" dirty="0"/>
              <a:t>Real-time and/or interactive (Delay Sensitive)</a:t>
            </a:r>
          </a:p>
          <a:p>
            <a:pPr eaLnBrk="1" hangingPunct="1"/>
            <a:r>
              <a:rPr lang="en-US" altLang="en-US" sz="2600" dirty="0"/>
              <a:t>How sensitive are apps to RMA (</a:t>
            </a:r>
            <a:r>
              <a:rPr lang="en-US" altLang="en-US" sz="2600" dirty="0">
                <a:solidFill>
                  <a:srgbClr val="0070C0"/>
                </a:solidFill>
              </a:rPr>
              <a:t>Reliability, Maintainability, Availability</a:t>
            </a:r>
            <a:r>
              <a:rPr lang="en-US" altLang="en-US" sz="2600" dirty="0"/>
              <a:t>) of the network?</a:t>
            </a:r>
          </a:p>
          <a:p>
            <a:pPr eaLnBrk="1" hangingPunct="1"/>
            <a:r>
              <a:rPr lang="en-US" altLang="en-US" sz="2600" dirty="0"/>
              <a:t>What capacity is needed?</a:t>
            </a:r>
          </a:p>
          <a:p>
            <a:pPr eaLnBrk="1" hangingPunct="1"/>
            <a:r>
              <a:rPr lang="en-US" altLang="en-US" sz="2600" dirty="0"/>
              <a:t>What delay time is acceptable?</a:t>
            </a:r>
          </a:p>
        </p:txBody>
      </p:sp>
      <p:pic>
        <p:nvPicPr>
          <p:cNvPr id="3" name="Picture 2" descr="Shape&#10;&#10;Description automatically generated">
            <a:extLst>
              <a:ext uri="{FF2B5EF4-FFF2-40B4-BE49-F238E27FC236}">
                <a16:creationId xmlns:a16="http://schemas.microsoft.com/office/drawing/2014/main" id="{8F5EB72B-A11F-43E8-B718-61933DA44C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6719" y="3372801"/>
            <a:ext cx="4714332" cy="3441751"/>
          </a:xfrm>
          <a:prstGeom prst="rect">
            <a:avLst/>
          </a:prstGeom>
          <a:noFill/>
        </p:spPr>
      </p:pic>
      <p:sp>
        <p:nvSpPr>
          <p:cNvPr id="75" name="Slide Number Placeholder 3">
            <a:extLst>
              <a:ext uri="{FF2B5EF4-FFF2-40B4-BE49-F238E27FC236}">
                <a16:creationId xmlns:a16="http://schemas.microsoft.com/office/drawing/2014/main" id="{B78102D7-7406-4400-A5DB-5A61832DE845}"/>
              </a:ext>
            </a:extLst>
          </p:cNvPr>
          <p:cNvSpPr>
            <a:spLocks noGrp="1"/>
          </p:cNvSpPr>
          <p:nvPr>
            <p:ph type="sldNum" sz="quarter" idx="12"/>
          </p:nvPr>
        </p:nvSpPr>
        <p:spPr>
          <a:xfrm>
            <a:off x="8610600" y="6356350"/>
            <a:ext cx="2743200" cy="365125"/>
          </a:xfrm>
        </p:spPr>
        <p:txBody>
          <a:bodyPr/>
          <a:lstStyle/>
          <a:p>
            <a:pPr>
              <a:spcAft>
                <a:spcPts val="600"/>
              </a:spcAft>
            </a:pPr>
            <a:fld id="{B74EB0F0-7D7E-412A-B235-20FE2876EE16}" type="slidenum">
              <a:rPr lang="en-US" smtClean="0"/>
              <a:pPr>
                <a:spcAft>
                  <a:spcPts val="600"/>
                </a:spcAft>
              </a:pPr>
              <a:t>9</a:t>
            </a:fld>
            <a:endParaRPr lang="en-US"/>
          </a:p>
        </p:txBody>
      </p:sp>
      <p:sp>
        <p:nvSpPr>
          <p:cNvPr id="26629" name="Rectangle 2"/>
          <p:cNvSpPr>
            <a:spLocks noGrp="1" noChangeArrowheads="1"/>
          </p:cNvSpPr>
          <p:nvPr>
            <p:ph type="title"/>
          </p:nvPr>
        </p:nvSpPr>
        <p:spPr>
          <a:xfrm>
            <a:off x="811820" y="518746"/>
            <a:ext cx="10515600" cy="1040058"/>
          </a:xfrm>
        </p:spPr>
        <p:txBody>
          <a:bodyPr anchor="ctr">
            <a:normAutofit/>
          </a:bodyPr>
          <a:lstStyle/>
          <a:p>
            <a:pPr eaLnBrk="1" hangingPunct="1"/>
            <a:r>
              <a:rPr lang="en-US" altLang="en-US" dirty="0"/>
              <a:t>Application Requirements</a:t>
            </a:r>
          </a:p>
        </p:txBody>
      </p:sp>
      <p:sp>
        <p:nvSpPr>
          <p:cNvPr id="7" name="TextBox 6">
            <a:extLst>
              <a:ext uri="{FF2B5EF4-FFF2-40B4-BE49-F238E27FC236}">
                <a16:creationId xmlns:a16="http://schemas.microsoft.com/office/drawing/2014/main" id="{7324F79C-646B-46EF-82CC-14CCA506207E}"/>
              </a:ext>
            </a:extLst>
          </p:cNvPr>
          <p:cNvSpPr txBox="1"/>
          <p:nvPr/>
        </p:nvSpPr>
        <p:spPr>
          <a:xfrm>
            <a:off x="6172202" y="1741585"/>
            <a:ext cx="5841458" cy="1631216"/>
          </a:xfrm>
          <a:prstGeom prst="rect">
            <a:avLst/>
          </a:prstGeom>
          <a:noFill/>
        </p:spPr>
        <p:txBody>
          <a:bodyPr wrap="square">
            <a:spAutoFit/>
          </a:bodyPr>
          <a:lstStyle/>
          <a:p>
            <a:pPr algn="l"/>
            <a:r>
              <a:rPr lang="en-US" sz="2000" b="0" i="1" u="none" strike="noStrike" baseline="0" dirty="0">
                <a:solidFill>
                  <a:srgbClr val="0070C0"/>
                </a:solidFill>
                <a:latin typeface="inbemi-n"/>
              </a:rPr>
              <a:t>Application requirements </a:t>
            </a:r>
            <a:r>
              <a:rPr lang="en-US" sz="2000" b="0" i="0" u="none" strike="noStrike" baseline="0" dirty="0">
                <a:solidFill>
                  <a:srgbClr val="0070C0"/>
                </a:solidFill>
                <a:latin typeface="inbemr-n"/>
              </a:rPr>
              <a:t>are requirements </a:t>
            </a:r>
          </a:p>
          <a:p>
            <a:pPr algn="l"/>
            <a:r>
              <a:rPr lang="en-US" sz="2000" b="0" i="0" u="none" strike="noStrike" baseline="0" dirty="0">
                <a:solidFill>
                  <a:srgbClr val="0070C0"/>
                </a:solidFill>
                <a:latin typeface="inbemr-n"/>
              </a:rPr>
              <a:t>that are determined from application information, experience, or testing, and represent</a:t>
            </a:r>
          </a:p>
          <a:p>
            <a:pPr algn="l"/>
            <a:r>
              <a:rPr lang="en-US" sz="2000" b="0" i="0" u="none" strike="noStrike" baseline="0" dirty="0">
                <a:solidFill>
                  <a:srgbClr val="0070C0"/>
                </a:solidFill>
                <a:latin typeface="inbemr-n"/>
              </a:rPr>
              <a:t>what is needed by applications to successfully operate on the system.</a:t>
            </a:r>
            <a:endParaRPr lang="en-US" sz="2000" dirty="0">
              <a:solidFill>
                <a:srgbClr val="0070C0"/>
              </a:solidFill>
            </a:endParaRPr>
          </a:p>
        </p:txBody>
      </p:sp>
    </p:spTree>
    <p:extLst>
      <p:ext uri="{BB962C8B-B14F-4D97-AF65-F5344CB8AC3E}">
        <p14:creationId xmlns:p14="http://schemas.microsoft.com/office/powerpoint/2010/main" val="19428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en-US" altLang="en-US" dirty="0"/>
              <a:t>Application Requirements</a:t>
            </a:r>
          </a:p>
        </p:txBody>
      </p:sp>
      <p:sp>
        <p:nvSpPr>
          <p:cNvPr id="27654" name="Rectangle 3"/>
          <p:cNvSpPr>
            <a:spLocks noGrp="1" noChangeArrowheads="1"/>
          </p:cNvSpPr>
          <p:nvPr>
            <p:ph idx="1"/>
          </p:nvPr>
        </p:nvSpPr>
        <p:spPr>
          <a:xfrm>
            <a:off x="931985" y="1758462"/>
            <a:ext cx="10572627" cy="4976446"/>
          </a:xfrm>
        </p:spPr>
        <p:txBody>
          <a:bodyPr>
            <a:normAutofit/>
          </a:bodyPr>
          <a:lstStyle/>
          <a:p>
            <a:pPr eaLnBrk="1" hangingPunct="1">
              <a:lnSpc>
                <a:spcPct val="90000"/>
              </a:lnSpc>
            </a:pPr>
            <a:r>
              <a:rPr lang="en-US" altLang="en-US" sz="3200" dirty="0"/>
              <a:t>What groups of apps are being /will be used ?</a:t>
            </a:r>
          </a:p>
          <a:p>
            <a:pPr lvl="1"/>
            <a:r>
              <a:rPr lang="en-US" altLang="en-US" dirty="0"/>
              <a:t>Web and related servicers</a:t>
            </a:r>
          </a:p>
          <a:p>
            <a:pPr lvl="1"/>
            <a:r>
              <a:rPr lang="en-US" altLang="en-US" dirty="0"/>
              <a:t>Teleservice – VOIP, teleconference, telepresence, AOIP</a:t>
            </a:r>
          </a:p>
          <a:p>
            <a:pPr lvl="1"/>
            <a:r>
              <a:rPr lang="en-US" altLang="en-US" dirty="0"/>
              <a:t>Operations, admin and  maintenance of Network itself (DNS, SMTP, SNMP,NTP)</a:t>
            </a:r>
          </a:p>
          <a:p>
            <a:pPr lvl="1"/>
            <a:r>
              <a:rPr lang="en-US" altLang="en-US" dirty="0"/>
              <a:t>Client-server base special/ business applications– ERP, SCM, CRM</a:t>
            </a:r>
          </a:p>
          <a:p>
            <a:pPr lvl="1"/>
            <a:r>
              <a:rPr lang="en-US" altLang="en-US" dirty="0"/>
              <a:t>Visualization and simulation</a:t>
            </a:r>
          </a:p>
          <a:p>
            <a:pPr lvl="1" eaLnBrk="1" hangingPunct="1">
              <a:lnSpc>
                <a:spcPct val="90000"/>
              </a:lnSpc>
            </a:pPr>
            <a:r>
              <a:rPr lang="en-US" altLang="en-US" sz="2800" dirty="0"/>
              <a:t>Command and control - remote devices (e.g. ATM)</a:t>
            </a:r>
          </a:p>
          <a:p>
            <a:pPr lvl="1" eaLnBrk="1" hangingPunct="1">
              <a:lnSpc>
                <a:spcPct val="90000"/>
              </a:lnSpc>
            </a:pPr>
            <a:r>
              <a:rPr lang="en-US" altLang="en-US" sz="2800" dirty="0"/>
              <a:t>Distributed computing, Big data or grid applications.</a:t>
            </a:r>
          </a:p>
          <a:p>
            <a:pPr lvl="1" eaLnBrk="1" hangingPunct="1">
              <a:lnSpc>
                <a:spcPct val="90000"/>
              </a:lnSpc>
            </a:pPr>
            <a:r>
              <a:rPr lang="en-US" altLang="en-US" sz="2800" dirty="0"/>
              <a:t>Bulk data transport – FTP </a:t>
            </a:r>
          </a:p>
        </p:txBody>
      </p:sp>
    </p:spTree>
    <p:extLst>
      <p:ext uri="{BB962C8B-B14F-4D97-AF65-F5344CB8AC3E}">
        <p14:creationId xmlns:p14="http://schemas.microsoft.com/office/powerpoint/2010/main" val="3403940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p:txBody>
          <a:bodyPr/>
          <a:lstStyle/>
          <a:p>
            <a:pPr eaLnBrk="1" hangingPunct="1"/>
            <a:r>
              <a:rPr lang="en-US" altLang="en-US" dirty="0"/>
              <a:t>Application Requirements</a:t>
            </a:r>
          </a:p>
        </p:txBody>
      </p:sp>
      <p:sp>
        <p:nvSpPr>
          <p:cNvPr id="28678" name="Rectangle 3"/>
          <p:cNvSpPr>
            <a:spLocks noGrp="1" noChangeArrowheads="1"/>
          </p:cNvSpPr>
          <p:nvPr>
            <p:ph idx="1"/>
          </p:nvPr>
        </p:nvSpPr>
        <p:spPr>
          <a:xfrm>
            <a:off x="811820" y="1693781"/>
            <a:ext cx="5284305" cy="4411662"/>
          </a:xfrm>
        </p:spPr>
        <p:txBody>
          <a:bodyPr>
            <a:normAutofit/>
          </a:bodyPr>
          <a:lstStyle/>
          <a:p>
            <a:pPr eaLnBrk="1" hangingPunct="1"/>
            <a:r>
              <a:rPr lang="en-US" altLang="en-US" sz="2800" dirty="0"/>
              <a:t>Where are the apps hosted?- Cloud, Data center, Own server network</a:t>
            </a:r>
          </a:p>
          <a:p>
            <a:pPr lvl="1"/>
            <a:r>
              <a:rPr lang="en-US" altLang="en-US" sz="2600" dirty="0"/>
              <a:t>user base/customer base</a:t>
            </a:r>
          </a:p>
          <a:p>
            <a:pPr eaLnBrk="1" hangingPunct="1"/>
            <a:r>
              <a:rPr lang="en-US" altLang="en-US" sz="2800" dirty="0"/>
              <a:t>Where an application applies in your environment?</a:t>
            </a:r>
          </a:p>
          <a:p>
            <a:pPr eaLnBrk="1" hangingPunct="1"/>
            <a:r>
              <a:rPr lang="en-US" altLang="en-US" sz="2800" dirty="0"/>
              <a:t>Time based behaver of apps.- off site backups , sync patterns, updates.  </a:t>
            </a:r>
          </a:p>
        </p:txBody>
      </p:sp>
      <p:pic>
        <p:nvPicPr>
          <p:cNvPr id="3" name="Picture 2">
            <a:extLst>
              <a:ext uri="{FF2B5EF4-FFF2-40B4-BE49-F238E27FC236}">
                <a16:creationId xmlns:a16="http://schemas.microsoft.com/office/drawing/2014/main" id="{AB63FE88-D0DE-4091-9D22-2A7F7AA2551E}"/>
              </a:ext>
            </a:extLst>
          </p:cNvPr>
          <p:cNvPicPr>
            <a:picLocks noChangeAspect="1"/>
          </p:cNvPicPr>
          <p:nvPr/>
        </p:nvPicPr>
        <p:blipFill>
          <a:blip r:embed="rId2"/>
          <a:stretch>
            <a:fillRect/>
          </a:stretch>
        </p:blipFill>
        <p:spPr>
          <a:xfrm>
            <a:off x="7369162" y="1497641"/>
            <a:ext cx="3406191" cy="1040058"/>
          </a:xfrm>
          <a:prstGeom prst="rect">
            <a:avLst/>
          </a:prstGeom>
        </p:spPr>
      </p:pic>
      <p:pic>
        <p:nvPicPr>
          <p:cNvPr id="5" name="Picture 4">
            <a:extLst>
              <a:ext uri="{FF2B5EF4-FFF2-40B4-BE49-F238E27FC236}">
                <a16:creationId xmlns:a16="http://schemas.microsoft.com/office/drawing/2014/main" id="{3F6CCC87-3934-45CB-B2B8-4265A8BBA2B4}"/>
              </a:ext>
            </a:extLst>
          </p:cNvPr>
          <p:cNvPicPr>
            <a:picLocks noChangeAspect="1"/>
          </p:cNvPicPr>
          <p:nvPr/>
        </p:nvPicPr>
        <p:blipFill>
          <a:blip r:embed="rId3"/>
          <a:stretch>
            <a:fillRect/>
          </a:stretch>
        </p:blipFill>
        <p:spPr>
          <a:xfrm>
            <a:off x="7184461" y="5014841"/>
            <a:ext cx="2770684" cy="1843159"/>
          </a:xfrm>
          <a:prstGeom prst="rect">
            <a:avLst/>
          </a:prstGeom>
        </p:spPr>
      </p:pic>
      <p:pic>
        <p:nvPicPr>
          <p:cNvPr id="4" name="Picture 3">
            <a:extLst>
              <a:ext uri="{FF2B5EF4-FFF2-40B4-BE49-F238E27FC236}">
                <a16:creationId xmlns:a16="http://schemas.microsoft.com/office/drawing/2014/main" id="{8909FE0D-26AD-4D9F-89DD-0CC0BF2FDCDF}"/>
              </a:ext>
            </a:extLst>
          </p:cNvPr>
          <p:cNvPicPr>
            <a:picLocks noChangeAspect="1"/>
          </p:cNvPicPr>
          <p:nvPr/>
        </p:nvPicPr>
        <p:blipFill>
          <a:blip r:embed="rId4"/>
          <a:stretch>
            <a:fillRect/>
          </a:stretch>
        </p:blipFill>
        <p:spPr>
          <a:xfrm>
            <a:off x="6520027" y="2872385"/>
            <a:ext cx="4948883" cy="2400328"/>
          </a:xfrm>
          <a:prstGeom prst="rect">
            <a:avLst/>
          </a:prstGeom>
        </p:spPr>
      </p:pic>
      <p:sp>
        <p:nvSpPr>
          <p:cNvPr id="10" name="TextBox 9">
            <a:extLst>
              <a:ext uri="{FF2B5EF4-FFF2-40B4-BE49-F238E27FC236}">
                <a16:creationId xmlns:a16="http://schemas.microsoft.com/office/drawing/2014/main" id="{0E0E21DA-8AC7-498D-8F94-32C60E152133}"/>
              </a:ext>
            </a:extLst>
          </p:cNvPr>
          <p:cNvSpPr txBox="1"/>
          <p:nvPr/>
        </p:nvSpPr>
        <p:spPr>
          <a:xfrm>
            <a:off x="7551096" y="2687719"/>
            <a:ext cx="3042325" cy="369332"/>
          </a:xfrm>
          <a:prstGeom prst="rect">
            <a:avLst/>
          </a:prstGeom>
          <a:noFill/>
        </p:spPr>
        <p:txBody>
          <a:bodyPr wrap="square">
            <a:spAutoFit/>
          </a:bodyPr>
          <a:lstStyle/>
          <a:p>
            <a:r>
              <a:rPr lang="en-US" sz="1800" b="0" i="0" u="none" strike="noStrike" baseline="0" dirty="0">
                <a:latin typeface="inhvneur"/>
              </a:rPr>
              <a:t>An Example Applications Map</a:t>
            </a:r>
            <a:endParaRPr lang="en-US" dirty="0"/>
          </a:p>
        </p:txBody>
      </p:sp>
    </p:spTree>
    <p:extLst>
      <p:ext uri="{BB962C8B-B14F-4D97-AF65-F5344CB8AC3E}">
        <p14:creationId xmlns:p14="http://schemas.microsoft.com/office/powerpoint/2010/main" val="809778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en-US"/>
              <a:t>Device Requirements</a:t>
            </a:r>
          </a:p>
        </p:txBody>
      </p:sp>
      <p:sp>
        <p:nvSpPr>
          <p:cNvPr id="29702" name="Rectangle 3"/>
          <p:cNvSpPr>
            <a:spLocks noGrp="1" noChangeArrowheads="1"/>
          </p:cNvSpPr>
          <p:nvPr>
            <p:ph idx="1"/>
          </p:nvPr>
        </p:nvSpPr>
        <p:spPr>
          <a:xfrm>
            <a:off x="836060" y="1437325"/>
            <a:ext cx="10467120" cy="4595446"/>
          </a:xfrm>
        </p:spPr>
        <p:txBody>
          <a:bodyPr>
            <a:normAutofit/>
          </a:bodyPr>
          <a:lstStyle/>
          <a:p>
            <a:pPr eaLnBrk="1" hangingPunct="1"/>
            <a:r>
              <a:rPr lang="en-US" altLang="en-US" sz="3200" dirty="0"/>
              <a:t>What kinds of devices are on your network?</a:t>
            </a:r>
          </a:p>
          <a:p>
            <a:pPr lvl="1" eaLnBrk="1" hangingPunct="1"/>
            <a:r>
              <a:rPr lang="en-US" altLang="en-US" sz="2800" i="1" dirty="0"/>
              <a:t>Generic computing devices</a:t>
            </a:r>
            <a:r>
              <a:rPr lang="en-US" altLang="en-US" sz="2800" dirty="0"/>
              <a:t> (PCs, Macs, laptops, handheld computers, workstations)</a:t>
            </a:r>
          </a:p>
          <a:p>
            <a:pPr lvl="1" eaLnBrk="1" hangingPunct="1"/>
            <a:r>
              <a:rPr lang="en-US" altLang="en-US" sz="2800" i="1" dirty="0"/>
              <a:t>Servers</a:t>
            </a:r>
            <a:r>
              <a:rPr lang="en-US" altLang="en-US" sz="2800" dirty="0"/>
              <a:t> (all flavors of server – file, print, app, computation)</a:t>
            </a:r>
          </a:p>
          <a:p>
            <a:pPr lvl="1"/>
            <a:r>
              <a:rPr lang="en-US" altLang="en-US" sz="2800" i="1" dirty="0"/>
              <a:t>Specialized devices</a:t>
            </a:r>
            <a:r>
              <a:rPr lang="en-US" altLang="en-US" sz="2800" dirty="0"/>
              <a:t> (supercomputers, massively parallel servers), data collection systems (POS terminals), industry-specific devices, networked devices (cameras, tools, access control, medical equipment's ) VOIP ATMs, IOT, etc.</a:t>
            </a:r>
          </a:p>
          <a:p>
            <a:pPr marL="457200" lvl="1" indent="0">
              <a:buNone/>
            </a:pPr>
            <a:endParaRPr lang="en-US" altLang="en-US" sz="2800" dirty="0"/>
          </a:p>
        </p:txBody>
      </p:sp>
      <p:pic>
        <p:nvPicPr>
          <p:cNvPr id="1026" name="Picture 2" descr="Workstations vs. Servers vs. PC – Router Switch Blog">
            <a:extLst>
              <a:ext uri="{FF2B5EF4-FFF2-40B4-BE49-F238E27FC236}">
                <a16:creationId xmlns:a16="http://schemas.microsoft.com/office/drawing/2014/main" id="{C4EED036-2E7D-44EC-BCB6-B0D9EB1A0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6629" y="4842080"/>
            <a:ext cx="1627457" cy="76907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atabase Server Png Free Download - Server Pc PNG Image | Transparent PNG  Free Download on SeekPNG">
            <a:extLst>
              <a:ext uri="{FF2B5EF4-FFF2-40B4-BE49-F238E27FC236}">
                <a16:creationId xmlns:a16="http://schemas.microsoft.com/office/drawing/2014/main" id="{5F85DD54-FADB-45B7-AC15-F69528DB7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311" y="5011226"/>
            <a:ext cx="22288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cture containing text, electronics, computer, display&#10;&#10;Description automatically generated">
            <a:extLst>
              <a:ext uri="{FF2B5EF4-FFF2-40B4-BE49-F238E27FC236}">
                <a16:creationId xmlns:a16="http://schemas.microsoft.com/office/drawing/2014/main" id="{B63986CB-14BF-46C0-9F82-BF27AEB2FD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1852" y="4857750"/>
            <a:ext cx="2286000" cy="2000250"/>
          </a:xfrm>
          <a:prstGeom prst="rect">
            <a:avLst/>
          </a:prstGeom>
        </p:spPr>
      </p:pic>
      <p:pic>
        <p:nvPicPr>
          <p:cNvPr id="1030" name="Picture 6" descr="POS Terminal full set which include POS Machine , Printer, Scanner and">
            <a:extLst>
              <a:ext uri="{FF2B5EF4-FFF2-40B4-BE49-F238E27FC236}">
                <a16:creationId xmlns:a16="http://schemas.microsoft.com/office/drawing/2014/main" id="{ECCE6709-84AB-4795-B4CF-2E19865DEF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4477" y="4939788"/>
            <a:ext cx="1857375" cy="18573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con&#10;&#10;Description automatically generated">
            <a:extLst>
              <a:ext uri="{FF2B5EF4-FFF2-40B4-BE49-F238E27FC236}">
                <a16:creationId xmlns:a16="http://schemas.microsoft.com/office/drawing/2014/main" id="{FA5122DF-5243-4D7C-BF8E-2156CA48DB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95554" y="4673891"/>
            <a:ext cx="2190750" cy="2095500"/>
          </a:xfrm>
          <a:prstGeom prst="rect">
            <a:avLst/>
          </a:prstGeom>
        </p:spPr>
      </p:pic>
    </p:spTree>
    <p:extLst>
      <p:ext uri="{BB962C8B-B14F-4D97-AF65-F5344CB8AC3E}">
        <p14:creationId xmlns:p14="http://schemas.microsoft.com/office/powerpoint/2010/main" val="2758259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en-US" altLang="en-US"/>
              <a:t>Device Requirements</a:t>
            </a:r>
          </a:p>
        </p:txBody>
      </p:sp>
      <p:sp>
        <p:nvSpPr>
          <p:cNvPr id="31750" name="Rectangle 3"/>
          <p:cNvSpPr>
            <a:spLocks noGrp="1" noChangeArrowheads="1"/>
          </p:cNvSpPr>
          <p:nvPr>
            <p:ph idx="1"/>
          </p:nvPr>
        </p:nvSpPr>
        <p:spPr>
          <a:xfrm>
            <a:off x="864579" y="1423457"/>
            <a:ext cx="10688324" cy="3777622"/>
          </a:xfrm>
        </p:spPr>
        <p:txBody>
          <a:bodyPr>
            <a:normAutofit/>
          </a:bodyPr>
          <a:lstStyle/>
          <a:p>
            <a:pPr eaLnBrk="1" hangingPunct="1"/>
            <a:r>
              <a:rPr lang="en-US" altLang="en-US" sz="3200" dirty="0"/>
              <a:t>We want an understanding of the device’s performance – its ability to process data from the network</a:t>
            </a:r>
          </a:p>
          <a:p>
            <a:pPr lvl="1" eaLnBrk="1" hangingPunct="1"/>
            <a:r>
              <a:rPr lang="en-US" altLang="en-US" sz="2800" dirty="0"/>
              <a:t>Device I/O rates, network dependency, interfacing technology and speeds</a:t>
            </a:r>
          </a:p>
          <a:p>
            <a:pPr lvl="1" eaLnBrk="1" hangingPunct="1"/>
            <a:r>
              <a:rPr lang="en-US" altLang="en-US" sz="2800" dirty="0"/>
              <a:t>Delay time for performing a given app function</a:t>
            </a:r>
          </a:p>
        </p:txBody>
      </p:sp>
      <p:pic>
        <p:nvPicPr>
          <p:cNvPr id="3" name="Picture 2">
            <a:extLst>
              <a:ext uri="{FF2B5EF4-FFF2-40B4-BE49-F238E27FC236}">
                <a16:creationId xmlns:a16="http://schemas.microsoft.com/office/drawing/2014/main" id="{A43F8711-E4AE-4684-9639-CCB9056B37B7}"/>
              </a:ext>
            </a:extLst>
          </p:cNvPr>
          <p:cNvPicPr>
            <a:picLocks noChangeAspect="1"/>
          </p:cNvPicPr>
          <p:nvPr/>
        </p:nvPicPr>
        <p:blipFill>
          <a:blip r:embed="rId2"/>
          <a:stretch>
            <a:fillRect/>
          </a:stretch>
        </p:blipFill>
        <p:spPr>
          <a:xfrm>
            <a:off x="2618911" y="3705066"/>
            <a:ext cx="6020322" cy="2735817"/>
          </a:xfrm>
          <a:prstGeom prst="rect">
            <a:avLst/>
          </a:prstGeom>
        </p:spPr>
      </p:pic>
    </p:spTree>
    <p:extLst>
      <p:ext uri="{BB962C8B-B14F-4D97-AF65-F5344CB8AC3E}">
        <p14:creationId xmlns:p14="http://schemas.microsoft.com/office/powerpoint/2010/main" val="639288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en-US"/>
              <a:t>Device Requirements</a:t>
            </a:r>
          </a:p>
        </p:txBody>
      </p:sp>
      <p:sp>
        <p:nvSpPr>
          <p:cNvPr id="32774" name="Rectangle 3"/>
          <p:cNvSpPr>
            <a:spLocks noGrp="1" noChangeArrowheads="1"/>
          </p:cNvSpPr>
          <p:nvPr>
            <p:ph idx="1"/>
          </p:nvPr>
        </p:nvSpPr>
        <p:spPr>
          <a:xfrm>
            <a:off x="864580" y="1558804"/>
            <a:ext cx="10688323" cy="4859216"/>
          </a:xfrm>
        </p:spPr>
        <p:txBody>
          <a:bodyPr>
            <a:normAutofit/>
          </a:bodyPr>
          <a:lstStyle/>
          <a:p>
            <a:pPr eaLnBrk="1" hangingPunct="1">
              <a:lnSpc>
                <a:spcPct val="90000"/>
              </a:lnSpc>
            </a:pPr>
            <a:r>
              <a:rPr lang="en-US" altLang="en-US" sz="3200" dirty="0"/>
              <a:t>Performance results from many factors</a:t>
            </a:r>
          </a:p>
          <a:p>
            <a:pPr lvl="1" eaLnBrk="1" hangingPunct="1">
              <a:lnSpc>
                <a:spcPct val="90000"/>
              </a:lnSpc>
            </a:pPr>
            <a:r>
              <a:rPr lang="en-US" altLang="en-US" sz="2800" dirty="0"/>
              <a:t>Storage performance, that is, flash, disk drive</a:t>
            </a:r>
            <a:r>
              <a:rPr lang="en-US" altLang="en-US" dirty="0"/>
              <a:t> </a:t>
            </a:r>
            <a:r>
              <a:rPr lang="en-US" altLang="en-US" sz="2800" dirty="0"/>
              <a:t>or tape performance</a:t>
            </a:r>
          </a:p>
          <a:p>
            <a:pPr lvl="1" eaLnBrk="1" hangingPunct="1">
              <a:lnSpc>
                <a:spcPct val="90000"/>
              </a:lnSpc>
            </a:pPr>
            <a:r>
              <a:rPr lang="en-US" altLang="en-US" sz="2800" dirty="0"/>
              <a:t>Processor (CPU) performance</a:t>
            </a:r>
          </a:p>
          <a:p>
            <a:pPr lvl="1" eaLnBrk="1" hangingPunct="1">
              <a:lnSpc>
                <a:spcPct val="90000"/>
              </a:lnSpc>
            </a:pPr>
            <a:r>
              <a:rPr lang="en-US" altLang="en-US" sz="2800" dirty="0"/>
              <a:t>Memory performance (access times)</a:t>
            </a:r>
          </a:p>
          <a:p>
            <a:pPr lvl="1" eaLnBrk="1" hangingPunct="1">
              <a:lnSpc>
                <a:spcPct val="90000"/>
              </a:lnSpc>
            </a:pPr>
            <a:r>
              <a:rPr lang="en-US" altLang="en-US" sz="2800" dirty="0"/>
              <a:t>Bus performance (bus capacity, width  and frequency)</a:t>
            </a:r>
          </a:p>
          <a:p>
            <a:pPr lvl="1" eaLnBrk="1" hangingPunct="1">
              <a:lnSpc>
                <a:spcPct val="90000"/>
              </a:lnSpc>
            </a:pPr>
            <a:r>
              <a:rPr lang="en-US" altLang="en-US" sz="2800" dirty="0"/>
              <a:t>OS performance (effectiveness of the protocol stack and APIs)</a:t>
            </a:r>
          </a:p>
          <a:p>
            <a:pPr lvl="1" eaLnBrk="1" hangingPunct="1">
              <a:lnSpc>
                <a:spcPct val="90000"/>
              </a:lnSpc>
            </a:pPr>
            <a:r>
              <a:rPr lang="en-US" altLang="en-US" sz="2800" dirty="0"/>
              <a:t>Device driver performance</a:t>
            </a:r>
          </a:p>
        </p:txBody>
      </p:sp>
    </p:spTree>
    <p:extLst>
      <p:ext uri="{BB962C8B-B14F-4D97-AF65-F5344CB8AC3E}">
        <p14:creationId xmlns:p14="http://schemas.microsoft.com/office/powerpoint/2010/main" val="57639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B4A028-1B9C-4F36-BDED-FEA691DF5BC2}"/>
              </a:ext>
            </a:extLst>
          </p:cNvPr>
          <p:cNvSpPr>
            <a:spLocks noGrp="1"/>
          </p:cNvSpPr>
          <p:nvPr>
            <p:ph sz="half" idx="1"/>
          </p:nvPr>
        </p:nvSpPr>
        <p:spPr>
          <a:xfrm>
            <a:off x="838199" y="1697806"/>
            <a:ext cx="6061587" cy="4641448"/>
          </a:xfrm>
        </p:spPr>
        <p:txBody>
          <a:bodyPr>
            <a:normAutofit/>
          </a:bodyPr>
          <a:lstStyle/>
          <a:p>
            <a:r>
              <a:rPr lang="en-US" dirty="0"/>
              <a:t>Device Locations</a:t>
            </a:r>
          </a:p>
          <a:p>
            <a:pPr lvl="1"/>
            <a:r>
              <a:rPr lang="en-US" dirty="0"/>
              <a:t>Knowing the locations of existing or expected generic computing devices, servers and specialized devices can be helpful in determining the relationships among users, applications, and networks, as well as the start toward determining traffic flow characteristics for the system.</a:t>
            </a:r>
          </a:p>
          <a:p>
            <a:pPr lvl="1"/>
            <a:r>
              <a:rPr lang="en-US" dirty="0"/>
              <a:t>E.g.</a:t>
            </a:r>
          </a:p>
          <a:p>
            <a:pPr lvl="2"/>
            <a:r>
              <a:rPr lang="en-US" dirty="0"/>
              <a:t>Distance between the LANs</a:t>
            </a:r>
          </a:p>
          <a:p>
            <a:pPr lvl="2"/>
            <a:r>
              <a:rPr lang="en-US" dirty="0"/>
              <a:t>Distance between the devices and number of devices in a LAN</a:t>
            </a:r>
          </a:p>
        </p:txBody>
      </p:sp>
      <p:pic>
        <p:nvPicPr>
          <p:cNvPr id="6" name="Picture 5">
            <a:extLst>
              <a:ext uri="{FF2B5EF4-FFF2-40B4-BE49-F238E27FC236}">
                <a16:creationId xmlns:a16="http://schemas.microsoft.com/office/drawing/2014/main" id="{19386D86-E2F5-4707-B243-1D798E6E3062}"/>
              </a:ext>
            </a:extLst>
          </p:cNvPr>
          <p:cNvPicPr>
            <a:picLocks noChangeAspect="1"/>
          </p:cNvPicPr>
          <p:nvPr/>
        </p:nvPicPr>
        <p:blipFill>
          <a:blip r:embed="rId2"/>
          <a:stretch>
            <a:fillRect/>
          </a:stretch>
        </p:blipFill>
        <p:spPr>
          <a:xfrm>
            <a:off x="6899787" y="2053056"/>
            <a:ext cx="5181600" cy="3031236"/>
          </a:xfrm>
          <a:prstGeom prst="rect">
            <a:avLst/>
          </a:prstGeom>
          <a:noFill/>
        </p:spPr>
      </p:pic>
      <p:sp>
        <p:nvSpPr>
          <p:cNvPr id="4" name="Slide Number Placeholder 3">
            <a:extLst>
              <a:ext uri="{FF2B5EF4-FFF2-40B4-BE49-F238E27FC236}">
                <a16:creationId xmlns:a16="http://schemas.microsoft.com/office/drawing/2014/main" id="{1157DFEB-F340-473F-B9BD-3214263B88BC}"/>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74EB0F0-7D7E-412A-B235-20FE2876EE16}" type="slidenum">
              <a:rPr lang="en-US" smtClean="0"/>
              <a:pPr>
                <a:spcAft>
                  <a:spcPts val="600"/>
                </a:spcAft>
              </a:pPr>
              <a:t>15</a:t>
            </a:fld>
            <a:endParaRPr lang="en-US"/>
          </a:p>
        </p:txBody>
      </p:sp>
      <p:sp>
        <p:nvSpPr>
          <p:cNvPr id="11" name="Title 4">
            <a:extLst>
              <a:ext uri="{FF2B5EF4-FFF2-40B4-BE49-F238E27FC236}">
                <a16:creationId xmlns:a16="http://schemas.microsoft.com/office/drawing/2014/main" id="{7A64BB2D-E55F-4443-9304-C98F53CF6355}"/>
              </a:ext>
            </a:extLst>
          </p:cNvPr>
          <p:cNvSpPr>
            <a:spLocks noGrp="1"/>
          </p:cNvSpPr>
          <p:nvPr>
            <p:ph type="title"/>
          </p:nvPr>
        </p:nvSpPr>
        <p:spPr>
          <a:xfrm>
            <a:off x="811820" y="518746"/>
            <a:ext cx="10515600" cy="1040058"/>
          </a:xfrm>
        </p:spPr>
        <p:txBody>
          <a:bodyPr/>
          <a:lstStyle/>
          <a:p>
            <a:r>
              <a:rPr lang="en-US" dirty="0"/>
              <a:t>Device Requirements</a:t>
            </a:r>
          </a:p>
        </p:txBody>
      </p:sp>
    </p:spTree>
    <p:extLst>
      <p:ext uri="{BB962C8B-B14F-4D97-AF65-F5344CB8AC3E}">
        <p14:creationId xmlns:p14="http://schemas.microsoft.com/office/powerpoint/2010/main" val="574345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3"/>
          <p:cNvSpPr>
            <a:spLocks noGrp="1" noChangeArrowheads="1"/>
          </p:cNvSpPr>
          <p:nvPr>
            <p:ph sz="half" idx="1"/>
          </p:nvPr>
        </p:nvSpPr>
        <p:spPr>
          <a:xfrm>
            <a:off x="838200" y="1825625"/>
            <a:ext cx="5181600" cy="4351338"/>
          </a:xfrm>
        </p:spPr>
        <p:txBody>
          <a:bodyPr>
            <a:normAutofit/>
          </a:bodyPr>
          <a:lstStyle/>
          <a:p>
            <a:pPr eaLnBrk="1" hangingPunct="1"/>
            <a:r>
              <a:rPr lang="en-US" altLang="en-US" sz="2400" dirty="0"/>
              <a:t>Network requirements are the requirements for interacting with the existing /other network(s) and network management concerns</a:t>
            </a:r>
          </a:p>
          <a:p>
            <a:pPr lvl="1"/>
            <a:r>
              <a:rPr lang="en-US" altLang="en-US" sz="2000" dirty="0">
                <a:solidFill>
                  <a:srgbClr val="002060"/>
                </a:solidFill>
              </a:rPr>
              <a:t>Most networks may need to integrate with existing networks</a:t>
            </a:r>
          </a:p>
          <a:p>
            <a:pPr lvl="1"/>
            <a:r>
              <a:rPr lang="en-US" altLang="en-US" sz="2000" dirty="0">
                <a:solidFill>
                  <a:srgbClr val="002060"/>
                </a:solidFill>
              </a:rPr>
              <a:t>What is the plan for the future evolution of the network?</a:t>
            </a:r>
          </a:p>
          <a:p>
            <a:pPr lvl="1"/>
            <a:r>
              <a:rPr lang="en-US" altLang="en-US" sz="2000" dirty="0">
                <a:solidFill>
                  <a:srgbClr val="002060"/>
                </a:solidFill>
              </a:rPr>
              <a:t>What will happen to product specific protocols or technologies if the network become heterogeneous.  </a:t>
            </a:r>
          </a:p>
        </p:txBody>
      </p:sp>
      <p:pic>
        <p:nvPicPr>
          <p:cNvPr id="3" name="Picture 2">
            <a:extLst>
              <a:ext uri="{FF2B5EF4-FFF2-40B4-BE49-F238E27FC236}">
                <a16:creationId xmlns:a16="http://schemas.microsoft.com/office/drawing/2014/main" id="{3CA9B59C-7786-4C85-BAEC-D6567A82AD58}"/>
              </a:ext>
            </a:extLst>
          </p:cNvPr>
          <p:cNvPicPr>
            <a:picLocks noChangeAspect="1"/>
          </p:cNvPicPr>
          <p:nvPr/>
        </p:nvPicPr>
        <p:blipFill>
          <a:blip r:embed="rId2"/>
          <a:stretch>
            <a:fillRect/>
          </a:stretch>
        </p:blipFill>
        <p:spPr>
          <a:xfrm>
            <a:off x="6467168" y="1990327"/>
            <a:ext cx="5181600" cy="2409444"/>
          </a:xfrm>
          <a:prstGeom prst="rect">
            <a:avLst/>
          </a:prstGeom>
          <a:noFill/>
        </p:spPr>
      </p:pic>
      <p:sp>
        <p:nvSpPr>
          <p:cNvPr id="75" name="Slide Number Placeholder 3">
            <a:extLst>
              <a:ext uri="{FF2B5EF4-FFF2-40B4-BE49-F238E27FC236}">
                <a16:creationId xmlns:a16="http://schemas.microsoft.com/office/drawing/2014/main" id="{758846B6-9E22-43E6-9026-FD7DEC622A09}"/>
              </a:ext>
            </a:extLst>
          </p:cNvPr>
          <p:cNvSpPr>
            <a:spLocks noGrp="1"/>
          </p:cNvSpPr>
          <p:nvPr>
            <p:ph type="sldNum" sz="quarter" idx="12"/>
          </p:nvPr>
        </p:nvSpPr>
        <p:spPr>
          <a:xfrm>
            <a:off x="8610600" y="6356350"/>
            <a:ext cx="2743200" cy="365125"/>
          </a:xfrm>
        </p:spPr>
        <p:txBody>
          <a:bodyPr/>
          <a:lstStyle/>
          <a:p>
            <a:pPr>
              <a:spcAft>
                <a:spcPts val="600"/>
              </a:spcAft>
            </a:pPr>
            <a:fld id="{B74EB0F0-7D7E-412A-B235-20FE2876EE16}" type="slidenum">
              <a:rPr lang="en-US" smtClean="0"/>
              <a:pPr>
                <a:spcAft>
                  <a:spcPts val="600"/>
                </a:spcAft>
              </a:pPr>
              <a:t>16</a:t>
            </a:fld>
            <a:endParaRPr lang="en-US"/>
          </a:p>
        </p:txBody>
      </p:sp>
      <p:sp>
        <p:nvSpPr>
          <p:cNvPr id="34821" name="Rectangle 2"/>
          <p:cNvSpPr>
            <a:spLocks noGrp="1" noChangeArrowheads="1"/>
          </p:cNvSpPr>
          <p:nvPr>
            <p:ph type="title"/>
          </p:nvPr>
        </p:nvSpPr>
        <p:spPr>
          <a:xfrm>
            <a:off x="811820" y="518746"/>
            <a:ext cx="10515600" cy="1040058"/>
          </a:xfrm>
        </p:spPr>
        <p:txBody>
          <a:bodyPr anchor="ctr">
            <a:normAutofit/>
          </a:bodyPr>
          <a:lstStyle/>
          <a:p>
            <a:pPr eaLnBrk="1" hangingPunct="1"/>
            <a:r>
              <a:rPr lang="en-US" altLang="en-US"/>
              <a:t>Network Requirements</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79244C56-67C2-3A05-E6DB-A74C9FAE9466}"/>
                  </a:ext>
                </a:extLst>
              </p14:cNvPr>
              <p14:cNvContentPartPr/>
              <p14:nvPr/>
            </p14:nvContentPartPr>
            <p14:xfrm>
              <a:off x="6910452" y="3873267"/>
              <a:ext cx="837360" cy="306360"/>
            </p14:xfrm>
          </p:contentPart>
        </mc:Choice>
        <mc:Fallback xmlns="">
          <p:pic>
            <p:nvPicPr>
              <p:cNvPr id="8" name="Ink 7">
                <a:extLst>
                  <a:ext uri="{FF2B5EF4-FFF2-40B4-BE49-F238E27FC236}">
                    <a16:creationId xmlns:a16="http://schemas.microsoft.com/office/drawing/2014/main" id="{79244C56-67C2-3A05-E6DB-A74C9FAE9466}"/>
                  </a:ext>
                </a:extLst>
              </p:cNvPr>
              <p:cNvPicPr/>
              <p:nvPr/>
            </p:nvPicPr>
            <p:blipFill>
              <a:blip r:embed="rId4"/>
              <a:stretch>
                <a:fillRect/>
              </a:stretch>
            </p:blipFill>
            <p:spPr>
              <a:xfrm>
                <a:off x="6820812" y="3693267"/>
                <a:ext cx="1017000" cy="666000"/>
              </a:xfrm>
              <a:prstGeom prst="rect">
                <a:avLst/>
              </a:prstGeom>
            </p:spPr>
          </p:pic>
        </mc:Fallback>
      </mc:AlternateContent>
    </p:spTree>
    <p:extLst>
      <p:ext uri="{BB962C8B-B14F-4D97-AF65-F5344CB8AC3E}">
        <p14:creationId xmlns:p14="http://schemas.microsoft.com/office/powerpoint/2010/main" val="169517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2000" fill="hold"/>
                                        <p:tgtEl>
                                          <p:spTgt spid="8"/>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en-US" altLang="en-US"/>
              <a:t>Network Requirements</a:t>
            </a:r>
          </a:p>
        </p:txBody>
      </p:sp>
      <p:sp>
        <p:nvSpPr>
          <p:cNvPr id="35846" name="Rectangle 3"/>
          <p:cNvSpPr>
            <a:spLocks noGrp="1" noChangeArrowheads="1"/>
          </p:cNvSpPr>
          <p:nvPr>
            <p:ph idx="1"/>
          </p:nvPr>
        </p:nvSpPr>
        <p:spPr>
          <a:xfrm>
            <a:off x="803031" y="1556885"/>
            <a:ext cx="11201400" cy="5008038"/>
          </a:xfrm>
        </p:spPr>
        <p:txBody>
          <a:bodyPr>
            <a:normAutofit/>
          </a:bodyPr>
          <a:lstStyle/>
          <a:p>
            <a:pPr eaLnBrk="1" hangingPunct="1"/>
            <a:r>
              <a:rPr lang="en-US" altLang="en-US" sz="2800" dirty="0"/>
              <a:t>Most network architectures/designs today need to incorporate existing networks.</a:t>
            </a:r>
          </a:p>
          <a:p>
            <a:pPr lvl="1"/>
            <a:r>
              <a:rPr lang="en-US" altLang="en-US" dirty="0"/>
              <a:t>Few networks today are built entirely from scratch.</a:t>
            </a:r>
          </a:p>
          <a:p>
            <a:pPr eaLnBrk="1" hangingPunct="1"/>
            <a:r>
              <a:rPr lang="en-US" altLang="en-US" sz="2800" dirty="0"/>
              <a:t>Issues with network integration include</a:t>
            </a:r>
          </a:p>
          <a:p>
            <a:pPr lvl="1" eaLnBrk="1" hangingPunct="1"/>
            <a:r>
              <a:rPr lang="en-US" altLang="en-US" sz="2400" dirty="0"/>
              <a:t>Scaling dependencies – how will the size of the existing network affect the new one? </a:t>
            </a:r>
          </a:p>
          <a:p>
            <a:pPr lvl="2" eaLnBrk="1" hangingPunct="1"/>
            <a:r>
              <a:rPr lang="en-US" altLang="en-US" dirty="0"/>
              <a:t>Will the existing network change structure, or just add on a new wing?</a:t>
            </a:r>
          </a:p>
          <a:p>
            <a:pPr lvl="1" eaLnBrk="1" hangingPunct="1"/>
            <a:r>
              <a:rPr lang="en-US" altLang="en-US" sz="2400" dirty="0"/>
              <a:t>Location dependencies – interaction between old and new networks could change the location of key components</a:t>
            </a:r>
          </a:p>
          <a:p>
            <a:pPr lvl="1" eaLnBrk="1" hangingPunct="1"/>
            <a:r>
              <a:rPr lang="en-US" altLang="en-US" sz="2400" dirty="0"/>
              <a:t>Performance constraints – existing network could limit performance of the new one</a:t>
            </a:r>
          </a:p>
          <a:p>
            <a:pPr marL="457200" lvl="1" indent="0" eaLnBrk="1" hangingPunct="1">
              <a:buNone/>
            </a:pPr>
            <a:endParaRPr lang="en-US" altLang="en-US" sz="2400" dirty="0"/>
          </a:p>
        </p:txBody>
      </p:sp>
    </p:spTree>
    <p:extLst>
      <p:ext uri="{BB962C8B-B14F-4D97-AF65-F5344CB8AC3E}">
        <p14:creationId xmlns:p14="http://schemas.microsoft.com/office/powerpoint/2010/main" val="2493562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dirty="0"/>
              <a:t>Network Requirements</a:t>
            </a:r>
          </a:p>
        </p:txBody>
      </p:sp>
      <p:sp>
        <p:nvSpPr>
          <p:cNvPr id="36870" name="Rectangle 3"/>
          <p:cNvSpPr>
            <a:spLocks noGrp="1" noChangeArrowheads="1"/>
          </p:cNvSpPr>
          <p:nvPr>
            <p:ph idx="1"/>
          </p:nvPr>
        </p:nvSpPr>
        <p:spPr>
          <a:xfrm>
            <a:off x="23880" y="1558804"/>
            <a:ext cx="10515600" cy="5052647"/>
          </a:xfrm>
        </p:spPr>
        <p:txBody>
          <a:bodyPr>
            <a:normAutofit/>
          </a:bodyPr>
          <a:lstStyle/>
          <a:p>
            <a:pPr lvl="2"/>
            <a:r>
              <a:rPr lang="en-US" altLang="en-US" sz="2800" dirty="0"/>
              <a:t>Network, system, and support service dependencies</a:t>
            </a:r>
          </a:p>
          <a:p>
            <a:pPr lvl="3"/>
            <a:r>
              <a:rPr lang="en-US" altLang="en-US" sz="2600" dirty="0"/>
              <a:t>Addressing, security, routing protocols and network services</a:t>
            </a:r>
          </a:p>
          <a:p>
            <a:pPr lvl="4"/>
            <a:r>
              <a:rPr lang="en-US" altLang="en-US" sz="2600" dirty="0"/>
              <a:t>DNS, DHCP</a:t>
            </a:r>
          </a:p>
          <a:p>
            <a:pPr lvl="2"/>
            <a:r>
              <a:rPr lang="en-US" altLang="en-US" sz="2800" dirty="0"/>
              <a:t>Interoperability dependencies</a:t>
            </a:r>
          </a:p>
          <a:p>
            <a:pPr lvl="3"/>
            <a:r>
              <a:rPr lang="en-US" altLang="en-US" sz="2600" dirty="0"/>
              <a:t>Changes in technology or media at the interfaces between networks need to be accounted ,Implementation of </a:t>
            </a:r>
            <a:r>
              <a:rPr lang="en-US" altLang="en-US" sz="2600" dirty="0" err="1"/>
              <a:t>QoS</a:t>
            </a:r>
            <a:r>
              <a:rPr lang="en-US" altLang="en-US" sz="2600" dirty="0"/>
              <a:t>.</a:t>
            </a:r>
          </a:p>
          <a:p>
            <a:pPr lvl="2"/>
            <a:r>
              <a:rPr lang="en-US" altLang="en-US" sz="2800" dirty="0"/>
              <a:t>Network obsolescence/facing out of technologies and compatibility</a:t>
            </a:r>
          </a:p>
          <a:p>
            <a:pPr lvl="3"/>
            <a:r>
              <a:rPr lang="en-US" altLang="en-US" sz="2600" dirty="0"/>
              <a:t>What will be the impact if a technology or </a:t>
            </a:r>
            <a:r>
              <a:rPr lang="en-US" altLang="en-US" sz="2600" dirty="0" err="1"/>
              <a:t>protocall</a:t>
            </a:r>
            <a:r>
              <a:rPr lang="en-US" altLang="en-US" sz="2600" dirty="0"/>
              <a:t> become obsolete during transition</a:t>
            </a:r>
            <a:r>
              <a:rPr lang="en-US" altLang="en-US" sz="2200" dirty="0"/>
              <a:t>?</a:t>
            </a:r>
          </a:p>
        </p:txBody>
      </p:sp>
    </p:spTree>
    <p:extLst>
      <p:ext uri="{BB962C8B-B14F-4D97-AF65-F5344CB8AC3E}">
        <p14:creationId xmlns:p14="http://schemas.microsoft.com/office/powerpoint/2010/main" val="46368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p:txBody>
          <a:bodyPr/>
          <a:lstStyle/>
          <a:p>
            <a:pPr eaLnBrk="1" hangingPunct="1"/>
            <a:r>
              <a:rPr lang="en-US" altLang="en-US"/>
              <a:t>Network Requirements</a:t>
            </a:r>
          </a:p>
        </p:txBody>
      </p:sp>
      <p:sp>
        <p:nvSpPr>
          <p:cNvPr id="37894" name="Rectangle 3"/>
          <p:cNvSpPr>
            <a:spLocks noGrp="1" noChangeArrowheads="1"/>
          </p:cNvSpPr>
          <p:nvPr>
            <p:ph idx="1"/>
          </p:nvPr>
        </p:nvSpPr>
        <p:spPr>
          <a:xfrm>
            <a:off x="811820" y="1562101"/>
            <a:ext cx="10247558" cy="4777153"/>
          </a:xfrm>
        </p:spPr>
        <p:txBody>
          <a:bodyPr>
            <a:normAutofit/>
          </a:bodyPr>
          <a:lstStyle/>
          <a:p>
            <a:pPr eaLnBrk="1" hangingPunct="1"/>
            <a:r>
              <a:rPr lang="en-US" altLang="en-US" sz="3200" dirty="0"/>
              <a:t>Network Administration ,Management and security need to be addressed throughout development.</a:t>
            </a:r>
          </a:p>
          <a:p>
            <a:pPr lvl="1" eaLnBrk="1" hangingPunct="1"/>
            <a:r>
              <a:rPr lang="en-US" altLang="en-US" sz="2800" dirty="0"/>
              <a:t>How will the network be monitored for events? </a:t>
            </a:r>
          </a:p>
          <a:p>
            <a:pPr lvl="2"/>
            <a:r>
              <a:rPr lang="en-US" altLang="en-US" dirty="0"/>
              <a:t>Thresholds and alerts.</a:t>
            </a:r>
          </a:p>
          <a:p>
            <a:pPr lvl="1" eaLnBrk="1" hangingPunct="1"/>
            <a:r>
              <a:rPr lang="en-US" altLang="en-US" sz="2800" dirty="0"/>
              <a:t>What factors to be monitored for network performance?</a:t>
            </a:r>
          </a:p>
          <a:p>
            <a:pPr lvl="2" eaLnBrk="1" hangingPunct="1"/>
            <a:r>
              <a:rPr lang="en-US" altLang="en-US" sz="2400" dirty="0"/>
              <a:t>What is the hierarchy for management data flow?</a:t>
            </a:r>
          </a:p>
          <a:p>
            <a:pPr lvl="1" eaLnBrk="1" hangingPunct="1"/>
            <a:r>
              <a:rPr lang="en-US" altLang="en-US" sz="2800" dirty="0"/>
              <a:t>Network configuration management </a:t>
            </a:r>
          </a:p>
          <a:p>
            <a:pPr lvl="1" eaLnBrk="1" hangingPunct="1"/>
            <a:r>
              <a:rPr lang="en-US" altLang="en-US" sz="2800" dirty="0"/>
              <a:t>Troubleshoot  and Event management. </a:t>
            </a:r>
          </a:p>
        </p:txBody>
      </p:sp>
      <p:pic>
        <p:nvPicPr>
          <p:cNvPr id="3" name="Picture 2" descr="Chart&#10;&#10;Description automatically generated">
            <a:extLst>
              <a:ext uri="{FF2B5EF4-FFF2-40B4-BE49-F238E27FC236}">
                <a16:creationId xmlns:a16="http://schemas.microsoft.com/office/drawing/2014/main" id="{3582132F-3233-4E34-B4F5-D254F5C572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495" y="5149883"/>
            <a:ext cx="4762500" cy="1285875"/>
          </a:xfrm>
          <a:prstGeom prst="rect">
            <a:avLst/>
          </a:prstGeom>
        </p:spPr>
      </p:pic>
      <p:pic>
        <p:nvPicPr>
          <p:cNvPr id="5" name="Picture 4" descr="Chart, diagram&#10;&#10;Description automatically generated">
            <a:extLst>
              <a:ext uri="{FF2B5EF4-FFF2-40B4-BE49-F238E27FC236}">
                <a16:creationId xmlns:a16="http://schemas.microsoft.com/office/drawing/2014/main" id="{E58CA788-61C9-4C62-A298-815536DC8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9904" y="4202348"/>
            <a:ext cx="3321003" cy="2474473"/>
          </a:xfrm>
          <a:prstGeom prst="rect">
            <a:avLst/>
          </a:prstGeom>
        </p:spPr>
      </p:pic>
    </p:spTree>
    <p:extLst>
      <p:ext uri="{BB962C8B-B14F-4D97-AF65-F5344CB8AC3E}">
        <p14:creationId xmlns:p14="http://schemas.microsoft.com/office/powerpoint/2010/main" val="3763059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A47F-9015-4494-B508-69106630B058}"/>
              </a:ext>
            </a:extLst>
          </p:cNvPr>
          <p:cNvSpPr>
            <a:spLocks noGrp="1"/>
          </p:cNvSpPr>
          <p:nvPr>
            <p:ph type="title"/>
          </p:nvPr>
        </p:nvSpPr>
        <p:spPr/>
        <p:txBody>
          <a:bodyPr/>
          <a:lstStyle/>
          <a:p>
            <a:r>
              <a:rPr lang="en-US" altLang="en-US" dirty="0"/>
              <a:t>Network Requirements</a:t>
            </a:r>
            <a:endParaRPr lang="en-US" dirty="0"/>
          </a:p>
        </p:txBody>
      </p:sp>
      <p:sp>
        <p:nvSpPr>
          <p:cNvPr id="3" name="Content Placeholder 2">
            <a:extLst>
              <a:ext uri="{FF2B5EF4-FFF2-40B4-BE49-F238E27FC236}">
                <a16:creationId xmlns:a16="http://schemas.microsoft.com/office/drawing/2014/main" id="{4A5140A2-F0B0-429F-BD8C-9264A2D61232}"/>
              </a:ext>
            </a:extLst>
          </p:cNvPr>
          <p:cNvSpPr>
            <a:spLocks noGrp="1"/>
          </p:cNvSpPr>
          <p:nvPr>
            <p:ph idx="1"/>
          </p:nvPr>
        </p:nvSpPr>
        <p:spPr>
          <a:xfrm>
            <a:off x="811820" y="1558804"/>
            <a:ext cx="10183080" cy="4923692"/>
          </a:xfrm>
        </p:spPr>
        <p:txBody>
          <a:bodyPr>
            <a:normAutofit/>
          </a:bodyPr>
          <a:lstStyle/>
          <a:p>
            <a:r>
              <a:rPr lang="en-US" altLang="en-US" sz="3200" dirty="0"/>
              <a:t>Security  of the network.</a:t>
            </a:r>
          </a:p>
          <a:p>
            <a:pPr lvl="1"/>
            <a:r>
              <a:rPr lang="en-US" altLang="en-US" sz="3000" dirty="0"/>
              <a:t>What is the approach on security.</a:t>
            </a:r>
          </a:p>
          <a:p>
            <a:pPr lvl="1"/>
            <a:r>
              <a:rPr lang="en-US" altLang="en-US" sz="3000" dirty="0"/>
              <a:t>How to secure end point.</a:t>
            </a:r>
          </a:p>
          <a:p>
            <a:r>
              <a:rPr lang="en-US" altLang="en-US" sz="3200" dirty="0"/>
              <a:t>Addressing the application level controls.</a:t>
            </a:r>
          </a:p>
          <a:p>
            <a:r>
              <a:rPr lang="en-US" altLang="en-US" sz="3200" dirty="0"/>
              <a:t>Zones with different security levels.</a:t>
            </a:r>
          </a:p>
          <a:p>
            <a:r>
              <a:rPr lang="en-US" altLang="en-US" sz="3200" dirty="0"/>
              <a:t>Bandwidth Vs filtering?</a:t>
            </a:r>
          </a:p>
          <a:p>
            <a:endParaRPr lang="en-US" sz="3200" dirty="0"/>
          </a:p>
        </p:txBody>
      </p:sp>
      <p:pic>
        <p:nvPicPr>
          <p:cNvPr id="5" name="Picture 4" descr="Diagram&#10;&#10;Description automatically generated">
            <a:extLst>
              <a:ext uri="{FF2B5EF4-FFF2-40B4-BE49-F238E27FC236}">
                <a16:creationId xmlns:a16="http://schemas.microsoft.com/office/drawing/2014/main" id="{A2CC4647-AE28-409E-B151-9BE24D8EA0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9474" y="1396628"/>
            <a:ext cx="3880281" cy="1759527"/>
          </a:xfrm>
          <a:prstGeom prst="rect">
            <a:avLst/>
          </a:prstGeom>
        </p:spPr>
      </p:pic>
      <p:pic>
        <p:nvPicPr>
          <p:cNvPr id="7" name="Picture 6" descr="Diagram&#10;&#10;Description automatically generated">
            <a:extLst>
              <a:ext uri="{FF2B5EF4-FFF2-40B4-BE49-F238E27FC236}">
                <a16:creationId xmlns:a16="http://schemas.microsoft.com/office/drawing/2014/main" id="{9F488BBF-A6D2-4692-AA35-C495CC589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9173" y="3469280"/>
            <a:ext cx="4750531" cy="3377973"/>
          </a:xfrm>
          <a:prstGeom prst="rect">
            <a:avLst/>
          </a:prstGeom>
        </p:spPr>
      </p:pic>
    </p:spTree>
    <p:extLst>
      <p:ext uri="{BB962C8B-B14F-4D97-AF65-F5344CB8AC3E}">
        <p14:creationId xmlns:p14="http://schemas.microsoft.com/office/powerpoint/2010/main" val="3623933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p:txBody>
          <a:bodyPr/>
          <a:lstStyle/>
          <a:p>
            <a:pPr eaLnBrk="1" hangingPunct="1"/>
            <a:r>
              <a:rPr lang="en-US" altLang="en-US"/>
              <a:t>Other Requirements</a:t>
            </a:r>
          </a:p>
        </p:txBody>
      </p:sp>
      <p:sp>
        <p:nvSpPr>
          <p:cNvPr id="39942" name="Rectangle 3"/>
          <p:cNvSpPr>
            <a:spLocks noGrp="1" noChangeArrowheads="1"/>
          </p:cNvSpPr>
          <p:nvPr>
            <p:ph idx="1"/>
          </p:nvPr>
        </p:nvSpPr>
        <p:spPr>
          <a:xfrm>
            <a:off x="864580" y="1558804"/>
            <a:ext cx="10832123" cy="5070231"/>
          </a:xfrm>
        </p:spPr>
        <p:txBody>
          <a:bodyPr>
            <a:normAutofit/>
          </a:bodyPr>
          <a:lstStyle/>
          <a:p>
            <a:pPr eaLnBrk="1" hangingPunct="1"/>
            <a:r>
              <a:rPr lang="en-US" altLang="en-US" sz="3200" dirty="0"/>
              <a:t>Requirements can come from other outside sources –Customers, business partners, legal requirements, Organization (enterprise) requirements, etc.</a:t>
            </a:r>
          </a:p>
          <a:p>
            <a:pPr eaLnBrk="1" hangingPunct="1"/>
            <a:r>
              <a:rPr lang="en-US" altLang="en-US" sz="3200" dirty="0"/>
              <a:t>Additional requirements can include</a:t>
            </a:r>
          </a:p>
          <a:p>
            <a:pPr lvl="1" eaLnBrk="1" hangingPunct="1"/>
            <a:r>
              <a:rPr lang="en-US" altLang="en-US" sz="2800" dirty="0"/>
              <a:t>Operational suitability – how well can the customer configure and monitor the system?</a:t>
            </a:r>
          </a:p>
          <a:p>
            <a:pPr lvl="1" eaLnBrk="1" hangingPunct="1"/>
            <a:r>
              <a:rPr lang="en-US" altLang="en-US" sz="2800" dirty="0"/>
              <a:t>Supportability – how well can the customer maintain the system?</a:t>
            </a:r>
          </a:p>
          <a:p>
            <a:pPr lvl="1"/>
            <a:r>
              <a:rPr lang="en-US" altLang="en-US" sz="2800" dirty="0"/>
              <a:t>Conformity to standards</a:t>
            </a:r>
            <a:r>
              <a:rPr lang="en-US" altLang="en-US" dirty="0"/>
              <a:t> and security</a:t>
            </a:r>
            <a:endParaRPr lang="en-US" altLang="en-US" sz="2800" dirty="0"/>
          </a:p>
          <a:p>
            <a:pPr marL="457200" lvl="1" indent="0" eaLnBrk="1" hangingPunct="1">
              <a:buNone/>
            </a:pPr>
            <a:endParaRPr lang="en-US" altLang="en-US" sz="2800" dirty="0"/>
          </a:p>
        </p:txBody>
      </p:sp>
    </p:spTree>
    <p:extLst>
      <p:ext uri="{BB962C8B-B14F-4D97-AF65-F5344CB8AC3E}">
        <p14:creationId xmlns:p14="http://schemas.microsoft.com/office/powerpoint/2010/main" val="118222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prioritized the requirements</a:t>
            </a:r>
          </a:p>
        </p:txBody>
      </p:sp>
      <p:sp>
        <p:nvSpPr>
          <p:cNvPr id="3" name="Content Placeholder 2"/>
          <p:cNvSpPr>
            <a:spLocks noGrp="1"/>
          </p:cNvSpPr>
          <p:nvPr>
            <p:ph idx="1"/>
          </p:nvPr>
        </p:nvSpPr>
        <p:spPr>
          <a:xfrm>
            <a:off x="864580" y="1558804"/>
            <a:ext cx="10013096" cy="4689231"/>
          </a:xfrm>
        </p:spPr>
        <p:txBody>
          <a:bodyPr/>
          <a:lstStyle/>
          <a:p>
            <a:r>
              <a:rPr lang="en-US" sz="3200" dirty="0"/>
              <a:t>What factors to be considered</a:t>
            </a:r>
          </a:p>
          <a:p>
            <a:r>
              <a:rPr lang="en-US" sz="3200" dirty="0"/>
              <a:t>The requirement VS cost to address.</a:t>
            </a:r>
          </a:p>
          <a:p>
            <a:r>
              <a:rPr lang="en-US" sz="3200" dirty="0"/>
              <a:t>Business priority.</a:t>
            </a:r>
          </a:p>
          <a:p>
            <a:r>
              <a:rPr lang="en-US" sz="3200" dirty="0"/>
              <a:t>Can the requirement to be address in future with minimum impact.</a:t>
            </a:r>
          </a:p>
          <a:p>
            <a:endParaRPr lang="en-US" dirty="0"/>
          </a:p>
        </p:txBody>
      </p:sp>
    </p:spTree>
    <p:extLst>
      <p:ext uri="{BB962C8B-B14F-4D97-AF65-F5344CB8AC3E}">
        <p14:creationId xmlns:p14="http://schemas.microsoft.com/office/powerpoint/2010/main" val="618336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3909" y="1122363"/>
            <a:ext cx="9644091" cy="2387600"/>
          </a:xfrm>
        </p:spPr>
        <p:txBody>
          <a:bodyPr>
            <a:normAutofit/>
          </a:bodyPr>
          <a:lstStyle/>
          <a:p>
            <a:r>
              <a:rPr lang="en-US" sz="3600" dirty="0">
                <a:latin typeface="+mn-lt"/>
              </a:rPr>
              <a:t>Operational Requirements </a:t>
            </a:r>
          </a:p>
        </p:txBody>
      </p:sp>
    </p:spTree>
    <p:extLst>
      <p:ext uri="{BB962C8B-B14F-4D97-AF65-F5344CB8AC3E}">
        <p14:creationId xmlns:p14="http://schemas.microsoft.com/office/powerpoint/2010/main" val="3233828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en-US" altLang="en-US"/>
              <a:t>Service Metrics</a:t>
            </a:r>
          </a:p>
        </p:txBody>
      </p:sp>
      <p:sp>
        <p:nvSpPr>
          <p:cNvPr id="55302" name="Rectangle 3"/>
          <p:cNvSpPr>
            <a:spLocks noGrp="1" noChangeArrowheads="1"/>
          </p:cNvSpPr>
          <p:nvPr>
            <p:ph idx="1"/>
          </p:nvPr>
        </p:nvSpPr>
        <p:spPr>
          <a:xfrm>
            <a:off x="811819" y="1426845"/>
            <a:ext cx="10238801" cy="4004310"/>
          </a:xfrm>
        </p:spPr>
        <p:txBody>
          <a:bodyPr>
            <a:normAutofit/>
          </a:bodyPr>
          <a:lstStyle/>
          <a:p>
            <a:pPr eaLnBrk="1" hangingPunct="1"/>
            <a:r>
              <a:rPr lang="en-US" altLang="en-US" sz="3200" dirty="0"/>
              <a:t>Service metrics for delay include:</a:t>
            </a:r>
          </a:p>
          <a:p>
            <a:pPr lvl="1" eaLnBrk="1" hangingPunct="1"/>
            <a:r>
              <a:rPr lang="en-US" altLang="en-US" dirty="0"/>
              <a:t>End-to-end or round-trip delay</a:t>
            </a:r>
          </a:p>
          <a:p>
            <a:pPr lvl="1" eaLnBrk="1" hangingPunct="1"/>
            <a:r>
              <a:rPr lang="en-US" altLang="en-US" dirty="0"/>
              <a:t>Latency</a:t>
            </a:r>
          </a:p>
          <a:p>
            <a:pPr lvl="1" eaLnBrk="1" hangingPunct="1"/>
            <a:r>
              <a:rPr lang="en-US" altLang="en-US" dirty="0"/>
              <a:t>Delay variation</a:t>
            </a:r>
          </a:p>
          <a:p>
            <a:pPr eaLnBrk="1" hangingPunct="1"/>
            <a:r>
              <a:rPr lang="en-US" altLang="en-US" sz="2800" dirty="0"/>
              <a:t>SNMP or CMIP (Common Management Information Protocol) can be used to configure these metrics, which are kept in the Management Information Base (MIB)</a:t>
            </a:r>
          </a:p>
        </p:txBody>
      </p:sp>
    </p:spTree>
    <p:extLst>
      <p:ext uri="{BB962C8B-B14F-4D97-AF65-F5344CB8AC3E}">
        <p14:creationId xmlns:p14="http://schemas.microsoft.com/office/powerpoint/2010/main" val="3652518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Grp="1" noChangeArrowheads="1"/>
          </p:cNvSpPr>
          <p:nvPr>
            <p:ph type="title"/>
          </p:nvPr>
        </p:nvSpPr>
        <p:spPr/>
        <p:txBody>
          <a:bodyPr/>
          <a:lstStyle/>
          <a:p>
            <a:pPr eaLnBrk="1" hangingPunct="1"/>
            <a:r>
              <a:rPr lang="en-US" altLang="en-US"/>
              <a:t>Service Metrics</a:t>
            </a:r>
          </a:p>
        </p:txBody>
      </p:sp>
      <p:sp>
        <p:nvSpPr>
          <p:cNvPr id="56326" name="Rectangle 3"/>
          <p:cNvSpPr>
            <a:spLocks noGrp="1" noChangeArrowheads="1"/>
          </p:cNvSpPr>
          <p:nvPr>
            <p:ph idx="1"/>
          </p:nvPr>
        </p:nvSpPr>
        <p:spPr>
          <a:xfrm>
            <a:off x="811820" y="1425030"/>
            <a:ext cx="10173017" cy="4926330"/>
          </a:xfrm>
        </p:spPr>
        <p:txBody>
          <a:bodyPr>
            <a:normAutofit/>
          </a:bodyPr>
          <a:lstStyle/>
          <a:p>
            <a:pPr eaLnBrk="1" hangingPunct="1"/>
            <a:r>
              <a:rPr lang="en-US" altLang="en-US" sz="3200" dirty="0"/>
              <a:t>Variables often used as service metrics:</a:t>
            </a:r>
          </a:p>
          <a:p>
            <a:pPr lvl="1" eaLnBrk="1" hangingPunct="1"/>
            <a:r>
              <a:rPr lang="en-US" altLang="en-US" sz="2800" dirty="0"/>
              <a:t>Bytes in/out (per interface)</a:t>
            </a:r>
          </a:p>
          <a:p>
            <a:pPr lvl="1" eaLnBrk="1" hangingPunct="1"/>
            <a:r>
              <a:rPr lang="en-US" altLang="en-US" sz="2800" dirty="0"/>
              <a:t>IP packets in/out (per interface)</a:t>
            </a:r>
          </a:p>
          <a:p>
            <a:pPr lvl="1" eaLnBrk="1" hangingPunct="1"/>
            <a:r>
              <a:rPr lang="en-US" altLang="en-US" sz="2800" dirty="0"/>
              <a:t>Dropped Messages per time per interface</a:t>
            </a:r>
          </a:p>
          <a:p>
            <a:pPr lvl="1" eaLnBrk="1" hangingPunct="1"/>
            <a:r>
              <a:rPr lang="en-US" altLang="en-US" sz="2800" dirty="0"/>
              <a:t>Service-level agreement (SLA) metrics (per user)</a:t>
            </a:r>
          </a:p>
          <a:p>
            <a:pPr lvl="1" eaLnBrk="1" hangingPunct="1"/>
            <a:r>
              <a:rPr lang="en-US" altLang="en-US" sz="2800" dirty="0"/>
              <a:t>Capacity limit</a:t>
            </a:r>
          </a:p>
          <a:p>
            <a:pPr lvl="1" eaLnBrk="1" hangingPunct="1"/>
            <a:r>
              <a:rPr lang="en-US" altLang="en-US" sz="2800" dirty="0"/>
              <a:t>Burst tolerance</a:t>
            </a:r>
          </a:p>
          <a:p>
            <a:pPr lvl="1" eaLnBrk="1" hangingPunct="1"/>
            <a:r>
              <a:rPr lang="en-US" altLang="en-US" sz="2800" dirty="0"/>
              <a:t>Delay</a:t>
            </a:r>
          </a:p>
          <a:p>
            <a:pPr lvl="1" eaLnBrk="1" hangingPunct="1"/>
            <a:r>
              <a:rPr lang="en-US" altLang="en-US" sz="2800" dirty="0"/>
              <a:t>Downtime</a:t>
            </a:r>
          </a:p>
        </p:txBody>
      </p:sp>
    </p:spTree>
    <p:extLst>
      <p:ext uri="{BB962C8B-B14F-4D97-AF65-F5344CB8AC3E}">
        <p14:creationId xmlns:p14="http://schemas.microsoft.com/office/powerpoint/2010/main" val="3045147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p:cNvSpPr>
            <a:spLocks noGrp="1" noChangeArrowheads="1"/>
          </p:cNvSpPr>
          <p:nvPr>
            <p:ph type="title"/>
          </p:nvPr>
        </p:nvSpPr>
        <p:spPr/>
        <p:txBody>
          <a:bodyPr/>
          <a:lstStyle/>
          <a:p>
            <a:pPr eaLnBrk="1" hangingPunct="1"/>
            <a:r>
              <a:rPr lang="en-US" altLang="en-US" dirty="0"/>
              <a:t>Operational Requirements (</a:t>
            </a:r>
            <a:r>
              <a:rPr lang="en-US" altLang="en-US" dirty="0">
                <a:solidFill>
                  <a:srgbClr val="0070C0"/>
                </a:solidFill>
              </a:rPr>
              <a:t>RMA</a:t>
            </a:r>
            <a:r>
              <a:rPr lang="en-US" altLang="en-US" dirty="0"/>
              <a:t>)</a:t>
            </a:r>
          </a:p>
        </p:txBody>
      </p:sp>
      <p:sp>
        <p:nvSpPr>
          <p:cNvPr id="60422" name="Rectangle 3"/>
          <p:cNvSpPr>
            <a:spLocks noGrp="1" noChangeArrowheads="1"/>
          </p:cNvSpPr>
          <p:nvPr>
            <p:ph idx="1"/>
          </p:nvPr>
        </p:nvSpPr>
        <p:spPr>
          <a:xfrm>
            <a:off x="811820" y="1540189"/>
            <a:ext cx="10515599" cy="3777622"/>
          </a:xfrm>
        </p:spPr>
        <p:txBody>
          <a:bodyPr>
            <a:noAutofit/>
          </a:bodyPr>
          <a:lstStyle/>
          <a:p>
            <a:pPr eaLnBrk="1" hangingPunct="1"/>
            <a:r>
              <a:rPr lang="en-US" altLang="en-US" sz="3200" dirty="0"/>
              <a:t>Reliability is a common measurement</a:t>
            </a:r>
          </a:p>
          <a:p>
            <a:pPr lvl="1" eaLnBrk="1" hangingPunct="1"/>
            <a:r>
              <a:rPr lang="en-US" altLang="en-US" sz="2800" dirty="0"/>
              <a:t>Mean time between mission critical failure (MTBCF) focuses on failures during certain time periods, excluding planned down times</a:t>
            </a:r>
          </a:p>
          <a:p>
            <a:pPr lvl="1" eaLnBrk="1" hangingPunct="1"/>
            <a:r>
              <a:rPr lang="en-US" altLang="en-US" sz="2800" dirty="0"/>
              <a:t>Mean time between failure (</a:t>
            </a:r>
            <a:r>
              <a:rPr lang="en-US" altLang="en-US" sz="2800" dirty="0">
                <a:solidFill>
                  <a:srgbClr val="C00000"/>
                </a:solidFill>
              </a:rPr>
              <a:t>MTBF</a:t>
            </a:r>
            <a:r>
              <a:rPr lang="en-US" altLang="en-US" sz="2800" dirty="0"/>
              <a:t>) includes failure at any time.</a:t>
            </a:r>
          </a:p>
          <a:p>
            <a:pPr eaLnBrk="1" hangingPunct="1"/>
            <a:r>
              <a:rPr lang="en-US" altLang="en-US" sz="3200" dirty="0"/>
              <a:t>Maintainability is typically captured with mean time to repair (MTTR)</a:t>
            </a:r>
          </a:p>
          <a:p>
            <a:pPr lvl="1"/>
            <a:r>
              <a:rPr lang="en-US" altLang="en-US" sz="2800" dirty="0"/>
              <a:t>Time to rectify an issue is critical since service will be back to normal only after the rectification.</a:t>
            </a:r>
          </a:p>
        </p:txBody>
      </p:sp>
    </p:spTree>
    <p:extLst>
      <p:ext uri="{BB962C8B-B14F-4D97-AF65-F5344CB8AC3E}">
        <p14:creationId xmlns:p14="http://schemas.microsoft.com/office/powerpoint/2010/main" val="564811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p:cNvSpPr>
            <a:spLocks noGrp="1" noChangeArrowheads="1"/>
          </p:cNvSpPr>
          <p:nvPr>
            <p:ph type="title"/>
          </p:nvPr>
        </p:nvSpPr>
        <p:spPr/>
        <p:txBody>
          <a:bodyPr>
            <a:normAutofit/>
          </a:bodyPr>
          <a:lstStyle/>
          <a:p>
            <a:pPr eaLnBrk="1" hangingPunct="1"/>
            <a:r>
              <a:rPr lang="en-US" altLang="en-US" dirty="0"/>
              <a:t>RMA Requirements</a:t>
            </a:r>
          </a:p>
        </p:txBody>
      </p:sp>
      <p:sp>
        <p:nvSpPr>
          <p:cNvPr id="61446" name="Rectangle 3"/>
          <p:cNvSpPr>
            <a:spLocks noGrp="1" noChangeArrowheads="1"/>
          </p:cNvSpPr>
          <p:nvPr>
            <p:ph idx="1"/>
          </p:nvPr>
        </p:nvSpPr>
        <p:spPr>
          <a:xfrm>
            <a:off x="811820" y="1488093"/>
            <a:ext cx="10384155" cy="5619056"/>
          </a:xfrm>
        </p:spPr>
        <p:txBody>
          <a:bodyPr>
            <a:noAutofit/>
          </a:bodyPr>
          <a:lstStyle/>
          <a:p>
            <a:pPr eaLnBrk="1" hangingPunct="1"/>
            <a:r>
              <a:rPr lang="en-US" altLang="en-US" sz="2800" dirty="0"/>
              <a:t>Availability relates failures to repair time</a:t>
            </a:r>
          </a:p>
          <a:p>
            <a:pPr lvl="1"/>
            <a:r>
              <a:rPr lang="en-US" altLang="en-US" dirty="0"/>
              <a:t>Availability, in terms of MTBF, MTBCF, MTTR</a:t>
            </a:r>
          </a:p>
          <a:p>
            <a:pPr lvl="1" eaLnBrk="1" hangingPunct="1"/>
            <a:r>
              <a:rPr lang="en-US" altLang="en-US" sz="2400" dirty="0"/>
              <a:t>Scheduled maintenance time doesn’t count against availability</a:t>
            </a:r>
          </a:p>
          <a:p>
            <a:pPr eaLnBrk="1" hangingPunct="1"/>
            <a:r>
              <a:rPr lang="en-US" altLang="en-US" sz="2800" dirty="0"/>
              <a:t>Uptime and downtime measure those percentages when the system is up or down</a:t>
            </a:r>
          </a:p>
          <a:p>
            <a:pPr lvl="1" eaLnBrk="1" hangingPunct="1"/>
            <a:r>
              <a:rPr lang="en-US" altLang="en-US" sz="2400" dirty="0"/>
              <a:t>The upper practical limit is 99.999% uptime, which is 5.3 minutes of downtime per year</a:t>
            </a:r>
          </a:p>
          <a:p>
            <a:pPr lvl="1" eaLnBrk="1" hangingPunct="1"/>
            <a:r>
              <a:rPr lang="en-US" altLang="en-US" sz="2400" dirty="0"/>
              <a:t>Uptime of 99.99% is common </a:t>
            </a:r>
          </a:p>
          <a:p>
            <a:pPr lvl="1"/>
            <a:r>
              <a:rPr lang="en-US" altLang="en-US" sz="2400" dirty="0"/>
              <a:t>How many events occur is also important</a:t>
            </a:r>
          </a:p>
        </p:txBody>
      </p:sp>
      <p:pic>
        <p:nvPicPr>
          <p:cNvPr id="4" name="Picture 3">
            <a:extLst>
              <a:ext uri="{FF2B5EF4-FFF2-40B4-BE49-F238E27FC236}">
                <a16:creationId xmlns:a16="http://schemas.microsoft.com/office/drawing/2014/main" id="{9ED08D24-5350-43CC-8A82-E6A5A63E82D2}"/>
              </a:ext>
            </a:extLst>
          </p:cNvPr>
          <p:cNvPicPr>
            <a:picLocks noChangeAspect="1"/>
          </p:cNvPicPr>
          <p:nvPr/>
        </p:nvPicPr>
        <p:blipFill rotWithShape="1">
          <a:blip r:embed="rId2">
            <a:extLst>
              <a:ext uri="{28A0092B-C50C-407E-A947-70E740481C1C}">
                <a14:useLocalDpi xmlns:a14="http://schemas.microsoft.com/office/drawing/2010/main" val="0"/>
              </a:ext>
            </a:extLst>
          </a:blip>
          <a:srcRect t="18531"/>
          <a:stretch/>
        </p:blipFill>
        <p:spPr>
          <a:xfrm>
            <a:off x="7412971" y="4134873"/>
            <a:ext cx="6891818" cy="5446253"/>
          </a:xfrm>
          <a:prstGeom prst="rect">
            <a:avLst/>
          </a:prstGeom>
          <a:noFill/>
        </p:spPr>
      </p:pic>
      <p:pic>
        <p:nvPicPr>
          <p:cNvPr id="3" name="Picture 2" descr="Table, letter&#10;&#10;Description automatically generated">
            <a:extLst>
              <a:ext uri="{FF2B5EF4-FFF2-40B4-BE49-F238E27FC236}">
                <a16:creationId xmlns:a16="http://schemas.microsoft.com/office/drawing/2014/main" id="{81D67D9D-BB64-7028-19AE-D2C244D84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6338" y="166117"/>
            <a:ext cx="3257930" cy="2378413"/>
          </a:xfrm>
          <a:prstGeom prst="rect">
            <a:avLst/>
          </a:prstGeom>
        </p:spPr>
      </p:pic>
      <p:sp>
        <p:nvSpPr>
          <p:cNvPr id="5" name="Rectangle 4">
            <a:extLst>
              <a:ext uri="{FF2B5EF4-FFF2-40B4-BE49-F238E27FC236}">
                <a16:creationId xmlns:a16="http://schemas.microsoft.com/office/drawing/2014/main" id="{529A739E-BDE1-B0B7-85D2-7587B2A9E1D7}"/>
              </a:ext>
            </a:extLst>
          </p:cNvPr>
          <p:cNvSpPr/>
          <p:nvPr/>
        </p:nvSpPr>
        <p:spPr>
          <a:xfrm>
            <a:off x="8715983" y="1021404"/>
            <a:ext cx="3257930" cy="61284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638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566" y="4108137"/>
            <a:ext cx="5029200" cy="183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70" name="Rectangle 2"/>
          <p:cNvSpPr>
            <a:spLocks noGrp="1" noChangeArrowheads="1"/>
          </p:cNvSpPr>
          <p:nvPr>
            <p:ph type="title"/>
          </p:nvPr>
        </p:nvSpPr>
        <p:spPr>
          <a:xfrm>
            <a:off x="838200" y="395643"/>
            <a:ext cx="10515600" cy="1040058"/>
          </a:xfrm>
        </p:spPr>
        <p:txBody>
          <a:bodyPr/>
          <a:lstStyle/>
          <a:p>
            <a:pPr eaLnBrk="1" hangingPunct="1"/>
            <a:r>
              <a:rPr lang="en-US" altLang="en-US" dirty="0"/>
              <a:t>RMA Requirements</a:t>
            </a:r>
          </a:p>
        </p:txBody>
      </p:sp>
      <p:sp>
        <p:nvSpPr>
          <p:cNvPr id="62471" name="Rectangle 3"/>
          <p:cNvSpPr>
            <a:spLocks noGrp="1" noChangeArrowheads="1"/>
          </p:cNvSpPr>
          <p:nvPr>
            <p:ph idx="1"/>
          </p:nvPr>
        </p:nvSpPr>
        <p:spPr>
          <a:xfrm>
            <a:off x="838200" y="1540189"/>
            <a:ext cx="8915400" cy="3777622"/>
          </a:xfrm>
        </p:spPr>
        <p:txBody>
          <a:bodyPr>
            <a:normAutofit/>
          </a:bodyPr>
          <a:lstStyle/>
          <a:p>
            <a:pPr eaLnBrk="1" hangingPunct="1"/>
            <a:r>
              <a:rPr lang="en-US" altLang="en-US" sz="2800" dirty="0"/>
              <a:t>Thresholds and limits can be defined for RMA measures</a:t>
            </a:r>
          </a:p>
          <a:p>
            <a:pPr lvl="1" eaLnBrk="1" hangingPunct="1"/>
            <a:r>
              <a:rPr lang="en-US" altLang="en-US" sz="2400" dirty="0"/>
              <a:t>MTBF is typically a couple thousand hours</a:t>
            </a:r>
          </a:p>
          <a:p>
            <a:pPr lvl="1" eaLnBrk="1" hangingPunct="1"/>
            <a:r>
              <a:rPr lang="en-US" altLang="en-US" sz="2400" dirty="0"/>
              <a:t>MTTR may be a few hours</a:t>
            </a:r>
          </a:p>
          <a:p>
            <a:pPr eaLnBrk="1" hangingPunct="1"/>
            <a:r>
              <a:rPr lang="en-US" altLang="en-US" sz="2800" dirty="0"/>
              <a:t>Different parts of the system may have different requirements on uptime ,latency, capacity, throughput </a:t>
            </a:r>
            <a:r>
              <a:rPr lang="en-US" altLang="en-US" sz="2800" dirty="0" err="1"/>
              <a:t>etc</a:t>
            </a:r>
            <a:endParaRPr lang="en-US" altLang="en-US" sz="2800" dirty="0"/>
          </a:p>
        </p:txBody>
      </p:sp>
      <p:sp>
        <p:nvSpPr>
          <p:cNvPr id="62472" name="Rectangle 5"/>
          <p:cNvSpPr>
            <a:spLocks noChangeArrowheads="1"/>
          </p:cNvSpPr>
          <p:nvPr/>
        </p:nvSpPr>
        <p:spPr bwMode="auto">
          <a:xfrm>
            <a:off x="1524000" y="2639497"/>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2473" name="Rectangle 6">
            <a:hlinkClick r:id="rId3"/>
          </p:cNvPr>
          <p:cNvSpPr>
            <a:spLocks noChangeArrowheads="1"/>
          </p:cNvSpPr>
          <p:nvPr/>
        </p:nvSpPr>
        <p:spPr bwMode="auto">
          <a:xfrm>
            <a:off x="1524001" y="38491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880687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2"/>
          <p:cNvSpPr>
            <a:spLocks noGrp="1" noChangeArrowheads="1"/>
          </p:cNvSpPr>
          <p:nvPr>
            <p:ph type="title"/>
          </p:nvPr>
        </p:nvSpPr>
        <p:spPr/>
        <p:txBody>
          <a:bodyPr/>
          <a:lstStyle/>
          <a:p>
            <a:pPr eaLnBrk="1" hangingPunct="1"/>
            <a:r>
              <a:rPr lang="en-US" altLang="en-US"/>
              <a:t>Delay Requirements</a:t>
            </a:r>
          </a:p>
        </p:txBody>
      </p:sp>
      <p:sp>
        <p:nvSpPr>
          <p:cNvPr id="63494" name="Rectangle 3"/>
          <p:cNvSpPr>
            <a:spLocks noGrp="1" noChangeArrowheads="1"/>
          </p:cNvSpPr>
          <p:nvPr>
            <p:ph idx="1"/>
          </p:nvPr>
        </p:nvSpPr>
        <p:spPr>
          <a:xfrm>
            <a:off x="811820" y="1558804"/>
            <a:ext cx="10080943" cy="4810125"/>
          </a:xfrm>
        </p:spPr>
        <p:txBody>
          <a:bodyPr>
            <a:normAutofit/>
          </a:bodyPr>
          <a:lstStyle/>
          <a:p>
            <a:pPr eaLnBrk="1" hangingPunct="1"/>
            <a:r>
              <a:rPr lang="en-US" altLang="en-US" sz="3200" dirty="0"/>
              <a:t>Various delays can have a strong impact on network requirements</a:t>
            </a:r>
          </a:p>
          <a:p>
            <a:pPr lvl="1" eaLnBrk="1" hangingPunct="1"/>
            <a:r>
              <a:rPr lang="en-US" altLang="en-US" i="1" dirty="0">
                <a:solidFill>
                  <a:srgbClr val="C00000"/>
                </a:solidFill>
              </a:rPr>
              <a:t>Interaction delay</a:t>
            </a:r>
            <a:r>
              <a:rPr lang="en-US" altLang="en-US" dirty="0">
                <a:solidFill>
                  <a:srgbClr val="C00000"/>
                </a:solidFill>
              </a:rPr>
              <a:t> (INTD) </a:t>
            </a:r>
            <a:r>
              <a:rPr lang="en-US" altLang="en-US" dirty="0"/>
              <a:t>is how long a user will wait for a response from the system</a:t>
            </a:r>
          </a:p>
          <a:p>
            <a:pPr lvl="1" eaLnBrk="1" hangingPunct="1"/>
            <a:r>
              <a:rPr lang="en-US" altLang="en-US" i="1" dirty="0">
                <a:solidFill>
                  <a:srgbClr val="C00000"/>
                </a:solidFill>
              </a:rPr>
              <a:t>Human response time</a:t>
            </a:r>
            <a:r>
              <a:rPr lang="en-US" altLang="en-US" dirty="0">
                <a:solidFill>
                  <a:srgbClr val="C00000"/>
                </a:solidFill>
              </a:rPr>
              <a:t> (HRT) </a:t>
            </a:r>
            <a:r>
              <a:rPr lang="en-US" altLang="en-US" dirty="0"/>
              <a:t>is estimate of the time threshold at which users begin to perceive delay in the system.</a:t>
            </a:r>
          </a:p>
          <a:p>
            <a:pPr lvl="2"/>
            <a:r>
              <a:rPr lang="en-US" altLang="en-US" dirty="0"/>
              <a:t>Thus, when the system response time is less than HRT, users generally do not perceive any delay in the system. </a:t>
            </a:r>
          </a:p>
          <a:p>
            <a:pPr lvl="2"/>
            <a:r>
              <a:rPr lang="en-US" altLang="en-US" dirty="0"/>
              <a:t>For delays greater than HRT, users generally do notice the system delay.</a:t>
            </a:r>
          </a:p>
          <a:p>
            <a:pPr lvl="1" eaLnBrk="1" hangingPunct="1"/>
            <a:r>
              <a:rPr lang="en-US" altLang="en-US" i="1" dirty="0">
                <a:solidFill>
                  <a:srgbClr val="C00000"/>
                </a:solidFill>
              </a:rPr>
              <a:t>Network propagation delay </a:t>
            </a:r>
            <a:r>
              <a:rPr lang="en-US" altLang="en-US" dirty="0"/>
              <a:t>is an estimate of how long it takes for a signal to cross a physical medium or link</a:t>
            </a:r>
          </a:p>
        </p:txBody>
      </p:sp>
    </p:spTree>
    <p:extLst>
      <p:ext uri="{BB962C8B-B14F-4D97-AF65-F5344CB8AC3E}">
        <p14:creationId xmlns:p14="http://schemas.microsoft.com/office/powerpoint/2010/main" val="1355423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p:txBody>
          <a:bodyPr/>
          <a:lstStyle/>
          <a:p>
            <a:pPr eaLnBrk="1" hangingPunct="1"/>
            <a:r>
              <a:rPr lang="en-US" altLang="en-US"/>
              <a:t>Delay Requirements</a:t>
            </a:r>
          </a:p>
        </p:txBody>
      </p:sp>
      <p:sp>
        <p:nvSpPr>
          <p:cNvPr id="65542" name="Rectangle 3"/>
          <p:cNvSpPr>
            <a:spLocks noGrp="1" noChangeArrowheads="1"/>
          </p:cNvSpPr>
          <p:nvPr>
            <p:ph idx="1"/>
          </p:nvPr>
        </p:nvSpPr>
        <p:spPr>
          <a:xfrm>
            <a:off x="811820" y="1558804"/>
            <a:ext cx="11192112" cy="4892040"/>
          </a:xfrm>
        </p:spPr>
        <p:txBody>
          <a:bodyPr>
            <a:normAutofit/>
          </a:bodyPr>
          <a:lstStyle/>
          <a:p>
            <a:pPr eaLnBrk="1" hangingPunct="1"/>
            <a:r>
              <a:rPr lang="en-US" altLang="en-US" sz="3200" dirty="0"/>
              <a:t>End-to-end and round-trip delays can be network requirements</a:t>
            </a:r>
          </a:p>
          <a:p>
            <a:pPr lvl="1" eaLnBrk="1" hangingPunct="1"/>
            <a:r>
              <a:rPr lang="en-US" altLang="en-US" dirty="0"/>
              <a:t>We can used ping to get RTT (round trip time)</a:t>
            </a:r>
          </a:p>
          <a:p>
            <a:pPr eaLnBrk="1" hangingPunct="1"/>
            <a:r>
              <a:rPr lang="en-US" altLang="en-US" sz="3200" dirty="0"/>
              <a:t>Delay variation can be defined for multimedia apps – typically is 1-2% of end-to-end delay.</a:t>
            </a:r>
          </a:p>
          <a:p>
            <a:pPr lvl="1"/>
            <a:r>
              <a:rPr lang="en-US" altLang="en-US" dirty="0"/>
              <a:t>The propagation delay is always </a:t>
            </a:r>
            <a:r>
              <a:rPr lang="en-US" altLang="en-US" dirty="0" err="1"/>
              <a:t>exsist</a:t>
            </a:r>
            <a:r>
              <a:rPr lang="en-US" altLang="en-US" dirty="0"/>
              <a:t> but is this delay is constant or is vary with time or any other factor.</a:t>
            </a:r>
          </a:p>
          <a:p>
            <a:pPr lvl="1"/>
            <a:r>
              <a:rPr lang="en-US" altLang="en-US" dirty="0"/>
              <a:t>Can it be fixed than been a variable factor?</a:t>
            </a:r>
          </a:p>
          <a:p>
            <a:pPr lvl="1"/>
            <a:r>
              <a:rPr lang="en-US" altLang="en-US" dirty="0">
                <a:solidFill>
                  <a:schemeClr val="tx2"/>
                </a:solidFill>
              </a:rPr>
              <a:t>Smoke ping </a:t>
            </a:r>
            <a:r>
              <a:rPr lang="en-US" altLang="en-US" dirty="0"/>
              <a:t>is an application to display it graphically. </a:t>
            </a:r>
          </a:p>
          <a:p>
            <a:pPr eaLnBrk="1" hangingPunct="1"/>
            <a:endParaRPr lang="en-US" altLang="en-US" sz="3600" dirty="0"/>
          </a:p>
        </p:txBody>
      </p:sp>
    </p:spTree>
    <p:extLst>
      <p:ext uri="{BB962C8B-B14F-4D97-AF65-F5344CB8AC3E}">
        <p14:creationId xmlns:p14="http://schemas.microsoft.com/office/powerpoint/2010/main" val="3799138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BBCCC-8297-4388-91C2-BED55289470A}"/>
              </a:ext>
            </a:extLst>
          </p:cNvPr>
          <p:cNvSpPr>
            <a:spLocks noGrp="1"/>
          </p:cNvSpPr>
          <p:nvPr>
            <p:ph type="title"/>
          </p:nvPr>
        </p:nvSpPr>
        <p:spPr/>
        <p:txBody>
          <a:bodyPr/>
          <a:lstStyle/>
          <a:p>
            <a:r>
              <a:rPr lang="en-US" dirty="0" err="1"/>
              <a:t>Smokeping</a:t>
            </a:r>
            <a:r>
              <a:rPr lang="en-US" dirty="0"/>
              <a:t> Application</a:t>
            </a:r>
          </a:p>
        </p:txBody>
      </p:sp>
      <p:sp>
        <p:nvSpPr>
          <p:cNvPr id="3" name="Content Placeholder 2">
            <a:extLst>
              <a:ext uri="{FF2B5EF4-FFF2-40B4-BE49-F238E27FC236}">
                <a16:creationId xmlns:a16="http://schemas.microsoft.com/office/drawing/2014/main" id="{FDA1CFFF-FFE6-409F-89BD-C21504C19C4E}"/>
              </a:ext>
            </a:extLst>
          </p:cNvPr>
          <p:cNvSpPr>
            <a:spLocks noGrp="1"/>
          </p:cNvSpPr>
          <p:nvPr>
            <p:ph idx="1"/>
          </p:nvPr>
        </p:nvSpPr>
        <p:spPr/>
        <p:txBody>
          <a:bodyPr/>
          <a:lstStyle/>
          <a:p>
            <a:r>
              <a:rPr lang="en-US" dirty="0" err="1"/>
              <a:t>SmokePing</a:t>
            </a:r>
            <a:r>
              <a:rPr lang="en-US" dirty="0"/>
              <a:t> is a deluxe latency measurement tool, a free, open-source project. </a:t>
            </a:r>
          </a:p>
          <a:p>
            <a:r>
              <a:rPr lang="en-US" dirty="0"/>
              <a:t>It can measure, store and display latency, latency distribution and packet loss.</a:t>
            </a:r>
          </a:p>
          <a:p>
            <a:endParaRPr lang="en-US" dirty="0"/>
          </a:p>
        </p:txBody>
      </p:sp>
      <p:sp>
        <p:nvSpPr>
          <p:cNvPr id="4" name="Slide Number Placeholder 3">
            <a:extLst>
              <a:ext uri="{FF2B5EF4-FFF2-40B4-BE49-F238E27FC236}">
                <a16:creationId xmlns:a16="http://schemas.microsoft.com/office/drawing/2014/main" id="{522EB746-763E-46C7-A95D-3532BF35D7B7}"/>
              </a:ext>
            </a:extLst>
          </p:cNvPr>
          <p:cNvSpPr>
            <a:spLocks noGrp="1"/>
          </p:cNvSpPr>
          <p:nvPr>
            <p:ph type="sldNum" sz="quarter" idx="12"/>
          </p:nvPr>
        </p:nvSpPr>
        <p:spPr/>
        <p:txBody>
          <a:bodyPr/>
          <a:lstStyle/>
          <a:p>
            <a:fld id="{B74EB0F0-7D7E-412A-B235-20FE2876EE16}" type="slidenum">
              <a:rPr lang="en-US" smtClean="0"/>
              <a:t>31</a:t>
            </a:fld>
            <a:endParaRPr lang="en-US"/>
          </a:p>
        </p:txBody>
      </p:sp>
      <p:pic>
        <p:nvPicPr>
          <p:cNvPr id="5" name="Picture 4" descr="Chart&#10;&#10;Description automatically generated">
            <a:extLst>
              <a:ext uri="{FF2B5EF4-FFF2-40B4-BE49-F238E27FC236}">
                <a16:creationId xmlns:a16="http://schemas.microsoft.com/office/drawing/2014/main" id="{48DBAD4D-B1B8-4B88-93FD-300FAF9E8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6710" y="3281729"/>
            <a:ext cx="6638925" cy="3057525"/>
          </a:xfrm>
          <a:prstGeom prst="rect">
            <a:avLst/>
          </a:prstGeom>
        </p:spPr>
      </p:pic>
    </p:spTree>
    <p:extLst>
      <p:ext uri="{BB962C8B-B14F-4D97-AF65-F5344CB8AC3E}">
        <p14:creationId xmlns:p14="http://schemas.microsoft.com/office/powerpoint/2010/main" val="3264594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p:txBody>
          <a:bodyPr/>
          <a:lstStyle/>
          <a:p>
            <a:pPr eaLnBrk="1" hangingPunct="1"/>
            <a:r>
              <a:rPr lang="en-US" altLang="en-US"/>
              <a:t>Capacity Requirements</a:t>
            </a:r>
          </a:p>
        </p:txBody>
      </p:sp>
      <p:sp>
        <p:nvSpPr>
          <p:cNvPr id="66566" name="Rectangle 3"/>
          <p:cNvSpPr>
            <a:spLocks noGrp="1" noChangeArrowheads="1"/>
          </p:cNvSpPr>
          <p:nvPr>
            <p:ph idx="1"/>
          </p:nvPr>
        </p:nvSpPr>
        <p:spPr>
          <a:xfrm>
            <a:off x="811820" y="1637714"/>
            <a:ext cx="9563100" cy="4701540"/>
          </a:xfrm>
        </p:spPr>
        <p:txBody>
          <a:bodyPr>
            <a:normAutofit/>
          </a:bodyPr>
          <a:lstStyle/>
          <a:p>
            <a:pPr eaLnBrk="1" hangingPunct="1"/>
            <a:r>
              <a:rPr lang="en-US" altLang="en-US" sz="3200" dirty="0"/>
              <a:t>What is the capacity requirements </a:t>
            </a:r>
          </a:p>
          <a:p>
            <a:pPr lvl="1" eaLnBrk="1" hangingPunct="1"/>
            <a:r>
              <a:rPr lang="en-US" altLang="en-US" dirty="0"/>
              <a:t>Peak data rate</a:t>
            </a:r>
          </a:p>
          <a:p>
            <a:pPr lvl="1" eaLnBrk="1" hangingPunct="1"/>
            <a:r>
              <a:rPr lang="en-US" altLang="en-US" dirty="0"/>
              <a:t>Minimum acceptable data rate</a:t>
            </a:r>
          </a:p>
          <a:p>
            <a:pPr lvl="1" eaLnBrk="1" hangingPunct="1"/>
            <a:r>
              <a:rPr lang="en-US" altLang="en-US" dirty="0"/>
              <a:t>Sustained (long term) data rate</a:t>
            </a:r>
          </a:p>
          <a:p>
            <a:pPr eaLnBrk="1" hangingPunct="1"/>
            <a:r>
              <a:rPr lang="en-US" altLang="en-US" sz="3200" dirty="0"/>
              <a:t>This to be identified from applications and their requirements from various physical areas.</a:t>
            </a:r>
          </a:p>
        </p:txBody>
      </p:sp>
    </p:spTree>
    <p:extLst>
      <p:ext uri="{BB962C8B-B14F-4D97-AF65-F5344CB8AC3E}">
        <p14:creationId xmlns:p14="http://schemas.microsoft.com/office/powerpoint/2010/main" val="2760425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2"/>
          <p:cNvSpPr>
            <a:spLocks noGrp="1" noChangeArrowheads="1"/>
          </p:cNvSpPr>
          <p:nvPr>
            <p:ph type="title"/>
          </p:nvPr>
        </p:nvSpPr>
        <p:spPr/>
        <p:txBody>
          <a:bodyPr/>
          <a:lstStyle/>
          <a:p>
            <a:pPr eaLnBrk="1" hangingPunct="1"/>
            <a:r>
              <a:rPr lang="en-US" altLang="en-US" dirty="0"/>
              <a:t>Data Rates</a:t>
            </a:r>
          </a:p>
        </p:txBody>
      </p:sp>
      <p:sp>
        <p:nvSpPr>
          <p:cNvPr id="67590" name="Rectangle 3"/>
          <p:cNvSpPr>
            <a:spLocks noGrp="1" noChangeArrowheads="1"/>
          </p:cNvSpPr>
          <p:nvPr>
            <p:ph idx="1"/>
          </p:nvPr>
        </p:nvSpPr>
        <p:spPr>
          <a:xfrm>
            <a:off x="811820" y="1493089"/>
            <a:ext cx="9949498" cy="4557490"/>
          </a:xfrm>
        </p:spPr>
        <p:txBody>
          <a:bodyPr>
            <a:normAutofit lnSpcReduction="10000"/>
          </a:bodyPr>
          <a:lstStyle/>
          <a:p>
            <a:pPr eaLnBrk="1" hangingPunct="1"/>
            <a:r>
              <a:rPr lang="en-US" altLang="en-US" sz="3200" dirty="0"/>
              <a:t>Data rate is one important parameter related to performance .</a:t>
            </a:r>
          </a:p>
          <a:p>
            <a:pPr eaLnBrk="1" hangingPunct="1"/>
            <a:r>
              <a:rPr lang="en-US" altLang="en-US" sz="3200" dirty="0"/>
              <a:t>Data rates for an app can be measured at many levels of the protocols </a:t>
            </a:r>
          </a:p>
          <a:p>
            <a:pPr lvl="1" eaLnBrk="1" hangingPunct="1"/>
            <a:r>
              <a:rPr lang="en-US" altLang="en-US" sz="2800" dirty="0"/>
              <a:t>App, network, etc.</a:t>
            </a:r>
          </a:p>
          <a:p>
            <a:pPr lvl="1" eaLnBrk="1" hangingPunct="1"/>
            <a:r>
              <a:rPr lang="en-US" altLang="en-US" sz="2800" dirty="0"/>
              <a:t>Most TCP apps will take what’s available, but back off when the network gets crowded (why?)</a:t>
            </a:r>
          </a:p>
          <a:p>
            <a:pPr lvl="2"/>
            <a:r>
              <a:rPr lang="en-US" altLang="en-US" dirty="0"/>
              <a:t>Congestion control in TCP</a:t>
            </a:r>
          </a:p>
          <a:p>
            <a:pPr eaLnBrk="1" hangingPunct="1"/>
            <a:r>
              <a:rPr lang="en-US" altLang="en-US" sz="3200" dirty="0"/>
              <a:t>Often we may need to identify where the performance bottleneck is located and why?</a:t>
            </a:r>
          </a:p>
        </p:txBody>
      </p:sp>
    </p:spTree>
    <p:extLst>
      <p:ext uri="{BB962C8B-B14F-4D97-AF65-F5344CB8AC3E}">
        <p14:creationId xmlns:p14="http://schemas.microsoft.com/office/powerpoint/2010/main" val="29717554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118"/>
          <p:cNvSpPr>
            <a:spLocks noGrp="1" noChangeArrowheads="1"/>
          </p:cNvSpPr>
          <p:nvPr>
            <p:ph type="title"/>
          </p:nvPr>
        </p:nvSpPr>
        <p:spPr/>
        <p:txBody>
          <a:bodyPr>
            <a:normAutofit/>
          </a:bodyPr>
          <a:lstStyle/>
          <a:p>
            <a:pPr eaLnBrk="1" hangingPunct="1"/>
            <a:r>
              <a:rPr lang="en-US" altLang="en-US" sz="3200" dirty="0">
                <a:latin typeface="+mn-lt"/>
              </a:rPr>
              <a:t>Typical Application Capacity </a:t>
            </a:r>
            <a:r>
              <a:rPr lang="en-US" altLang="en-US" dirty="0"/>
              <a:t>R</a:t>
            </a:r>
            <a:r>
              <a:rPr lang="en-US" altLang="en-US" sz="3200" dirty="0">
                <a:latin typeface="+mn-lt"/>
              </a:rPr>
              <a:t>equirement </a:t>
            </a:r>
          </a:p>
        </p:txBody>
      </p:sp>
      <p:graphicFrame>
        <p:nvGraphicFramePr>
          <p:cNvPr id="596089" name="Group 121"/>
          <p:cNvGraphicFramePr>
            <a:graphicFrameLocks noGrp="1"/>
          </p:cNvGraphicFramePr>
          <p:nvPr>
            <p:ph idx="1"/>
          </p:nvPr>
        </p:nvGraphicFramePr>
        <p:xfrm>
          <a:off x="838200" y="1738314"/>
          <a:ext cx="10727986" cy="4482681"/>
        </p:xfrm>
        <a:graphic>
          <a:graphicData uri="http://schemas.openxmlformats.org/drawingml/2006/table">
            <a:tbl>
              <a:tblPr/>
              <a:tblGrid>
                <a:gridCol w="4266291">
                  <a:extLst>
                    <a:ext uri="{9D8B030D-6E8A-4147-A177-3AD203B41FA5}">
                      <a16:colId xmlns:a16="http://schemas.microsoft.com/office/drawing/2014/main" val="20000"/>
                    </a:ext>
                  </a:extLst>
                </a:gridCol>
                <a:gridCol w="3212658">
                  <a:extLst>
                    <a:ext uri="{9D8B030D-6E8A-4147-A177-3AD203B41FA5}">
                      <a16:colId xmlns:a16="http://schemas.microsoft.com/office/drawing/2014/main" val="20001"/>
                    </a:ext>
                  </a:extLst>
                </a:gridCol>
                <a:gridCol w="3249037">
                  <a:extLst>
                    <a:ext uri="{9D8B030D-6E8A-4147-A177-3AD203B41FA5}">
                      <a16:colId xmlns:a16="http://schemas.microsoft.com/office/drawing/2014/main" val="20002"/>
                    </a:ext>
                  </a:extLst>
                </a:gridCol>
              </a:tblGrid>
              <a:tr h="786404">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Average Completion Time (Seconds) </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Data Size (Bytes) </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0"/>
                  </a:ext>
                </a:extLst>
              </a:tr>
              <a:tr h="786404">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Distributed Computing (Batch Mode)</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7</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=10MB</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3881">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Transactions</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10KB</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8152">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Database Entries/Queries</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2–5</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 KB</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2364">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Payroll Entries</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100B</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2364">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Teleconference</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20558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5130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9702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427413" indent="-315913"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a:t>
                      </a:r>
                      <a:r>
                        <a:rPr kumimoji="0" lang="en-US" altLang="en-US" sz="2400" b="0" i="0" u="none" strike="noStrike" cap="none" normalizeH="0" baseline="30000" dirty="0">
                          <a:ln>
                            <a:noFill/>
                          </a:ln>
                          <a:solidFill>
                            <a:schemeClr val="tx1"/>
                          </a:solidFill>
                          <a:effectLst/>
                          <a:latin typeface="Times New Roman" panose="02020603050405020304" pitchFamily="18" charset="0"/>
                          <a:cs typeface="Times New Roman" panose="02020603050405020304" pitchFamily="18" charset="0"/>
                        </a:rPr>
                        <a:t>5</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100KB</a:t>
                      </a:r>
                      <a:endParaRPr kumimoji="0" lang="en-US" altLang="en-US" sz="2400" b="0" i="0" u="none" strike="noStrike" cap="none" normalizeH="0" baseline="0" dirty="0">
                        <a:ln>
                          <a:noFill/>
                        </a:ln>
                        <a:solidFill>
                          <a:schemeClr val="tx1"/>
                        </a:solidFill>
                        <a:effectLst/>
                        <a:latin typeface="Arial" panose="020B0604020202020204" pitchFamily="34" charset="0"/>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12238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2"/>
          <p:cNvSpPr>
            <a:spLocks noGrp="1" noChangeArrowheads="1"/>
          </p:cNvSpPr>
          <p:nvPr>
            <p:ph type="title"/>
          </p:nvPr>
        </p:nvSpPr>
        <p:spPr>
          <a:xfrm>
            <a:off x="728863" y="498379"/>
            <a:ext cx="8911687" cy="1280890"/>
          </a:xfrm>
        </p:spPr>
        <p:txBody>
          <a:bodyPr/>
          <a:lstStyle/>
          <a:p>
            <a:pPr eaLnBrk="1" hangingPunct="1"/>
            <a:r>
              <a:rPr lang="en-US" altLang="en-US" dirty="0"/>
              <a:t>Data Rates</a:t>
            </a:r>
          </a:p>
        </p:txBody>
      </p:sp>
      <p:sp>
        <p:nvSpPr>
          <p:cNvPr id="69638" name="Rectangle 3"/>
          <p:cNvSpPr>
            <a:spLocks noGrp="1" noChangeArrowheads="1"/>
          </p:cNvSpPr>
          <p:nvPr>
            <p:ph idx="1"/>
          </p:nvPr>
        </p:nvSpPr>
        <p:spPr>
          <a:xfrm>
            <a:off x="861458" y="1506894"/>
            <a:ext cx="9915208" cy="4570095"/>
          </a:xfrm>
        </p:spPr>
        <p:txBody>
          <a:bodyPr>
            <a:normAutofit/>
          </a:bodyPr>
          <a:lstStyle/>
          <a:p>
            <a:pPr eaLnBrk="1" hangingPunct="1"/>
            <a:r>
              <a:rPr lang="en-US" altLang="en-US" sz="3200" dirty="0"/>
              <a:t>Sometimes a range of values is more helpful</a:t>
            </a:r>
          </a:p>
          <a:p>
            <a:pPr lvl="1" eaLnBrk="1" hangingPunct="1"/>
            <a:r>
              <a:rPr lang="en-US" altLang="en-US" dirty="0"/>
              <a:t>Processing credit card info might take 5-10 seconds, and require 100-1000 bytes of data</a:t>
            </a:r>
          </a:p>
          <a:p>
            <a:pPr eaLnBrk="1" hangingPunct="1"/>
            <a:r>
              <a:rPr lang="en-US" altLang="en-US" sz="3200" dirty="0"/>
              <a:t>Multimedia rates are well known, and depend on the protocol and level of compression and quality desired by users( </a:t>
            </a:r>
            <a:r>
              <a:rPr lang="en-US" altLang="en-US" sz="3200" dirty="0" err="1"/>
              <a:t>Eg</a:t>
            </a:r>
            <a:r>
              <a:rPr lang="en-US" altLang="en-US" sz="3200" dirty="0"/>
              <a:t> HD,4K)</a:t>
            </a:r>
          </a:p>
        </p:txBody>
      </p:sp>
      <p:pic>
        <p:nvPicPr>
          <p:cNvPr id="3" name="Picture 2">
            <a:extLst>
              <a:ext uri="{FF2B5EF4-FFF2-40B4-BE49-F238E27FC236}">
                <a16:creationId xmlns:a16="http://schemas.microsoft.com/office/drawing/2014/main" id="{1A320BA0-8D32-4CBB-9084-571A72FF346F}"/>
              </a:ext>
            </a:extLst>
          </p:cNvPr>
          <p:cNvPicPr>
            <a:picLocks noChangeAspect="1"/>
          </p:cNvPicPr>
          <p:nvPr/>
        </p:nvPicPr>
        <p:blipFill>
          <a:blip r:embed="rId2"/>
          <a:stretch>
            <a:fillRect/>
          </a:stretch>
        </p:blipFill>
        <p:spPr>
          <a:xfrm>
            <a:off x="6591478" y="3909616"/>
            <a:ext cx="1090496" cy="2338227"/>
          </a:xfrm>
          <a:prstGeom prst="rect">
            <a:avLst/>
          </a:prstGeom>
        </p:spPr>
      </p:pic>
    </p:spTree>
    <p:extLst>
      <p:ext uri="{BB962C8B-B14F-4D97-AF65-F5344CB8AC3E}">
        <p14:creationId xmlns:p14="http://schemas.microsoft.com/office/powerpoint/2010/main" val="4005926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Operational Suitability</a:t>
            </a:r>
            <a:endParaRPr lang="en-US" dirty="0"/>
          </a:p>
        </p:txBody>
      </p:sp>
      <p:sp>
        <p:nvSpPr>
          <p:cNvPr id="3" name="Content Placeholder 2"/>
          <p:cNvSpPr>
            <a:spLocks noGrp="1"/>
          </p:cNvSpPr>
          <p:nvPr>
            <p:ph idx="1"/>
          </p:nvPr>
        </p:nvSpPr>
        <p:spPr>
          <a:xfrm>
            <a:off x="811820" y="1455320"/>
            <a:ext cx="10649104" cy="4351338"/>
          </a:xfrm>
        </p:spPr>
        <p:txBody>
          <a:bodyPr>
            <a:normAutofit/>
          </a:bodyPr>
          <a:lstStyle/>
          <a:p>
            <a:r>
              <a:rPr lang="en-US" altLang="en-US" sz="3200" i="1" dirty="0"/>
              <a:t>Operational Suitability</a:t>
            </a:r>
            <a:r>
              <a:rPr lang="en-US" altLang="en-US" sz="3200" dirty="0"/>
              <a:t> is making sure your customer can operate/manage the network once it’s running</a:t>
            </a:r>
          </a:p>
          <a:p>
            <a:pPr lvl="1"/>
            <a:r>
              <a:rPr lang="en-US" altLang="en-US" dirty="0"/>
              <a:t>How often are manual network adjustments needed?</a:t>
            </a:r>
          </a:p>
          <a:p>
            <a:pPr lvl="1"/>
            <a:r>
              <a:rPr lang="en-US" altLang="en-US" dirty="0"/>
              <a:t>How often does network configuration change?</a:t>
            </a:r>
          </a:p>
          <a:p>
            <a:pPr lvl="1"/>
            <a:r>
              <a:rPr lang="en-US" altLang="en-US" dirty="0"/>
              <a:t>How much monitoring is automated</a:t>
            </a:r>
          </a:p>
        </p:txBody>
      </p:sp>
    </p:spTree>
    <p:extLst>
      <p:ext uri="{BB962C8B-B14F-4D97-AF65-F5344CB8AC3E}">
        <p14:creationId xmlns:p14="http://schemas.microsoft.com/office/powerpoint/2010/main" val="2807476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E5FE91-4D77-4FBA-9B61-420BCF2054E4}"/>
              </a:ext>
            </a:extLst>
          </p:cNvPr>
          <p:cNvSpPr>
            <a:spLocks noGrp="1"/>
          </p:cNvSpPr>
          <p:nvPr>
            <p:ph idx="1"/>
          </p:nvPr>
        </p:nvSpPr>
        <p:spPr>
          <a:xfrm>
            <a:off x="843146" y="1554408"/>
            <a:ext cx="9799636" cy="4507230"/>
          </a:xfrm>
        </p:spPr>
        <p:txBody>
          <a:bodyPr>
            <a:normAutofit/>
          </a:bodyPr>
          <a:lstStyle/>
          <a:p>
            <a:r>
              <a:rPr lang="en-US" altLang="en-US" sz="3200" dirty="0"/>
              <a:t>How many shifts of operators will there be?</a:t>
            </a:r>
          </a:p>
          <a:p>
            <a:r>
              <a:rPr lang="en-US" altLang="en-US" sz="3200" dirty="0"/>
              <a:t>How well trained are the network operators?</a:t>
            </a:r>
          </a:p>
          <a:p>
            <a:r>
              <a:rPr lang="en-US" altLang="en-US" sz="3200" dirty="0"/>
              <a:t>How often will hardware changes be needed?</a:t>
            </a:r>
          </a:p>
          <a:p>
            <a:pPr lvl="1"/>
            <a:r>
              <a:rPr lang="en-US" altLang="en-US" sz="2800" dirty="0"/>
              <a:t>What hardware can the operators change?</a:t>
            </a:r>
          </a:p>
          <a:p>
            <a:pPr lvl="1"/>
            <a:r>
              <a:rPr lang="en-US" altLang="en-US" sz="2800" dirty="0"/>
              <a:t>What level of component is an operator can change?  Chip, board, rack unit, entire rack? (Line-Replaceable Unit, LRU)</a:t>
            </a:r>
          </a:p>
          <a:p>
            <a:endParaRPr lang="en-US" sz="2000" dirty="0"/>
          </a:p>
        </p:txBody>
      </p:sp>
      <p:sp>
        <p:nvSpPr>
          <p:cNvPr id="5" name="Title 1">
            <a:extLst>
              <a:ext uri="{FF2B5EF4-FFF2-40B4-BE49-F238E27FC236}">
                <a16:creationId xmlns:a16="http://schemas.microsoft.com/office/drawing/2014/main" id="{4A9DDA07-F6E5-4377-BCDA-3766B6AF95CF}"/>
              </a:ext>
            </a:extLst>
          </p:cNvPr>
          <p:cNvSpPr>
            <a:spLocks noGrp="1"/>
          </p:cNvSpPr>
          <p:nvPr>
            <p:ph type="title"/>
          </p:nvPr>
        </p:nvSpPr>
        <p:spPr>
          <a:xfrm>
            <a:off x="719418" y="514350"/>
            <a:ext cx="10515600" cy="1040058"/>
          </a:xfrm>
        </p:spPr>
        <p:txBody>
          <a:bodyPr/>
          <a:lstStyle/>
          <a:p>
            <a:r>
              <a:rPr lang="en-US" altLang="en-US" dirty="0"/>
              <a:t>Operational Suitability</a:t>
            </a:r>
            <a:endParaRPr lang="en-US" dirty="0"/>
          </a:p>
        </p:txBody>
      </p:sp>
    </p:spTree>
    <p:extLst>
      <p:ext uri="{BB962C8B-B14F-4D97-AF65-F5344CB8AC3E}">
        <p14:creationId xmlns:p14="http://schemas.microsoft.com/office/powerpoint/2010/main" val="784209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Rectangle 2"/>
          <p:cNvSpPr>
            <a:spLocks noGrp="1" noChangeArrowheads="1"/>
          </p:cNvSpPr>
          <p:nvPr>
            <p:ph type="title"/>
          </p:nvPr>
        </p:nvSpPr>
        <p:spPr/>
        <p:txBody>
          <a:bodyPr/>
          <a:lstStyle/>
          <a:p>
            <a:pPr eaLnBrk="1" hangingPunct="1"/>
            <a:r>
              <a:rPr lang="en-US" altLang="en-US"/>
              <a:t>Supportability</a:t>
            </a:r>
          </a:p>
        </p:txBody>
      </p:sp>
      <p:sp>
        <p:nvSpPr>
          <p:cNvPr id="72710" name="Rectangle 3"/>
          <p:cNvSpPr>
            <a:spLocks noGrp="1" noChangeArrowheads="1"/>
          </p:cNvSpPr>
          <p:nvPr>
            <p:ph idx="1"/>
          </p:nvPr>
        </p:nvSpPr>
        <p:spPr>
          <a:xfrm>
            <a:off x="811820" y="1449421"/>
            <a:ext cx="10321290" cy="4606290"/>
          </a:xfrm>
        </p:spPr>
        <p:txBody>
          <a:bodyPr>
            <a:normAutofit/>
          </a:bodyPr>
          <a:lstStyle/>
          <a:p>
            <a:pPr eaLnBrk="1" hangingPunct="1"/>
            <a:r>
              <a:rPr lang="en-US" altLang="en-US" sz="3200" dirty="0"/>
              <a:t>Can the network’s level of performance be sustained over time?</a:t>
            </a:r>
          </a:p>
          <a:p>
            <a:pPr eaLnBrk="1" hangingPunct="1"/>
            <a:r>
              <a:rPr lang="en-US" altLang="en-US" sz="3200" dirty="0"/>
              <a:t>This is affected by</a:t>
            </a:r>
          </a:p>
          <a:p>
            <a:pPr lvl="1" eaLnBrk="1" hangingPunct="1"/>
            <a:r>
              <a:rPr lang="en-US" altLang="en-US" sz="2800" dirty="0"/>
              <a:t>RMA of the architecture and design</a:t>
            </a:r>
          </a:p>
          <a:p>
            <a:pPr lvl="1" eaLnBrk="1" hangingPunct="1"/>
            <a:r>
              <a:rPr lang="en-US" altLang="en-US" sz="2800" dirty="0"/>
              <a:t>Workforce, including training and staffing levels</a:t>
            </a:r>
          </a:p>
          <a:p>
            <a:pPr lvl="1" eaLnBrk="1" hangingPunct="1"/>
            <a:r>
              <a:rPr lang="en-US" altLang="en-US" sz="2800" dirty="0"/>
              <a:t>System procedures and technical documentation</a:t>
            </a:r>
          </a:p>
          <a:p>
            <a:pPr lvl="1" eaLnBrk="1" hangingPunct="1"/>
            <a:r>
              <a:rPr lang="en-US" altLang="en-US" sz="2800" dirty="0"/>
              <a:t>Tools, both ordinary and special</a:t>
            </a:r>
          </a:p>
          <a:p>
            <a:pPr lvl="1" eaLnBrk="1" hangingPunct="1"/>
            <a:r>
              <a:rPr lang="en-US" altLang="en-US" sz="2800" dirty="0"/>
              <a:t>Spare and repair parts</a:t>
            </a:r>
          </a:p>
        </p:txBody>
      </p:sp>
    </p:spTree>
    <p:extLst>
      <p:ext uri="{BB962C8B-B14F-4D97-AF65-F5344CB8AC3E}">
        <p14:creationId xmlns:p14="http://schemas.microsoft.com/office/powerpoint/2010/main" val="4214930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Rectangle 2"/>
          <p:cNvSpPr>
            <a:spLocks noGrp="1" noChangeArrowheads="1"/>
          </p:cNvSpPr>
          <p:nvPr>
            <p:ph type="title"/>
          </p:nvPr>
        </p:nvSpPr>
        <p:spPr/>
        <p:txBody>
          <a:bodyPr/>
          <a:lstStyle/>
          <a:p>
            <a:pPr eaLnBrk="1" hangingPunct="1"/>
            <a:r>
              <a:rPr lang="en-US" altLang="en-US"/>
              <a:t>Supportability</a:t>
            </a:r>
          </a:p>
        </p:txBody>
      </p:sp>
      <p:sp>
        <p:nvSpPr>
          <p:cNvPr id="73734" name="Rectangle 3"/>
          <p:cNvSpPr>
            <a:spLocks noGrp="1" noChangeArrowheads="1"/>
          </p:cNvSpPr>
          <p:nvPr>
            <p:ph idx="1"/>
          </p:nvPr>
        </p:nvSpPr>
        <p:spPr/>
        <p:txBody>
          <a:bodyPr>
            <a:normAutofit/>
          </a:bodyPr>
          <a:lstStyle/>
          <a:p>
            <a:pPr eaLnBrk="1" hangingPunct="1"/>
            <a:r>
              <a:rPr lang="en-US" altLang="en-US" sz="3200" dirty="0"/>
              <a:t>Maintenance of a system expects</a:t>
            </a:r>
          </a:p>
          <a:p>
            <a:pPr lvl="1" eaLnBrk="1" hangingPunct="1"/>
            <a:r>
              <a:rPr lang="en-US" altLang="en-US" dirty="0"/>
              <a:t>Components are located where they can be maintained without affecting the rest of the system much</a:t>
            </a:r>
          </a:p>
          <a:p>
            <a:pPr lvl="1" eaLnBrk="1" hangingPunct="1"/>
            <a:r>
              <a:rPr lang="en-US" altLang="en-US" dirty="0"/>
              <a:t>Spare parts are supplied to allow replacement of failed and soon-failed components</a:t>
            </a:r>
          </a:p>
          <a:p>
            <a:pPr eaLnBrk="1" hangingPunct="1"/>
            <a:r>
              <a:rPr lang="en-US" altLang="en-US" sz="3200" dirty="0"/>
              <a:t>Reliability can be formally modeled with reliability block diagrams (RBDs) or failure mode and effect analysis (FMECA)</a:t>
            </a:r>
          </a:p>
        </p:txBody>
      </p:sp>
    </p:spTree>
    <p:extLst>
      <p:ext uri="{BB962C8B-B14F-4D97-AF65-F5344CB8AC3E}">
        <p14:creationId xmlns:p14="http://schemas.microsoft.com/office/powerpoint/2010/main" val="1233835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2"/>
          <p:cNvSpPr>
            <a:spLocks noGrp="1" noChangeArrowheads="1"/>
          </p:cNvSpPr>
          <p:nvPr>
            <p:ph type="title"/>
          </p:nvPr>
        </p:nvSpPr>
        <p:spPr/>
        <p:txBody>
          <a:bodyPr/>
          <a:lstStyle/>
          <a:p>
            <a:pPr eaLnBrk="1" hangingPunct="1"/>
            <a:r>
              <a:rPr lang="en-US" altLang="en-US"/>
              <a:t>Supportability</a:t>
            </a:r>
          </a:p>
        </p:txBody>
      </p:sp>
      <p:sp>
        <p:nvSpPr>
          <p:cNvPr id="74758" name="Rectangle 3"/>
          <p:cNvSpPr>
            <a:spLocks noGrp="1" noChangeArrowheads="1"/>
          </p:cNvSpPr>
          <p:nvPr>
            <p:ph idx="1"/>
          </p:nvPr>
        </p:nvSpPr>
        <p:spPr/>
        <p:txBody>
          <a:bodyPr>
            <a:normAutofit/>
          </a:bodyPr>
          <a:lstStyle/>
          <a:p>
            <a:pPr eaLnBrk="1" hangingPunct="1"/>
            <a:r>
              <a:rPr lang="en-US" altLang="en-US" sz="3200" dirty="0"/>
              <a:t>Workforce should be equivalent to the ones being replaced; or at least as cheap overall</a:t>
            </a:r>
          </a:p>
          <a:p>
            <a:pPr eaLnBrk="1" hangingPunct="1"/>
            <a:r>
              <a:rPr lang="en-US" altLang="en-US" sz="3200" dirty="0"/>
              <a:t>Documentation typically includes</a:t>
            </a:r>
          </a:p>
          <a:p>
            <a:pPr lvl="1" eaLnBrk="1" hangingPunct="1"/>
            <a:r>
              <a:rPr lang="en-US" altLang="en-US" sz="2800" dirty="0"/>
              <a:t>Technical documentation of the system configuration, design, parts, etc.</a:t>
            </a:r>
          </a:p>
          <a:p>
            <a:pPr lvl="1" eaLnBrk="1" hangingPunct="1"/>
            <a:r>
              <a:rPr lang="en-US" altLang="en-US" sz="2800" dirty="0"/>
              <a:t>Maintenance procedures describe routine actions</a:t>
            </a:r>
          </a:p>
          <a:p>
            <a:pPr lvl="1" eaLnBrk="1" hangingPunct="1"/>
            <a:r>
              <a:rPr lang="en-US" altLang="en-US" sz="2800" dirty="0"/>
              <a:t>Casualty or corrective procedures describe how </a:t>
            </a:r>
            <a:br>
              <a:rPr lang="en-US" altLang="en-US" sz="2800" dirty="0"/>
            </a:br>
            <a:r>
              <a:rPr lang="en-US" altLang="en-US" sz="2800" dirty="0"/>
              <a:t>to troubleshoot, debug, or otherwise fix basic problems</a:t>
            </a:r>
          </a:p>
        </p:txBody>
      </p:sp>
    </p:spTree>
    <p:extLst>
      <p:ext uri="{BB962C8B-B14F-4D97-AF65-F5344CB8AC3E}">
        <p14:creationId xmlns:p14="http://schemas.microsoft.com/office/powerpoint/2010/main" val="2752750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2"/>
          <p:cNvSpPr>
            <a:spLocks noGrp="1" noChangeArrowheads="1"/>
          </p:cNvSpPr>
          <p:nvPr>
            <p:ph type="title"/>
          </p:nvPr>
        </p:nvSpPr>
        <p:spPr/>
        <p:txBody>
          <a:bodyPr/>
          <a:lstStyle/>
          <a:p>
            <a:pPr eaLnBrk="1" hangingPunct="1"/>
            <a:r>
              <a:rPr lang="en-US" altLang="en-US"/>
              <a:t>Supportability</a:t>
            </a:r>
          </a:p>
        </p:txBody>
      </p:sp>
      <p:sp>
        <p:nvSpPr>
          <p:cNvPr id="75782" name="Rectangle 3"/>
          <p:cNvSpPr>
            <a:spLocks noGrp="1" noChangeArrowheads="1"/>
          </p:cNvSpPr>
          <p:nvPr>
            <p:ph idx="1"/>
          </p:nvPr>
        </p:nvSpPr>
        <p:spPr>
          <a:xfrm>
            <a:off x="880110" y="1428750"/>
            <a:ext cx="10761345" cy="4805139"/>
          </a:xfrm>
        </p:spPr>
        <p:txBody>
          <a:bodyPr>
            <a:noAutofit/>
          </a:bodyPr>
          <a:lstStyle/>
          <a:p>
            <a:pPr eaLnBrk="1" hangingPunct="1"/>
            <a:r>
              <a:rPr lang="en-US" altLang="en-US" sz="3200" dirty="0"/>
              <a:t>Tools and test equipment describe what tools are needed to maintain the system</a:t>
            </a:r>
          </a:p>
          <a:p>
            <a:pPr lvl="1" eaLnBrk="1" hangingPunct="1"/>
            <a:r>
              <a:rPr lang="en-US" altLang="en-US" sz="2800" dirty="0"/>
              <a:t>How are faults detected?</a:t>
            </a:r>
          </a:p>
          <a:p>
            <a:pPr lvl="1" eaLnBrk="1" hangingPunct="1"/>
            <a:r>
              <a:rPr lang="en-US" altLang="en-US" sz="2800" dirty="0"/>
              <a:t>How is performance being monitored?</a:t>
            </a:r>
          </a:p>
          <a:p>
            <a:pPr lvl="1" eaLnBrk="1" hangingPunct="1"/>
            <a:r>
              <a:rPr lang="en-US" altLang="en-US" sz="2800" dirty="0"/>
              <a:t>What capabilities will be available to remotely diagnose, reconfigure, or reset components?</a:t>
            </a:r>
          </a:p>
          <a:p>
            <a:pPr eaLnBrk="1" hangingPunct="1"/>
            <a:r>
              <a:rPr lang="en-US" altLang="en-US" sz="3200" dirty="0"/>
              <a:t>Stuff breaks and wears out, so spare parts are needed to improve availability</a:t>
            </a:r>
          </a:p>
          <a:p>
            <a:pPr lvl="1" eaLnBrk="1" hangingPunct="1"/>
            <a:r>
              <a:rPr lang="en-US" altLang="en-US" sz="2800" dirty="0"/>
              <a:t>How much are you will to invest in parts?</a:t>
            </a:r>
          </a:p>
          <a:p>
            <a:pPr lvl="1" eaLnBrk="1" hangingPunct="1"/>
            <a:r>
              <a:rPr lang="en-US" altLang="en-US" sz="2800" dirty="0"/>
              <a:t>What WH component to be on site , off site, with SLA…?</a:t>
            </a:r>
          </a:p>
        </p:txBody>
      </p:sp>
    </p:spTree>
    <p:extLst>
      <p:ext uri="{BB962C8B-B14F-4D97-AF65-F5344CB8AC3E}">
        <p14:creationId xmlns:p14="http://schemas.microsoft.com/office/powerpoint/2010/main" val="17680278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Rectangle 2"/>
          <p:cNvSpPr>
            <a:spLocks noGrp="1" noChangeArrowheads="1"/>
          </p:cNvSpPr>
          <p:nvPr>
            <p:ph type="title"/>
          </p:nvPr>
        </p:nvSpPr>
        <p:spPr/>
        <p:txBody>
          <a:bodyPr/>
          <a:lstStyle/>
          <a:p>
            <a:pPr eaLnBrk="1" hangingPunct="1"/>
            <a:r>
              <a:rPr lang="en-US" altLang="en-US"/>
              <a:t>Supportability</a:t>
            </a:r>
          </a:p>
        </p:txBody>
      </p:sp>
      <p:sp>
        <p:nvSpPr>
          <p:cNvPr id="76806" name="Rectangle 3"/>
          <p:cNvSpPr>
            <a:spLocks noGrp="1" noChangeArrowheads="1"/>
          </p:cNvSpPr>
          <p:nvPr>
            <p:ph idx="1"/>
          </p:nvPr>
        </p:nvSpPr>
        <p:spPr/>
        <p:txBody>
          <a:bodyPr>
            <a:normAutofit/>
          </a:bodyPr>
          <a:lstStyle/>
          <a:p>
            <a:pPr eaLnBrk="1" hangingPunct="1"/>
            <a:r>
              <a:rPr lang="en-US" altLang="en-US" sz="3200" dirty="0"/>
              <a:t>What type of supportability ,who will be provided?</a:t>
            </a:r>
          </a:p>
          <a:p>
            <a:pPr eaLnBrk="1" hangingPunct="1"/>
            <a:r>
              <a:rPr lang="en-US" altLang="en-US" sz="3200" dirty="0"/>
              <a:t>Difference tiers of support ( often refer as Level)</a:t>
            </a:r>
          </a:p>
          <a:p>
            <a:pPr lvl="1"/>
            <a:r>
              <a:rPr lang="en-US" altLang="en-US" dirty="0"/>
              <a:t>Onsite</a:t>
            </a:r>
          </a:p>
          <a:p>
            <a:pPr lvl="1"/>
            <a:r>
              <a:rPr lang="en-US" altLang="en-US" dirty="0"/>
              <a:t>Central maintenance/Help desk</a:t>
            </a:r>
          </a:p>
          <a:p>
            <a:pPr lvl="1"/>
            <a:r>
              <a:rPr lang="en-US" altLang="en-US" dirty="0"/>
              <a:t>Service provider/</a:t>
            </a:r>
            <a:r>
              <a:rPr lang="en-US" altLang="en-US" dirty="0" err="1"/>
              <a:t>supplyer</a:t>
            </a:r>
            <a:r>
              <a:rPr lang="en-US" altLang="en-US" dirty="0"/>
              <a:t>.</a:t>
            </a:r>
          </a:p>
          <a:p>
            <a:pPr lvl="1"/>
            <a:r>
              <a:rPr lang="en-US" altLang="en-US" dirty="0"/>
              <a:t>Manufacturer </a:t>
            </a:r>
          </a:p>
        </p:txBody>
      </p:sp>
    </p:spTree>
    <p:extLst>
      <p:ext uri="{BB962C8B-B14F-4D97-AF65-F5344CB8AC3E}">
        <p14:creationId xmlns:p14="http://schemas.microsoft.com/office/powerpoint/2010/main" val="2206567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2"/>
          <p:cNvSpPr>
            <a:spLocks noGrp="1" noChangeArrowheads="1"/>
          </p:cNvSpPr>
          <p:nvPr>
            <p:ph type="title"/>
          </p:nvPr>
        </p:nvSpPr>
        <p:spPr/>
        <p:txBody>
          <a:bodyPr>
            <a:normAutofit/>
          </a:bodyPr>
          <a:lstStyle/>
          <a:p>
            <a:pPr eaLnBrk="1" hangingPunct="1"/>
            <a:r>
              <a:rPr lang="en-US" altLang="en-US"/>
              <a:t>Supportability</a:t>
            </a:r>
          </a:p>
        </p:txBody>
      </p:sp>
      <p:graphicFrame>
        <p:nvGraphicFramePr>
          <p:cNvPr id="619603" name="Group 83"/>
          <p:cNvGraphicFramePr>
            <a:graphicFrameLocks noGrp="1"/>
          </p:cNvGraphicFramePr>
          <p:nvPr>
            <p:ph idx="1"/>
          </p:nvPr>
        </p:nvGraphicFramePr>
        <p:xfrm>
          <a:off x="838200" y="1738313"/>
          <a:ext cx="10515599" cy="4108587"/>
        </p:xfrm>
        <a:graphic>
          <a:graphicData uri="http://schemas.openxmlformats.org/drawingml/2006/table">
            <a:tbl>
              <a:tblPr/>
              <a:tblGrid>
                <a:gridCol w="1797996">
                  <a:extLst>
                    <a:ext uri="{9D8B030D-6E8A-4147-A177-3AD203B41FA5}">
                      <a16:colId xmlns:a16="http://schemas.microsoft.com/office/drawing/2014/main" val="20000"/>
                    </a:ext>
                  </a:extLst>
                </a:gridCol>
                <a:gridCol w="3122489">
                  <a:extLst>
                    <a:ext uri="{9D8B030D-6E8A-4147-A177-3AD203B41FA5}">
                      <a16:colId xmlns:a16="http://schemas.microsoft.com/office/drawing/2014/main" val="20001"/>
                    </a:ext>
                  </a:extLst>
                </a:gridCol>
                <a:gridCol w="2966214">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868589">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2200" b="1" i="0" u="none" strike="noStrike" cap="none" normalizeH="0" baseline="0">
                          <a:ln>
                            <a:noFill/>
                          </a:ln>
                          <a:solidFill>
                            <a:schemeClr val="tx1"/>
                          </a:solidFill>
                          <a:effectLst/>
                          <a:latin typeface="Arial" panose="020B0604020202020204" pitchFamily="34" charset="0"/>
                        </a:rPr>
                        <a:t>Level </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2200" b="1" i="0" u="none" strike="noStrike" cap="none" normalizeH="0" baseline="0">
                          <a:ln>
                            <a:noFill/>
                          </a:ln>
                          <a:solidFill>
                            <a:schemeClr val="tx1"/>
                          </a:solidFill>
                          <a:effectLst/>
                          <a:latin typeface="Arial" panose="020B0604020202020204" pitchFamily="34" charset="0"/>
                        </a:rPr>
                        <a:t>Tools and Test Equipment </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2200" b="1" i="0" u="none" strike="noStrike" cap="none" normalizeH="0" baseline="0">
                          <a:ln>
                            <a:noFill/>
                          </a:ln>
                          <a:solidFill>
                            <a:schemeClr val="tx1"/>
                          </a:solidFill>
                          <a:effectLst/>
                          <a:latin typeface="Arial" panose="020B0604020202020204" pitchFamily="34" charset="0"/>
                        </a:rPr>
                        <a:t>Corrective Maintenance </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2200" b="1" i="0" u="none" strike="noStrike" cap="none" normalizeH="0" baseline="0" dirty="0">
                          <a:ln>
                            <a:noFill/>
                          </a:ln>
                          <a:solidFill>
                            <a:schemeClr val="tx1"/>
                          </a:solidFill>
                          <a:effectLst/>
                          <a:latin typeface="Arial" panose="020B0604020202020204" pitchFamily="34" charset="0"/>
                        </a:rPr>
                        <a:t>Preventive Maintenance </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284162">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Organizational</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Common tools Operator consoles and controls Inexpensive special tools</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Day-to-day monitoring Troubleshooting Fault isolation Reconfiguring system</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rPr>
                        <a:t>Monitoring performance Minor on-site cleaning and adjustments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33855">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Intermediate</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rPr>
                        <a:t>Special or expensive portable tools with limited use</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On-site repair of offline equipment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Major on-site upgrades Supplement operators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1981">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Depot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Equipment to refurbish components</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a:ln>
                            <a:noFill/>
                          </a:ln>
                          <a:solidFill>
                            <a:schemeClr val="tx1"/>
                          </a:solidFill>
                          <a:effectLst/>
                          <a:latin typeface="Arial" panose="020B0604020202020204" pitchFamily="34" charset="0"/>
                        </a:rPr>
                        <a:t>Overhaul and refurbishment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600">
                          <a:solidFill>
                            <a:schemeClr val="tx1"/>
                          </a:solidFill>
                          <a:latin typeface="Arial" panose="020B0604020202020204" pitchFamily="34" charset="0"/>
                        </a:defRPr>
                      </a:lvl1pPr>
                      <a:lvl2pPr marL="344488">
                        <a:spcBef>
                          <a:spcPct val="20000"/>
                        </a:spcBef>
                        <a:buClr>
                          <a:schemeClr val="accent2"/>
                        </a:buClr>
                        <a:buSzPct val="70000"/>
                        <a:buFont typeface="Wingdings" panose="05000000000000000000" pitchFamily="2" charset="2"/>
                        <a:defRPr sz="2200">
                          <a:solidFill>
                            <a:schemeClr val="tx1"/>
                          </a:solidFill>
                          <a:latin typeface="Arial" panose="020B0604020202020204" pitchFamily="34" charset="0"/>
                        </a:defRPr>
                      </a:lvl2pPr>
                      <a:lvl3pPr marL="693738">
                        <a:spcBef>
                          <a:spcPct val="20000"/>
                        </a:spcBef>
                        <a:buClr>
                          <a:schemeClr val="accent1"/>
                        </a:buClr>
                        <a:buSzPct val="70000"/>
                        <a:buFont typeface="Wingdings" panose="05000000000000000000" pitchFamily="2" charset="2"/>
                        <a:defRPr sz="2100">
                          <a:solidFill>
                            <a:schemeClr val="tx1"/>
                          </a:solidFill>
                          <a:latin typeface="Arial" panose="020B0604020202020204" pitchFamily="34" charset="0"/>
                        </a:defRPr>
                      </a:lvl3pPr>
                      <a:lvl4pPr marL="989013">
                        <a:spcBef>
                          <a:spcPct val="20000"/>
                        </a:spcBef>
                        <a:buClr>
                          <a:schemeClr val="tx2"/>
                        </a:buClr>
                        <a:buSzPct val="75000"/>
                        <a:buFont typeface="Wingdings" panose="05000000000000000000" pitchFamily="2" charset="2"/>
                        <a:defRPr>
                          <a:solidFill>
                            <a:schemeClr val="tx1"/>
                          </a:solidFill>
                          <a:latin typeface="Arial" panose="020B0604020202020204" pitchFamily="34" charset="0"/>
                        </a:defRPr>
                      </a:lvl4pPr>
                      <a:lvl5pPr marL="1282700">
                        <a:spcBef>
                          <a:spcPct val="20000"/>
                        </a:spcBef>
                        <a:buClr>
                          <a:schemeClr val="folHlink"/>
                        </a:buClr>
                        <a:buSzPct val="80000"/>
                        <a:buFont typeface="Wingdings" panose="05000000000000000000" pitchFamily="2" charset="2"/>
                        <a:defRPr>
                          <a:solidFill>
                            <a:schemeClr val="tx1"/>
                          </a:solidFill>
                          <a:latin typeface="Arial" panose="020B0604020202020204" pitchFamily="34" charset="0"/>
                        </a:defRPr>
                      </a:lvl5pPr>
                      <a:lvl6pPr marL="17399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6pPr>
                      <a:lvl7pPr marL="21971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7pPr>
                      <a:lvl8pPr marL="26543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8pPr>
                      <a:lvl9pPr marL="3111500" fontAlgn="base">
                        <a:spcBef>
                          <a:spcPct val="20000"/>
                        </a:spcBef>
                        <a:spcAft>
                          <a:spcPct val="0"/>
                        </a:spcAft>
                        <a:buClr>
                          <a:schemeClr val="folHlink"/>
                        </a:buClr>
                        <a:buSzPct val="8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rPr>
                        <a:t>Scheduled overhaul or disassembly of LRUs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60251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78A6-82A8-4647-9A9C-C75768F2EC1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867993E-E9C1-4876-89B9-CCF641837DBB}"/>
              </a:ext>
            </a:extLst>
          </p:cNvPr>
          <p:cNvSpPr>
            <a:spLocks noGrp="1"/>
          </p:cNvSpPr>
          <p:nvPr>
            <p:ph idx="1"/>
          </p:nvPr>
        </p:nvSpPr>
        <p:spPr/>
        <p:txBody>
          <a:bodyPr/>
          <a:lstStyle/>
          <a:p>
            <a:r>
              <a:rPr lang="en-US" dirty="0"/>
              <a:t>Network Analysis, Architecture and Design, Second Edition (The Morgan Kaufmann Series in Networking)</a:t>
            </a:r>
          </a:p>
          <a:p>
            <a:r>
              <a:rPr lang="en-US" dirty="0">
                <a:hlinkClick r:id="rId2"/>
              </a:rPr>
              <a:t>https://flylib.com/books/en/2.809.1.25/1/</a:t>
            </a:r>
            <a:endParaRPr lang="en-US" dirty="0"/>
          </a:p>
          <a:p>
            <a:endParaRPr lang="en-US" dirty="0"/>
          </a:p>
        </p:txBody>
      </p:sp>
      <p:sp>
        <p:nvSpPr>
          <p:cNvPr id="4" name="Slide Number Placeholder 3">
            <a:extLst>
              <a:ext uri="{FF2B5EF4-FFF2-40B4-BE49-F238E27FC236}">
                <a16:creationId xmlns:a16="http://schemas.microsoft.com/office/drawing/2014/main" id="{79F40270-0907-44FD-8FAB-B6FDABA0CC1C}"/>
              </a:ext>
            </a:extLst>
          </p:cNvPr>
          <p:cNvSpPr>
            <a:spLocks noGrp="1"/>
          </p:cNvSpPr>
          <p:nvPr>
            <p:ph type="sldNum" sz="quarter" idx="12"/>
          </p:nvPr>
        </p:nvSpPr>
        <p:spPr/>
        <p:txBody>
          <a:bodyPr/>
          <a:lstStyle/>
          <a:p>
            <a:fld id="{B74EB0F0-7D7E-412A-B235-20FE2876EE16}" type="slidenum">
              <a:rPr lang="en-US" smtClean="0"/>
              <a:t>44</a:t>
            </a:fld>
            <a:endParaRPr lang="en-US"/>
          </a:p>
        </p:txBody>
      </p:sp>
    </p:spTree>
    <p:extLst>
      <p:ext uri="{BB962C8B-B14F-4D97-AF65-F5344CB8AC3E}">
        <p14:creationId xmlns:p14="http://schemas.microsoft.com/office/powerpoint/2010/main" val="1394485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C2E9-4F47-4991-95DD-897981ED3212}"/>
              </a:ext>
            </a:extLst>
          </p:cNvPr>
          <p:cNvSpPr>
            <a:spLocks noGrp="1"/>
          </p:cNvSpPr>
          <p:nvPr>
            <p:ph type="title"/>
          </p:nvPr>
        </p:nvSpPr>
        <p:spPr/>
        <p:txBody>
          <a:bodyPr/>
          <a:lstStyle/>
          <a:p>
            <a:r>
              <a:rPr lang="en-US" dirty="0"/>
              <a:t>QR</a:t>
            </a:r>
          </a:p>
        </p:txBody>
      </p:sp>
      <p:sp>
        <p:nvSpPr>
          <p:cNvPr id="4" name="Slide Number Placeholder 3">
            <a:extLst>
              <a:ext uri="{FF2B5EF4-FFF2-40B4-BE49-F238E27FC236}">
                <a16:creationId xmlns:a16="http://schemas.microsoft.com/office/drawing/2014/main" id="{1B3E1489-7AE9-4041-9D0C-20B661530BA6}"/>
              </a:ext>
            </a:extLst>
          </p:cNvPr>
          <p:cNvSpPr>
            <a:spLocks noGrp="1"/>
          </p:cNvSpPr>
          <p:nvPr>
            <p:ph type="sldNum" sz="quarter" idx="12"/>
          </p:nvPr>
        </p:nvSpPr>
        <p:spPr/>
        <p:txBody>
          <a:bodyPr/>
          <a:lstStyle/>
          <a:p>
            <a:fld id="{B74EB0F0-7D7E-412A-B235-20FE2876EE16}" type="slidenum">
              <a:rPr lang="en-US" smtClean="0"/>
              <a:t>45</a:t>
            </a:fld>
            <a:endParaRPr lang="en-US"/>
          </a:p>
        </p:txBody>
      </p:sp>
      <p:sp>
        <p:nvSpPr>
          <p:cNvPr id="6" name="Content Placeholder 5">
            <a:extLst>
              <a:ext uri="{FF2B5EF4-FFF2-40B4-BE49-F238E27FC236}">
                <a16:creationId xmlns:a16="http://schemas.microsoft.com/office/drawing/2014/main" id="{83C2103B-36DA-AD74-5243-ECD3BE36E9F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6910885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Slides" id="{ABE79801-4083-46BE-945E-2E01B7E13FE2}" vid="{D325130D-3D76-4BE9-AD0A-8AC275FE50FA}"/>
    </a:ext>
  </a:extLst>
</a:theme>
</file>

<file path=docProps/app.xml><?xml version="1.0" encoding="utf-8"?>
<Properties xmlns="http://schemas.openxmlformats.org/officeDocument/2006/extended-properties" xmlns:vt="http://schemas.openxmlformats.org/officeDocument/2006/docPropsVTypes">
  <TotalTime>491</TotalTime>
  <Words>2491</Words>
  <Application>Microsoft Office PowerPoint</Application>
  <PresentationFormat>Widescreen</PresentationFormat>
  <Paragraphs>333</Paragraphs>
  <Slides>45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Arial</vt:lpstr>
      <vt:lpstr>Arial Black</vt:lpstr>
      <vt:lpstr>Calibri</vt:lpstr>
      <vt:lpstr>Calibri Light</vt:lpstr>
      <vt:lpstr>inbemi-n</vt:lpstr>
      <vt:lpstr>inbemr-n</vt:lpstr>
      <vt:lpstr>inhvneur</vt:lpstr>
      <vt:lpstr>Liberation Serif</vt:lpstr>
      <vt:lpstr>Times New Roman</vt:lpstr>
      <vt:lpstr>Wingdings</vt:lpstr>
      <vt:lpstr>1_Office Theme</vt:lpstr>
      <vt:lpstr>PowerPoint Presentation</vt:lpstr>
      <vt:lpstr>Flash Back</vt:lpstr>
      <vt:lpstr>Analyzing the requirements </vt:lpstr>
      <vt:lpstr>Requirements</vt:lpstr>
      <vt:lpstr>Identification of Requirements</vt:lpstr>
      <vt:lpstr>Requirements Analysis</vt:lpstr>
      <vt:lpstr>User Requirements</vt:lpstr>
      <vt:lpstr>User Requirements</vt:lpstr>
      <vt:lpstr>Application Requirements</vt:lpstr>
      <vt:lpstr>Application Requirements</vt:lpstr>
      <vt:lpstr>Application Requirements</vt:lpstr>
      <vt:lpstr>Device Requirements</vt:lpstr>
      <vt:lpstr>Device Requirements</vt:lpstr>
      <vt:lpstr>Device Requirements</vt:lpstr>
      <vt:lpstr>Device Requirements</vt:lpstr>
      <vt:lpstr>Network Requirements</vt:lpstr>
      <vt:lpstr>Network Requirements</vt:lpstr>
      <vt:lpstr>Network Requirements</vt:lpstr>
      <vt:lpstr>Network Requirements</vt:lpstr>
      <vt:lpstr>Network Requirements</vt:lpstr>
      <vt:lpstr>Other Requirements</vt:lpstr>
      <vt:lpstr>How to prioritized the requirements</vt:lpstr>
      <vt:lpstr>Operational Requirements </vt:lpstr>
      <vt:lpstr>Service Metrics</vt:lpstr>
      <vt:lpstr>Service Metrics</vt:lpstr>
      <vt:lpstr>Operational Requirements (RMA)</vt:lpstr>
      <vt:lpstr>RMA Requirements</vt:lpstr>
      <vt:lpstr>RMA Requirements</vt:lpstr>
      <vt:lpstr>Delay Requirements</vt:lpstr>
      <vt:lpstr>Delay Requirements</vt:lpstr>
      <vt:lpstr>Smokeping Application</vt:lpstr>
      <vt:lpstr>Capacity Requirements</vt:lpstr>
      <vt:lpstr>Data Rates</vt:lpstr>
      <vt:lpstr>Typical Application Capacity Requirement </vt:lpstr>
      <vt:lpstr>Data Rates</vt:lpstr>
      <vt:lpstr>Operational Suitability</vt:lpstr>
      <vt:lpstr>Operational Suitability</vt:lpstr>
      <vt:lpstr>Supportability</vt:lpstr>
      <vt:lpstr>Supportability</vt:lpstr>
      <vt:lpstr>Supportability</vt:lpstr>
      <vt:lpstr>Supportability</vt:lpstr>
      <vt:lpstr>Supportability</vt:lpstr>
      <vt:lpstr>Supportability</vt:lpstr>
      <vt:lpstr>References</vt:lpstr>
      <vt:lpstr>QR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Chamara Disanayaka</dc:creator>
  <cp:lastModifiedBy>(s) Weeramuni Silva</cp:lastModifiedBy>
  <cp:revision>13</cp:revision>
  <dcterms:created xsi:type="dcterms:W3CDTF">2022-02-24T03:58:19Z</dcterms:created>
  <dcterms:modified xsi:type="dcterms:W3CDTF">2024-04-27T08:02:03Z</dcterms:modified>
</cp:coreProperties>
</file>